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1"/>
  </p:notesMasterIdLst>
  <p:sldIdLst>
    <p:sldId id="274" r:id="rId2"/>
    <p:sldId id="505" r:id="rId3"/>
    <p:sldId id="512" r:id="rId4"/>
    <p:sldId id="516" r:id="rId5"/>
    <p:sldId id="517" r:id="rId6"/>
    <p:sldId id="513" r:id="rId7"/>
    <p:sldId id="519" r:id="rId8"/>
    <p:sldId id="518" r:id="rId9"/>
    <p:sldId id="27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0HItghaSvE5eHsZb5weJ9w==" hashData="BoQOqkvidmGk1j3tAAkWyLrWfmmiZbhdOM4LiouzRHv5YU7Y0H2FUqTU2PWlcw/mpOiqD1h3VQuDsMtRXwqlLw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06" autoAdjust="0"/>
    <p:restoredTop sz="95274" autoAdjust="0"/>
  </p:normalViewPr>
  <p:slideViewPr>
    <p:cSldViewPr snapToGrid="0">
      <p:cViewPr varScale="1">
        <p:scale>
          <a:sx n="87" d="100"/>
          <a:sy n="87" d="100"/>
        </p:scale>
        <p:origin x="3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65ECAA-268E-4C0D-9FC7-17C53698496D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84D035-8484-4F58-9D29-A39A493CE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566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7991F-E995-897B-29EE-7B505AB664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B67F7B-139D-FBEE-5DC8-2E47E96F6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4AFDF-4EB4-2154-D568-E99CEAE5B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859FE-B4A5-F459-6D01-CA55616D4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A9D83-4AD0-F06F-1BFD-7335E67B4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258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E64DD-1124-594C-D6C3-30AC77D82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956EB-D5B0-F889-4D83-707F88584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DB960-C94C-3229-A8BF-3F24767F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BC9D0-5AF0-DB1E-FCC8-DF40FBA80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28B43-188B-BE7E-1FAD-B28D9A1D4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307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E9EB8-B517-7328-045D-4B42F4BE5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749FE-223B-0565-51D9-E7E53B557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3461B-39F7-04FD-57A8-48AD930AE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0593-5333-C224-E1B2-B9C4B7D4A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4ADE0-4449-0BD6-D966-CBE20849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112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2BC8-D36F-6117-FAEA-86021EC6D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5CDAA-66A4-B827-7699-008FFE7F0D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FF1F8-BAE7-DDAA-F6CA-97D830A92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F4065-84FE-70CE-9B5B-A521F70EB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FADE3-3E99-1A24-242B-3D30AA30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D6DFB-8246-E19B-62C9-847771CAA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462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9FF33-E1F9-C9DF-28CF-2D93FA989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1D9D4-7C67-8F4B-F2C9-B50F979E9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47A6A-A844-7785-EC67-177F6B94B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9B2FA6-D7BB-E706-A3E8-01420028AA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08A30B-A453-4BFC-A2CB-5A150DDC4F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7DCAD0-84E3-47EE-3D70-9F876F0B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432BE6-EB1D-4DA5-DB48-B58D962A5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2746C8-70CA-3360-6BC6-A40F5F239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395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445D-64B1-38C3-5E24-38598BEBE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786F1-B775-4C52-E819-3543529F9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73C8A-E876-90D6-B15F-115238CF9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0A1262-279B-4A6C-5CC3-C6A8887A5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27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D09089-4275-1048-CEE7-0A08D71C9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724FCE-FC51-100D-7EB4-2F6914D23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BE78A-DA65-3C14-808A-55415599C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753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B034B-8224-5F4C-8974-BA0376FEB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8BB6E-D8F6-DC0B-FCAC-E415397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3FDD0-87F9-F157-8C07-205CD29C1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131F2-E21E-1789-5933-56F48882B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1DBC4-505F-2A13-B335-1FE99DB35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D1DE6-DFF0-9B32-8951-71B5CAE27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492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93B5-339E-870A-6EE5-0B819E5BA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56FB93-2AEC-67EB-4024-437105D2FB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BA8DE-B9F6-F250-1B1E-B6DB595B1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4E7EB-F1EF-3651-2266-5B1F5AAF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F8B12-A386-0FB5-44B5-2D7767357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B1C7B-6BD8-92FA-C044-366FF654F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001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36908-04DA-A591-9C9B-1F097FDDA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AE0DE2-418D-750C-597F-38D94976F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9CDEA-53E8-2C23-CC9E-AF5A3901B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CAD83-374B-35CE-53E8-8899EA9B3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EC723-68AA-7191-39BE-8F208C92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964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231BD8-F8EB-C0C4-26BA-CA01B0753E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D1228-3044-8025-2371-BBC89DB83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A1DCB-8164-1EF0-D63F-0D51A08A3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40341-CF13-2A66-53D2-588E571DD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17D7C-CC1C-1264-2DA1-295E6D1A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761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700B29-40C6-2BA3-A1E6-F3D6B197A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F8C6B-3E6D-5141-6436-161A08D0D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8DBB8-43B9-9730-B866-9A749FCB3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2066A6-D1A9-4114-9E94-251832C6992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D5448-9797-D45F-7189-84C1AE1CA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D67D6-EA6E-021B-9B76-56F9014206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883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438EA56-8646-05A2-36D5-9122791CB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3250" y="1014884"/>
            <a:ext cx="6105194" cy="3283103"/>
          </a:xfrm>
        </p:spPr>
        <p:txBody>
          <a:bodyPr>
            <a:normAutofit/>
          </a:bodyPr>
          <a:lstStyle/>
          <a:p>
            <a:r>
              <a:rPr lang="en-US" sz="66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RAG Validation</a:t>
            </a:r>
            <a:endParaRPr lang="en-IN" sz="6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415" y="75515"/>
            <a:ext cx="610970" cy="61097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CC98F91-2037-6AAF-7C21-34FAB6DA435D}"/>
              </a:ext>
            </a:extLst>
          </p:cNvPr>
          <p:cNvGrpSpPr/>
          <p:nvPr/>
        </p:nvGrpSpPr>
        <p:grpSpPr>
          <a:xfrm>
            <a:off x="3626418" y="4759020"/>
            <a:ext cx="4445785" cy="589558"/>
            <a:chOff x="3614024" y="4908823"/>
            <a:chExt cx="4445785" cy="589558"/>
          </a:xfrm>
        </p:grpSpPr>
        <p:sp>
          <p:nvSpPr>
            <p:cNvPr id="18" name="Title 1">
              <a:extLst>
                <a:ext uri="{FF2B5EF4-FFF2-40B4-BE49-F238E27FC236}">
                  <a16:creationId xmlns:a16="http://schemas.microsoft.com/office/drawing/2014/main" id="{D64B9545-AA74-9959-DEF7-A5E273646E5C}"/>
                </a:ext>
              </a:extLst>
            </p:cNvPr>
            <p:cNvSpPr txBox="1">
              <a:spLocks/>
            </p:cNvSpPr>
            <p:nvPr/>
          </p:nvSpPr>
          <p:spPr>
            <a:xfrm>
              <a:off x="3614024" y="4908823"/>
              <a:ext cx="4445785" cy="58955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3200" dirty="0" smtClean="0"/>
                <a:t>By</a:t>
              </a:r>
              <a:r>
                <a:rPr lang="en-US" sz="3200" b="1" dirty="0" smtClean="0">
                  <a:solidFill>
                    <a:srgbClr val="00B0F0"/>
                  </a:solidFill>
                </a:rPr>
                <a:t> </a:t>
              </a:r>
              <a:endParaRPr lang="en-US" sz="3200" b="1" dirty="0">
                <a:solidFill>
                  <a:srgbClr val="00B050"/>
                </a:solidFill>
              </a:endParaRPr>
            </a:p>
          </p:txBody>
        </p:sp>
        <p:pic>
          <p:nvPicPr>
            <p:cNvPr id="19" name="Picture 18" descr="A blue and green logo&#10;&#10;Description automatically generated">
              <a:extLst>
                <a:ext uri="{FF2B5EF4-FFF2-40B4-BE49-F238E27FC236}">
                  <a16:creationId xmlns:a16="http://schemas.microsoft.com/office/drawing/2014/main" id="{93B8DE8A-D399-DD1D-681B-D87204E48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7646" y="4908823"/>
              <a:ext cx="589558" cy="5895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8675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RAG Validation components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146336"/>
              </p:ext>
            </p:extLst>
          </p:nvPr>
        </p:nvGraphicFramePr>
        <p:xfrm>
          <a:off x="904287" y="1349030"/>
          <a:ext cx="10373313" cy="3296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51090">
                  <a:extLst>
                    <a:ext uri="{9D8B030D-6E8A-4147-A177-3AD203B41FA5}">
                      <a16:colId xmlns:a16="http://schemas.microsoft.com/office/drawing/2014/main" val="4062765356"/>
                    </a:ext>
                  </a:extLst>
                </a:gridCol>
                <a:gridCol w="3455377">
                  <a:extLst>
                    <a:ext uri="{9D8B030D-6E8A-4147-A177-3AD203B41FA5}">
                      <a16:colId xmlns:a16="http://schemas.microsoft.com/office/drawing/2014/main" val="3706367845"/>
                    </a:ext>
                  </a:extLst>
                </a:gridCol>
                <a:gridCol w="4366846">
                  <a:extLst>
                    <a:ext uri="{9D8B030D-6E8A-4147-A177-3AD203B41FA5}">
                      <a16:colId xmlns:a16="http://schemas.microsoft.com/office/drawing/2014/main" val="35933677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Component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Goal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Potential Failures (and Root Cause)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843410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Retrieval (Context)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Find all necessary and only relevant documents/chunks.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Missing Info: 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Retriever didn't find a relevant chunk (low Recall). </a:t>
                      </a:r>
                      <a:endParaRPr lang="en-US" sz="1600" dirty="0" smtClean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rtl="0"/>
                      <a:endParaRPr lang="en-US" sz="1600" b="1" dirty="0" smtClean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rtl="0"/>
                      <a:r>
                        <a:rPr lang="en-US" sz="1600" b="1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Noise</a:t>
                      </a:r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Retriever brought back irrelevant chunks (low Precision).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474605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Generation (Answer)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the provided context to generate an accurate, relevant, and fluent answer.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Hallucination/Inaccuracy: 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Answer contains facts not in the context (low Faithfulness/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Groundedness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). </a:t>
                      </a:r>
                      <a:endParaRPr lang="en-US" sz="1600" dirty="0" smtClean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rtl="0"/>
                      <a:endParaRPr lang="en-US" sz="1600" dirty="0" smtClean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rtl="0"/>
                      <a:r>
                        <a:rPr lang="en-US" sz="1600" b="1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Irrelevance</a:t>
                      </a:r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Answer doesn't fully address the user's question (low Answer Relevance).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892382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425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Step-by-Step Validation Workflow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699135" y="1131292"/>
            <a:ext cx="10911840" cy="423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Step-by-Step Validation Workflow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Data Preparation: The 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Foundation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Evaluation Criteria: What Makes a RAG Response "Good"?</a:t>
            </a: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Data Preparation: The Foundation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Validation is impossible without a good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Create a High-Quality Test Set: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Gather a set of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Questions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Expected Contexts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(the chunks that 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should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be retrieved), and a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Ground Truth Answer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(the perfect response). </a:t>
            </a:r>
            <a:r>
              <a:rPr lang="en-US" alt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Establishing 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 "Golden" Reference Set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Diversity is Key: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Include simple queries, complex multi-step questions, queries with misspellings, and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negative test cases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(questions that 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cannot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be answered by the knowledge base).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560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Step-by-Step Validation Workflow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699135" y="1110231"/>
            <a:ext cx="10911840" cy="1031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2. Evaluation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Criteria: What Makes a RAG Response "Good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"?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	A. Retrieval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Quality (Context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AutoNum type="alphaUcPeriod"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20237"/>
              </p:ext>
            </p:extLst>
          </p:nvPr>
        </p:nvGraphicFramePr>
        <p:xfrm>
          <a:off x="762000" y="2545845"/>
          <a:ext cx="10366131" cy="3175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46131">
                  <a:extLst>
                    <a:ext uri="{9D8B030D-6E8A-4147-A177-3AD203B41FA5}">
                      <a16:colId xmlns:a16="http://schemas.microsoft.com/office/drawing/2014/main" val="3238133901"/>
                    </a:ext>
                  </a:extLst>
                </a:gridCol>
                <a:gridCol w="4164623">
                  <a:extLst>
                    <a:ext uri="{9D8B030D-6E8A-4147-A177-3AD203B41FA5}">
                      <a16:colId xmlns:a16="http://schemas.microsoft.com/office/drawing/2014/main" val="2905051466"/>
                    </a:ext>
                  </a:extLst>
                </a:gridCol>
                <a:gridCol w="3455377">
                  <a:extLst>
                    <a:ext uri="{9D8B030D-6E8A-4147-A177-3AD203B41FA5}">
                      <a16:colId xmlns:a16="http://schemas.microsoft.com/office/drawing/2014/main" val="2453340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Metric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it Measures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How it's Used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944338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Context Relevance/Precision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 the retrieved context necessary to answer the question? (Signal-to-Noise Ratio)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Checks if a large portion of the retrieved chunks are noise/irrelevant.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06824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Context Recall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Did the retriever find all the information required to generate the complete answer?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Crucial for multi-part or complex questions. (Requires a ground truth answer to verify if all facts are present in the context).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28946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MRR (Mean Reciprocal Rank)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How quickly was the first most relevant document/chunk returned?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Important for systems where the highest-ranked result is most critical.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143684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3453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Step-by-Step Validation Workflow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699135" y="1217952"/>
            <a:ext cx="10911840" cy="815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2. Evaluation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Criteria: What Makes a RAG Response "Good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"?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	B.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Generation Quality (Answer)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756987"/>
              </p:ext>
            </p:extLst>
          </p:nvPr>
        </p:nvGraphicFramePr>
        <p:xfrm>
          <a:off x="762000" y="2387583"/>
          <a:ext cx="10366131" cy="3230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46131">
                  <a:extLst>
                    <a:ext uri="{9D8B030D-6E8A-4147-A177-3AD203B41FA5}">
                      <a16:colId xmlns:a16="http://schemas.microsoft.com/office/drawing/2014/main" val="3238133901"/>
                    </a:ext>
                  </a:extLst>
                </a:gridCol>
                <a:gridCol w="4164623">
                  <a:extLst>
                    <a:ext uri="{9D8B030D-6E8A-4147-A177-3AD203B41FA5}">
                      <a16:colId xmlns:a16="http://schemas.microsoft.com/office/drawing/2014/main" val="2905051466"/>
                    </a:ext>
                  </a:extLst>
                </a:gridCol>
                <a:gridCol w="3455377">
                  <a:extLst>
                    <a:ext uri="{9D8B030D-6E8A-4147-A177-3AD203B41FA5}">
                      <a16:colId xmlns:a16="http://schemas.microsoft.com/office/drawing/2014/main" val="2453340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Metric</a:t>
                      </a:r>
                      <a:endParaRPr lang="en-IN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What it Measures</a:t>
                      </a:r>
                      <a:endParaRPr lang="en-IN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How it's Used</a:t>
                      </a:r>
                      <a:endParaRPr lang="en-IN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944338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Faithfulness (or </a:t>
                      </a:r>
                      <a:r>
                        <a:rPr lang="en-IN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Groundedness</a:t>
                      </a: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Is the generated answer factually consistent </a:t>
                      </a:r>
                      <a:r>
                        <a:rPr lang="en-US" i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with the retrieved context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? (Anti-Hallucination)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most important RAG metric. A faithful answer does not "hallucinate" new information.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06824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Answer Relevance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Is the final answer </a:t>
                      </a:r>
                      <a:r>
                        <a:rPr lang="en-US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directly relevant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to the user's question?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Checks for tangential answers or incomplete responses.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28946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Answer Correctness/Semantic Similarity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How semantically similar is the generated answer to the human-labeled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Ground Truth Answer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?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 measure of overall accuracy, usually requiring a reference answer.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143684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4150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RAGAS 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Framework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99135" y="1110231"/>
            <a:ext cx="1013298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RAGAS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(Retrieval-Augmented Generation Assessment Suite) is a popular open-source framework that automates the calculation of RAG metrics, often using an LLM-as-a-judge approach to avoid heavy manual labeling.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632216"/>
              </p:ext>
            </p:extLst>
          </p:nvPr>
        </p:nvGraphicFramePr>
        <p:xfrm>
          <a:off x="699135" y="2192340"/>
          <a:ext cx="10398276" cy="3779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18592">
                  <a:extLst>
                    <a:ext uri="{9D8B030D-6E8A-4147-A177-3AD203B41FA5}">
                      <a16:colId xmlns:a16="http://schemas.microsoft.com/office/drawing/2014/main" val="1222575126"/>
                    </a:ext>
                  </a:extLst>
                </a:gridCol>
                <a:gridCol w="2022231">
                  <a:extLst>
                    <a:ext uri="{9D8B030D-6E8A-4147-A177-3AD203B41FA5}">
                      <a16:colId xmlns:a16="http://schemas.microsoft.com/office/drawing/2014/main" val="3059317805"/>
                    </a:ext>
                  </a:extLst>
                </a:gridCol>
                <a:gridCol w="6157453">
                  <a:extLst>
                    <a:ext uri="{9D8B030D-6E8A-4147-A177-3AD203B41FA5}">
                      <a16:colId xmlns:a16="http://schemas.microsoft.com/office/drawing/2014/main" val="23995698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RAGAS Metric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Component Focused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How it's Calculated (LLM-as-a-Judge)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129620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Faithfulness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Generation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 LLM-Judge breaks the answer into statements and checks if each statement is logically supported by the retrieved context.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06231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Answer Relevancy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Generation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 LLM-Judge generates a set of potential questions for the RAG answer. It then measures the similarity between these generated questions and the original user question.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691250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Context Precision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Retrieval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 LLM-Judge rates the relevance of each retrieved context chunk to the question (a signal-to-noise ratio).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4057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 Context Recall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Retrieval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 LLM-Judge compares statements in the Ground Truth Answer and checks if all necessary facts are present in the Retrieved Contexts. (Note: This metric requires a Ground Truth Answer to work).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490363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9290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699135" y="740899"/>
            <a:ext cx="10911840" cy="1769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User query: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“What does Section 4.3 of the policy describe?”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Ground truth relevant chunks: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There are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2 chunks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in the whole dataset that contain Section 4.3 details: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Chunk_12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Chunk_14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179130"/>
              </p:ext>
            </p:extLst>
          </p:nvPr>
        </p:nvGraphicFramePr>
        <p:xfrm>
          <a:off x="762000" y="5385010"/>
          <a:ext cx="5477577" cy="822960"/>
        </p:xfrm>
        <a:graphic>
          <a:graphicData uri="http://schemas.openxmlformats.org/drawingml/2006/table">
            <a:tbl>
              <a:tblPr/>
              <a:tblGrid>
                <a:gridCol w="1825859">
                  <a:extLst>
                    <a:ext uri="{9D8B030D-6E8A-4147-A177-3AD203B41FA5}">
                      <a16:colId xmlns:a16="http://schemas.microsoft.com/office/drawing/2014/main" val="2501660159"/>
                    </a:ext>
                  </a:extLst>
                </a:gridCol>
                <a:gridCol w="1825859">
                  <a:extLst>
                    <a:ext uri="{9D8B030D-6E8A-4147-A177-3AD203B41FA5}">
                      <a16:colId xmlns:a16="http://schemas.microsoft.com/office/drawing/2014/main" val="640395078"/>
                    </a:ext>
                  </a:extLst>
                </a:gridCol>
                <a:gridCol w="1825859">
                  <a:extLst>
                    <a:ext uri="{9D8B030D-6E8A-4147-A177-3AD203B41FA5}">
                      <a16:colId xmlns:a16="http://schemas.microsoft.com/office/drawing/2014/main" val="30356313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1006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0646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7214168"/>
                  </a:ext>
                </a:extLst>
              </a:tr>
            </a:tbl>
          </a:graphicData>
        </a:graphic>
      </p:graphicFrame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543285" y="3631543"/>
            <a:ext cx="5760749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1: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Recall@K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Calculation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Assume your vector retriever returns top K=5 chunks as above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Relevant items retrieved =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(Chunk_12, Chunk_14)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relevant items in dataset =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➤ Recall@5 = 2 / 2 = 1.0 (100%)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means your retriever found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relevant chunks within top-5 → excellent.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6973443" y="3613516"/>
            <a:ext cx="5124069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2: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Precision@K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Calculation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Same top-5 retrieval: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Relevant items = 2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Retrieved total K = 5</a:t>
            </a:r>
            <a:endParaRPr kumimoji="0" lang="en-US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➤ Precision@5 = 2 / 5 = 0.4 (40%)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40%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the retrieved chunks were relevant → retrieval is noisy.</a:t>
            </a: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6026619" y="5255414"/>
            <a:ext cx="6070893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Interpretation for Example 1 + 2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400" dirty="0" smtClean="0">
                <a:latin typeface="Arial" panose="020B0604020202020204" pitchFamily="34" charset="0"/>
              </a:rPr>
              <a:t>	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Reranking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CRAG filtering is needed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improve precision.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06793"/>
              </p:ext>
            </p:extLst>
          </p:nvPr>
        </p:nvGraphicFramePr>
        <p:xfrm>
          <a:off x="762001" y="5362174"/>
          <a:ext cx="4962144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58007">
                  <a:extLst>
                    <a:ext uri="{9D8B030D-6E8A-4147-A177-3AD203B41FA5}">
                      <a16:colId xmlns:a16="http://schemas.microsoft.com/office/drawing/2014/main" val="768137799"/>
                    </a:ext>
                  </a:extLst>
                </a:gridCol>
                <a:gridCol w="650630">
                  <a:extLst>
                    <a:ext uri="{9D8B030D-6E8A-4147-A177-3AD203B41FA5}">
                      <a16:colId xmlns:a16="http://schemas.microsoft.com/office/drawing/2014/main" val="4192339370"/>
                    </a:ext>
                  </a:extLst>
                </a:gridCol>
                <a:gridCol w="3253507">
                  <a:extLst>
                    <a:ext uri="{9D8B030D-6E8A-4147-A177-3AD203B41FA5}">
                      <a16:colId xmlns:a16="http://schemas.microsoft.com/office/drawing/2014/main" val="24011093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Interpretation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2270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Recall@5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Your retriever found all relevant chunks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2700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Precision@5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But it also retrieved many irrelevant chunks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5171971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416569"/>
              </p:ext>
            </p:extLst>
          </p:nvPr>
        </p:nvGraphicFramePr>
        <p:xfrm>
          <a:off x="3771132" y="1814567"/>
          <a:ext cx="5363724" cy="1645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87949">
                  <a:extLst>
                    <a:ext uri="{9D8B030D-6E8A-4147-A177-3AD203B41FA5}">
                      <a16:colId xmlns:a16="http://schemas.microsoft.com/office/drawing/2014/main" val="3421197041"/>
                    </a:ext>
                  </a:extLst>
                </a:gridCol>
                <a:gridCol w="1800465">
                  <a:extLst>
                    <a:ext uri="{9D8B030D-6E8A-4147-A177-3AD203B41FA5}">
                      <a16:colId xmlns:a16="http://schemas.microsoft.com/office/drawing/2014/main" val="132064812"/>
                    </a:ext>
                  </a:extLst>
                </a:gridCol>
                <a:gridCol w="2475310">
                  <a:extLst>
                    <a:ext uri="{9D8B030D-6E8A-4147-A177-3AD203B41FA5}">
                      <a16:colId xmlns:a16="http://schemas.microsoft.com/office/drawing/2014/main" val="1004929795"/>
                    </a:ext>
                  </a:extLst>
                </a:gridCol>
              </a:tblGrid>
              <a:tr h="131458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Retrieved Chunk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Relevant?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0831854"/>
                  </a:ext>
                </a:extLst>
              </a:tr>
              <a:tr h="131458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Chunk_88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0201219"/>
                  </a:ext>
                </a:extLst>
              </a:tr>
              <a:tr h="131458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Chunk_12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810571"/>
                  </a:ext>
                </a:extLst>
              </a:tr>
              <a:tr h="131458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Chunk_152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5217950"/>
                  </a:ext>
                </a:extLst>
              </a:tr>
              <a:tr h="131458">
                <a:tc>
                  <a:txBody>
                    <a:bodyPr/>
                    <a:lstStyle/>
                    <a:p>
                      <a:r>
                        <a:rPr lang="en-IN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Chunk_14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6584081"/>
                  </a:ext>
                </a:extLst>
              </a:tr>
              <a:tr h="131458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Chunk_201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6413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3401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RAG system's health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11925"/>
              </p:ext>
            </p:extLst>
          </p:nvPr>
        </p:nvGraphicFramePr>
        <p:xfrm>
          <a:off x="523289" y="1349030"/>
          <a:ext cx="10398276" cy="3784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88026">
                  <a:extLst>
                    <a:ext uri="{9D8B030D-6E8A-4147-A177-3AD203B41FA5}">
                      <a16:colId xmlns:a16="http://schemas.microsoft.com/office/drawing/2014/main" val="1222575126"/>
                    </a:ext>
                  </a:extLst>
                </a:gridCol>
                <a:gridCol w="3341077">
                  <a:extLst>
                    <a:ext uri="{9D8B030D-6E8A-4147-A177-3AD203B41FA5}">
                      <a16:colId xmlns:a16="http://schemas.microsoft.com/office/drawing/2014/main" val="3059317805"/>
                    </a:ext>
                  </a:extLst>
                </a:gridCol>
                <a:gridCol w="4969173">
                  <a:extLst>
                    <a:ext uri="{9D8B030D-6E8A-4147-A177-3AD203B41FA5}">
                      <a16:colId xmlns:a16="http://schemas.microsoft.com/office/drawing/2014/main" val="23995698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Metric Score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Interpretation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Action to Improve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129620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sz="1600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 Faithfulness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 have a Hallucination problem.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The LLM is going off-script.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Improve your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prompt template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(be stricter), or try a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smaller chunk size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(to reduce noise in the context window).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06231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sz="1600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 Context Recall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 have a Comprehensiveness problem.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Your retriever is missing key facts.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 your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chunking strategy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(maybe overlap more, or use larger chunks), or refine your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embedding model/retrieval parameters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691250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sz="1600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 Context Precision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 have a Noise problem.</a:t>
                      </a: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Too many irrelevant chunks are retrieved.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Implement a </a:t>
                      </a:r>
                      <a:r>
                        <a:rPr lang="en-US" sz="1600" b="1" dirty="0" smtClean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C-RAG</a:t>
                      </a:r>
                      <a:r>
                        <a:rPr lang="en-US" sz="1600" dirty="0" smtClean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  <a:r>
                        <a:rPr lang="en-US" sz="1600" baseline="0" dirty="0" smtClean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1" dirty="0" smtClean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re-ranker</a:t>
                      </a:r>
                      <a:r>
                        <a:rPr lang="en-US" sz="1600" dirty="0" smtClean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after initial retrieval, or use a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different embedding model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that captures relevance better.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4057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sz="1600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 Answer Relevancy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 have a Focus problem.</a:t>
                      </a: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The answer is vague or answers a different question.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Tune your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prompt template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to be more direct, or adjust your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LLM's temperature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(lower temperature for more focused answers).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490363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2924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438EA56-8646-05A2-36D5-9122791CB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chemeClr val="tx2"/>
                </a:solidFill>
              </a:rPr>
              <a:t>Thank you</a:t>
            </a:r>
            <a:endParaRPr lang="en-IN" sz="6600" b="1" dirty="0">
              <a:solidFill>
                <a:schemeClr val="tx2"/>
              </a:solidFill>
            </a:endParaRPr>
          </a:p>
        </p:txBody>
      </p:sp>
      <p:pic>
        <p:nvPicPr>
          <p:cNvPr id="16" name="Picture 15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415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714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883</Words>
  <Application>Microsoft Office PowerPoint</Application>
  <PresentationFormat>Widescreen</PresentationFormat>
  <Paragraphs>143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Google Sans Text</vt:lpstr>
      <vt:lpstr>Wingdings</vt:lpstr>
      <vt:lpstr>Office Theme</vt:lpstr>
      <vt:lpstr>RAG Validation</vt:lpstr>
      <vt:lpstr>RAG Validation components</vt:lpstr>
      <vt:lpstr>Step-by-Step Validation Workflow</vt:lpstr>
      <vt:lpstr>Step-by-Step Validation Workflow</vt:lpstr>
      <vt:lpstr>Step-by-Step Validation Workflow</vt:lpstr>
      <vt:lpstr>RAGAS Framework</vt:lpstr>
      <vt:lpstr>Examples</vt:lpstr>
      <vt:lpstr>RAG system's health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</dc:title>
  <dc:creator/>
  <cp:lastModifiedBy/>
  <cp:revision>1184</cp:revision>
  <dcterms:created xsi:type="dcterms:W3CDTF">2024-09-04T04:29:20Z</dcterms:created>
  <dcterms:modified xsi:type="dcterms:W3CDTF">2025-11-26T15:18:40Z</dcterms:modified>
</cp:coreProperties>
</file>