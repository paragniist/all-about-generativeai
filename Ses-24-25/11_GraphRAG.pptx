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2"/>
  </p:notesMasterIdLst>
  <p:sldIdLst>
    <p:sldId id="274" r:id="rId2"/>
    <p:sldId id="505" r:id="rId3"/>
    <p:sldId id="506" r:id="rId4"/>
    <p:sldId id="503" r:id="rId5"/>
    <p:sldId id="507" r:id="rId6"/>
    <p:sldId id="508" r:id="rId7"/>
    <p:sldId id="510" r:id="rId8"/>
    <p:sldId id="509" r:id="rId9"/>
    <p:sldId id="511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0HItghaSvE5eHsZb5weJ9w==" hashData="BoQOqkvidmGk1j3tAAkWyLrWfmmiZbhdOM4LiouzRHv5YU7Y0H2FUqTU2PWlcw/mpOiqD1h3VQuDsMtRXwqlL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06" autoAdjust="0"/>
    <p:restoredTop sz="95274" autoAdjust="0"/>
  </p:normalViewPr>
  <p:slideViewPr>
    <p:cSldViewPr snapToGrid="0">
      <p:cViewPr varScale="1">
        <p:scale>
          <a:sx n="87" d="100"/>
          <a:sy n="87" d="100"/>
        </p:scale>
        <p:origin x="3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5ECAA-268E-4C0D-9FC7-17C53698496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4D035-8484-4F58-9D29-A39A493CE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56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991F-E995-897B-29EE-7B505AB66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67F7B-139D-FBEE-5DC8-2E47E96F6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4AFDF-4EB4-2154-D568-E99CEAE5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859FE-B4A5-F459-6D01-CA55616D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A9D83-4AD0-F06F-1BFD-7335E67B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5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64DD-1124-594C-D6C3-30AC77D8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956EB-D5B0-F889-4D83-707F88584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DB960-C94C-3229-A8BF-3F24767F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C9D0-5AF0-DB1E-FCC8-DF40FBA8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28B43-188B-BE7E-1FAD-B28D9A1D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0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9EB8-B517-7328-045D-4B42F4BE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749FE-223B-0565-51D9-E7E53B557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461B-39F7-04FD-57A8-48AD930A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0593-5333-C224-E1B2-B9C4B7D4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ADE0-4449-0BD6-D966-CBE20849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11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2BC8-D36F-6117-FAEA-86021EC6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5CDAA-66A4-B827-7699-008FFE7F0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FF1F8-BAE7-DDAA-F6CA-97D830A92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F4065-84FE-70CE-9B5B-A521F70E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FADE3-3E99-1A24-242B-3D30AA30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D6DFB-8246-E19B-62C9-847771CA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6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FF33-E1F9-C9DF-28CF-2D93FA98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1D9D4-7C67-8F4B-F2C9-B50F979E9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47A6A-A844-7785-EC67-177F6B94B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B2FA6-D7BB-E706-A3E8-01420028A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8A30B-A453-4BFC-A2CB-5A150DDC4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DCAD0-84E3-47EE-3D70-9F876F0B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32BE6-EB1D-4DA5-DB48-B58D962A5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2746C8-70CA-3360-6BC6-A40F5F23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39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445D-64B1-38C3-5E24-38598BEB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786F1-B775-4C52-E819-3543529F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73C8A-E876-90D6-B15F-115238CF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A1262-279B-4A6C-5CC3-C6A8887A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27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09089-4275-1048-CEE7-0A08D71C9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24FCE-FC51-100D-7EB4-2F6914D23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BE78A-DA65-3C14-808A-55415599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75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034B-8224-5F4C-8974-BA0376FE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BB6E-D8F6-DC0B-FCAC-E415397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3FDD0-87F9-F157-8C07-205CD29C1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131F2-E21E-1789-5933-56F48882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1DBC4-505F-2A13-B335-1FE99DB3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1DE6-DFF0-9B32-8951-71B5CAE2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49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93B5-339E-870A-6EE5-0B819E5B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6FB93-2AEC-67EB-4024-437105D2F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BA8DE-B9F6-F250-1B1E-B6DB595B1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7EB-F1EF-3651-2266-5B1F5AAF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F8B12-A386-0FB5-44B5-2D776735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B1C7B-6BD8-92FA-C044-366FF654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0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6908-04DA-A591-9C9B-1F097FDD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E0DE2-418D-750C-597F-38D94976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9CDEA-53E8-2C23-CC9E-AF5A3901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CAD83-374B-35CE-53E8-8899EA9B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EC723-68AA-7191-39BE-8F208C92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96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31BD8-F8EB-C0C4-26BA-CA01B0753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D1228-3044-8025-2371-BBC89DB83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A1DCB-8164-1EF0-D63F-0D51A08A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40341-CF13-2A66-53D2-588E571D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17D7C-CC1C-1264-2DA1-295E6D1A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76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00B29-40C6-2BA3-A1E6-F3D6B197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F8C6B-3E6D-5141-6436-161A08D0D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8DBB8-43B9-9730-B866-9A749FCB3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066A6-D1A9-4114-9E94-251832C6992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D5448-9797-D45F-7189-84C1AE1CA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D67D6-EA6E-021B-9B76-56F901420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8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3250" y="1014884"/>
            <a:ext cx="6105194" cy="3283103"/>
          </a:xfrm>
        </p:spPr>
        <p:txBody>
          <a:bodyPr>
            <a:normAutofit/>
          </a:bodyPr>
          <a:lstStyle/>
          <a:p>
            <a:r>
              <a:rPr lang="en-US" sz="66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GraphRAG</a:t>
            </a:r>
            <a:endParaRPr lang="en-IN" sz="6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CC98F91-2037-6AAF-7C21-34FAB6DA435D}"/>
              </a:ext>
            </a:extLst>
          </p:cNvPr>
          <p:cNvGrpSpPr/>
          <p:nvPr/>
        </p:nvGrpSpPr>
        <p:grpSpPr>
          <a:xfrm>
            <a:off x="3626418" y="4759020"/>
            <a:ext cx="4445785" cy="589558"/>
            <a:chOff x="3614024" y="4908823"/>
            <a:chExt cx="4445785" cy="589558"/>
          </a:xfrm>
        </p:grpSpPr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D64B9545-AA74-9959-DEF7-A5E273646E5C}"/>
                </a:ext>
              </a:extLst>
            </p:cNvPr>
            <p:cNvSpPr txBox="1">
              <a:spLocks/>
            </p:cNvSpPr>
            <p:nvPr/>
          </p:nvSpPr>
          <p:spPr>
            <a:xfrm>
              <a:off x="3614024" y="4908823"/>
              <a:ext cx="4445785" cy="58955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200" dirty="0" smtClean="0"/>
                <a:t>By</a:t>
              </a:r>
              <a:r>
                <a:rPr lang="en-US" sz="3200" b="1" dirty="0" smtClean="0">
                  <a:solidFill>
                    <a:srgbClr val="00B0F0"/>
                  </a:solidFill>
                </a:rPr>
                <a:t> </a:t>
              </a:r>
              <a:endParaRPr lang="en-US" sz="3200" b="1" dirty="0">
                <a:solidFill>
                  <a:srgbClr val="00B050"/>
                </a:solidFill>
              </a:endParaRPr>
            </a:p>
          </p:txBody>
        </p:sp>
        <p:pic>
          <p:nvPicPr>
            <p:cNvPr id="19" name="Picture 18" descr="A blue and green logo&#10;&#10;Description automatically generated">
              <a:extLst>
                <a:ext uri="{FF2B5EF4-FFF2-40B4-BE49-F238E27FC236}">
                  <a16:creationId xmlns:a16="http://schemas.microsoft.com/office/drawing/2014/main" id="{93B8DE8A-D399-DD1D-681B-D87204E48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7646" y="4908823"/>
              <a:ext cx="589558" cy="5895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67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Graph DB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99135" y="938173"/>
            <a:ext cx="10132988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database built on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graph theory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is stored as: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Nodes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entities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Relationships (verbs)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how entities connect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Properties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attributes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Ex: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Nodes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Represent entities</a:t>
            </a:r>
            <a:b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Examples: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Person, Movie, Product</a:t>
            </a:r>
            <a:endParaRPr lang="en-US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Relationships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Connect two nodes</a:t>
            </a:r>
            <a:b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Examples: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FOLLOWS, PURCHASED, LIKES</a:t>
            </a:r>
            <a:endParaRPr lang="en-US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Properties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Key-value attributes</a:t>
            </a:r>
            <a:b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Examples: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name: "Alice", age: 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Nodes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Alice, Bob, Movie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Relationships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Alice → FRIEND_OF → Bob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Bob → LIKES →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Movie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2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Graph DB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287092"/>
              </p:ext>
            </p:extLst>
          </p:nvPr>
        </p:nvGraphicFramePr>
        <p:xfrm>
          <a:off x="1469292" y="1142874"/>
          <a:ext cx="8127999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62060338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8173877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09351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Relational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Graph 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8173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Tables, 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Nodes, Relationships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88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Expensive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joins; direct traversal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235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Rigid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Flexible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212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Deep 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7262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Structured tabular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Connected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2559973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469292" y="4026767"/>
            <a:ext cx="1002225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Neo4j 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is World's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most popular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native graph </a:t>
            </a:r>
            <a:r>
              <a:rPr lang="en-US" alt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lternatives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en-IN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PuppyGraph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, AWS Neptune, </a:t>
            </a:r>
            <a:r>
              <a:rPr lang="en-IN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TigerGraph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OrientDB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IN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ArangoDB</a:t>
            </a:r>
            <a:endParaRPr lang="en-US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Uses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Cypher Query Language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Visual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graph exploration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Offers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AuraDB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(cloud) for easy deployment</a:t>
            </a:r>
          </a:p>
        </p:txBody>
      </p:sp>
    </p:spTree>
    <p:extLst>
      <p:ext uri="{BB962C8B-B14F-4D97-AF65-F5344CB8AC3E}">
        <p14:creationId xmlns:p14="http://schemas.microsoft.com/office/powerpoint/2010/main" val="245994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Neo4j Editions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829039"/>
              </p:ext>
            </p:extLst>
          </p:nvPr>
        </p:nvGraphicFramePr>
        <p:xfrm>
          <a:off x="620004" y="924560"/>
          <a:ext cx="10496400" cy="5054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99280">
                  <a:extLst>
                    <a:ext uri="{9D8B030D-6E8A-4147-A177-3AD203B41FA5}">
                      <a16:colId xmlns:a16="http://schemas.microsoft.com/office/drawing/2014/main" val="1209902573"/>
                    </a:ext>
                  </a:extLst>
                </a:gridCol>
                <a:gridCol w="2099280">
                  <a:extLst>
                    <a:ext uri="{9D8B030D-6E8A-4147-A177-3AD203B41FA5}">
                      <a16:colId xmlns:a16="http://schemas.microsoft.com/office/drawing/2014/main" val="497861328"/>
                    </a:ext>
                  </a:extLst>
                </a:gridCol>
                <a:gridCol w="2099280">
                  <a:extLst>
                    <a:ext uri="{9D8B030D-6E8A-4147-A177-3AD203B41FA5}">
                      <a16:colId xmlns:a16="http://schemas.microsoft.com/office/drawing/2014/main" val="1470271029"/>
                    </a:ext>
                  </a:extLst>
                </a:gridCol>
                <a:gridCol w="2099280">
                  <a:extLst>
                    <a:ext uri="{9D8B030D-6E8A-4147-A177-3AD203B41FA5}">
                      <a16:colId xmlns:a16="http://schemas.microsoft.com/office/drawing/2014/main" val="1269913981"/>
                    </a:ext>
                  </a:extLst>
                </a:gridCol>
                <a:gridCol w="2099280">
                  <a:extLst>
                    <a:ext uri="{9D8B030D-6E8A-4147-A177-3AD203B41FA5}">
                      <a16:colId xmlns:a16="http://schemas.microsoft.com/office/drawing/2014/main" val="42818855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 / Edition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Community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Desktop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Enterprise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Aura (Cloud)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3331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Summary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Free basic Neo4j for small/local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Enterprise features for free (dev only)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Full production-grade Neo4j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Fully managed cloud Neo4j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043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Free → </a:t>
                      </a:r>
                      <a:r>
                        <a:rPr lang="en-IN" sz="15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Paid</a:t>
                      </a:r>
                    </a:p>
                    <a:p>
                      <a:r>
                        <a:rPr lang="fr-FR" sz="15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Aura Free</a:t>
                      </a:r>
                      <a:r>
                        <a:rPr lang="fr-FR" sz="15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fr-FR" sz="15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small</a:t>
                      </a:r>
                      <a:r>
                        <a:rPr lang="fr-FR" sz="15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r>
                        <a:rPr lang="fr-FR" sz="15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Aura Professional</a:t>
                      </a:r>
                      <a:endParaRPr lang="fr-FR" sz="15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fr-FR" sz="15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Aura Enterprise</a:t>
                      </a:r>
                      <a:endParaRPr lang="fr-FR" sz="15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440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 + small production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 development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Production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Cloud-hosted apps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9959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525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Security (RBAC)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 Yes (dev only)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 Full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 Full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0700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Backups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 Hot backups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 Automatic backups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762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Neo4j Browser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Desktop App + </a:t>
                      </a:r>
                      <a:r>
                        <a:rPr lang="en-IN" sz="15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Neo4j Browser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Neo4j Browser </a:t>
                      </a:r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 Console + </a:t>
                      </a:r>
                      <a:r>
                        <a:rPr lang="en-IN" sz="15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Neo4j Browser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7615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 Managed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7813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Learning, small apps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Developers, POCs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Large-scale production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 apps, effortless deployment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2146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4920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Neo4j Architecture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58716" y="1110231"/>
            <a:ext cx="1041888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Graph Engine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Graph Engine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is the core part of Neo4j that stores and processes graph data.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Bolt Protocol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for fast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Bolt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is Neo4j’s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binary client–server protocol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It is similar to JDBC but optimized specifically for graph queries, Provides fast, low-latency communication between your app and Neo4j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Write-Ahead Logging (WAL</a:t>
            </a:r>
            <a:r>
              <a:rPr lang="en-IN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Write-Ahead Log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is a file Neo4j writes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applying changes to the database and Only then does it update the graph store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Clustering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: Causal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clustering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Neo4j’s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distributed cluster architecture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that keeps data consistent across multiple machines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2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Roles in the cluster</a:t>
            </a:r>
          </a:p>
          <a:p>
            <a:pPr marL="1657350" lvl="3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Leader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→ handles all writes</a:t>
            </a:r>
          </a:p>
          <a:p>
            <a:pPr marL="1657350" lvl="3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Followers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→ replicate data from leader &amp; can handle reads</a:t>
            </a:r>
          </a:p>
          <a:p>
            <a:pPr marL="1657350" lvl="3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Read Replicas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→ scale out for massive read workloads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APOC(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Awesome Procedures On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Cypher):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huge library of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extensions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that provide advanced graph utilities and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algorithms.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Data cleaning, Graph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algorithms (similarity,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pagerank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clustering), Import/export utilities, Text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and date 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functions, ETL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(Extract–Transform–Load) 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functions, Procedures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 call external 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APIs. Graph transformations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8441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Cyper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Query Language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58716" y="1110231"/>
            <a:ext cx="1041888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Cypher </a:t>
            </a:r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Basics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1. Create a </a:t>
            </a: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Node -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Creates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 Person node with a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name property: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CREATE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p:Person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{name: </a:t>
            </a: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“Raj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"})      or   MERGE (</a:t>
            </a:r>
            <a:r>
              <a:rPr lang="en-US" alt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p:Person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{name: "Raj"});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Person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is a N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ode label</a:t>
            </a: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 is alias for Person node</a:t>
            </a: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n-US" alt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name:“Raj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"}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is a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property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CREATE is used when you </a:t>
            </a:r>
            <a:r>
              <a:rPr lang="en-US" altLang="en-US" sz="1400" i="1" dirty="0">
                <a:latin typeface="Arial" panose="020B0604020202020204" pitchFamily="34" charset="0"/>
              </a:rPr>
              <a:t>always want a new node</a:t>
            </a:r>
            <a:r>
              <a:rPr lang="en-US" altLang="en-US" sz="1400" dirty="0">
                <a:latin typeface="Arial" panose="020B0604020202020204" pitchFamily="34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MERGE is used when you want a </a:t>
            </a:r>
            <a:r>
              <a:rPr lang="en-US" altLang="en-US" sz="1400" i="1" dirty="0">
                <a:latin typeface="Arial" panose="020B0604020202020204" pitchFamily="34" charset="0"/>
              </a:rPr>
              <a:t>unique node</a:t>
            </a:r>
            <a:r>
              <a:rPr lang="en-US" altLang="en-US" sz="1400" dirty="0">
                <a:latin typeface="Arial" panose="020B0604020202020204" pitchFamily="34" charset="0"/>
              </a:rPr>
              <a:t> (no duplicates).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2. Create a Relationship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Connects two existing people with a FRIEND_OF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relationship: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alt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a:Person</a:t>
            </a: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  <a:r>
              <a:rPr lang="en-US" alt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name:"Alice</a:t>
            </a: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"}), (</a:t>
            </a:r>
            <a:r>
              <a:rPr lang="en-US" alt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b:Person</a:t>
            </a: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  <a:r>
              <a:rPr lang="en-US" alt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name:"Bob</a:t>
            </a: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"})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	CREATE (a)-[:FRIEND_OF]-&gt;(b)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MATCH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finds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nodes</a:t>
            </a: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CREATE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adds the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Relationships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have direction (→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24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Cyper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Query Language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58716" y="1110231"/>
            <a:ext cx="1041888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2. Create a Relationship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Connects two existing people with a FRIEND_OF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relationship: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CREATE (</a:t>
            </a:r>
            <a:r>
              <a:rPr lang="en-US" alt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a:Person</a:t>
            </a: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  <a:r>
              <a:rPr lang="en-US" alt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name:"Alice</a:t>
            </a: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"}), (</a:t>
            </a:r>
            <a:r>
              <a:rPr lang="en-US" alt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b:Person</a:t>
            </a: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  <a:r>
              <a:rPr lang="en-US" alt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name:"Bob</a:t>
            </a: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"})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	CREATE (a)-[:FRIEND_OF]-&gt;(b)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CREATE here create nodes and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adds the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Relationships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have direction (→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979566"/>
              </p:ext>
            </p:extLst>
          </p:nvPr>
        </p:nvGraphicFramePr>
        <p:xfrm>
          <a:off x="1267069" y="3914245"/>
          <a:ext cx="9521092" cy="1691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80273">
                  <a:extLst>
                    <a:ext uri="{9D8B030D-6E8A-4147-A177-3AD203B41FA5}">
                      <a16:colId xmlns:a16="http://schemas.microsoft.com/office/drawing/2014/main" val="2203026076"/>
                    </a:ext>
                  </a:extLst>
                </a:gridCol>
                <a:gridCol w="2380273">
                  <a:extLst>
                    <a:ext uri="{9D8B030D-6E8A-4147-A177-3AD203B41FA5}">
                      <a16:colId xmlns:a16="http://schemas.microsoft.com/office/drawing/2014/main" val="1188399411"/>
                    </a:ext>
                  </a:extLst>
                </a:gridCol>
                <a:gridCol w="2380273">
                  <a:extLst>
                    <a:ext uri="{9D8B030D-6E8A-4147-A177-3AD203B41FA5}">
                      <a16:colId xmlns:a16="http://schemas.microsoft.com/office/drawing/2014/main" val="1610835784"/>
                    </a:ext>
                  </a:extLst>
                </a:gridCol>
                <a:gridCol w="2380273">
                  <a:extLst>
                    <a:ext uri="{9D8B030D-6E8A-4147-A177-3AD203B41FA5}">
                      <a16:colId xmlns:a16="http://schemas.microsoft.com/office/drawing/2014/main" val="24285953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Direction?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Used in CREATE?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6083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 -[]- 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Match relationship in ANY direction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2766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 -[]-&gt; 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Outgoing relationship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996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 &lt;-[]- 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Incoming relationship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03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1230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Cypher Query Language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58716" y="934385"/>
            <a:ext cx="10418884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3. Query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Find all friends of each person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p:Person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)-[</a:t>
            </a:r>
            <a:r>
              <a:rPr lang="en-US" alt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h:FRIEND_OF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]-&gt;(friend) </a:t>
            </a:r>
            <a:endParaRPr lang="en-US" alt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RETURN </a:t>
            </a:r>
            <a:r>
              <a:rPr lang="en-US" alt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p,h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friend </a:t>
            </a:r>
            <a:endParaRPr lang="en-US" alt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MATCH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pattern-searches the 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graph</a:t>
            </a: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Arrow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means “connected by a FRIEND_OF 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relationship”</a:t>
            </a: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Returns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pairs of people and their 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friends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4. Query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all movies an actor acted in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MATCH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p:Person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{name: "Tom Hanks"})-[:ACTED_IN]-&gt;(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m:Movie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alt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RETURN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m.title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Finds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node for Tom 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Hanks</a:t>
            </a: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Follows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ACTED_IN relationships to movie 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nodes</a:t>
            </a: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Returns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titles of connected movies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MATCH p=()-[:DIRECTED]-&gt;()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	RETURN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 LIMIT 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25;</a:t>
            </a: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Matches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any two nodes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connected by 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DIRECTED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relationship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52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Cypher Query Language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58716" y="934385"/>
            <a:ext cx="1041888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3. Update data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p:Person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name:"Bob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"}) </a:t>
            </a:r>
            <a:endParaRPr lang="en-US" alt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SET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p.age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= 26 </a:t>
            </a:r>
            <a:endParaRPr lang="en-US" alt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RETURN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4. Delete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MATCH 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p:Person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name:"Alice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"}) </a:t>
            </a:r>
            <a:endParaRPr lang="en-US" alt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DETACH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DELETE p;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1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tx2"/>
                </a:solidFill>
              </a:rPr>
              <a:t>Thank you</a:t>
            </a:r>
            <a:endParaRPr lang="en-IN" sz="6600" b="1" dirty="0">
              <a:solidFill>
                <a:schemeClr val="tx2"/>
              </a:solidFill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1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</Words>
  <Application>Microsoft Office PowerPoint</Application>
  <PresentationFormat>Widescreen</PresentationFormat>
  <Paragraphs>199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GraphRAG</vt:lpstr>
      <vt:lpstr>Graph DB</vt:lpstr>
      <vt:lpstr>Graph DB</vt:lpstr>
      <vt:lpstr>Neo4j Editions</vt:lpstr>
      <vt:lpstr>Neo4j Architecture</vt:lpstr>
      <vt:lpstr>Cyper Query Language</vt:lpstr>
      <vt:lpstr>Cyper Query Language</vt:lpstr>
      <vt:lpstr>Cypher Query Language</vt:lpstr>
      <vt:lpstr>Cypher Query Language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</dc:title>
  <dc:creator/>
  <cp:lastModifiedBy/>
  <cp:revision>1184</cp:revision>
  <dcterms:created xsi:type="dcterms:W3CDTF">2024-09-04T04:29:20Z</dcterms:created>
  <dcterms:modified xsi:type="dcterms:W3CDTF">2025-11-22T03:45:50Z</dcterms:modified>
</cp:coreProperties>
</file>