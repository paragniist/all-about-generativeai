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15"/>
  </p:notesMasterIdLst>
  <p:sldIdLst>
    <p:sldId id="274" r:id="rId2"/>
    <p:sldId id="499" r:id="rId3"/>
    <p:sldId id="501" r:id="rId4"/>
    <p:sldId id="502" r:id="rId5"/>
    <p:sldId id="498" r:id="rId6"/>
    <p:sldId id="503" r:id="rId7"/>
    <p:sldId id="504" r:id="rId8"/>
    <p:sldId id="505" r:id="rId9"/>
    <p:sldId id="506" r:id="rId10"/>
    <p:sldId id="508" r:id="rId11"/>
    <p:sldId id="507" r:id="rId12"/>
    <p:sldId id="509" r:id="rId13"/>
    <p:sldId id="27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0HItghaSvE5eHsZb5weJ9w==" hashData="BoQOqkvidmGk1j3tAAkWyLrWfmmiZbhdOM4LiouzRHv5YU7Y0H2FUqTU2PWlcw/mpOiqD1h3VQuDsMtRXwqlLw=="/>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06" autoAdjust="0"/>
    <p:restoredTop sz="95274" autoAdjust="0"/>
  </p:normalViewPr>
  <p:slideViewPr>
    <p:cSldViewPr snapToGrid="0">
      <p:cViewPr varScale="1">
        <p:scale>
          <a:sx n="87" d="100"/>
          <a:sy n="87" d="100"/>
        </p:scale>
        <p:origin x="30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65ECAA-268E-4C0D-9FC7-17C53698496D}" type="datetimeFigureOut">
              <a:rPr lang="en-IN" smtClean="0"/>
              <a:t>19-11-2025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84D035-8484-4F58-9D29-A39A493CE121}" type="slidenum">
              <a:rPr lang="en-IN" smtClean="0"/>
              <a:t>‹#›</a:t>
            </a:fld>
            <a:endParaRPr lang="en-IN"/>
          </a:p>
        </p:txBody>
      </p:sp>
    </p:spTree>
    <p:extLst>
      <p:ext uri="{BB962C8B-B14F-4D97-AF65-F5344CB8AC3E}">
        <p14:creationId xmlns:p14="http://schemas.microsoft.com/office/powerpoint/2010/main" val="35305665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https://github.com/langchain-ai/rag-from-scratch/tree/main</a:t>
            </a:r>
          </a:p>
          <a:p>
            <a:r>
              <a:rPr lang="en-IN" dirty="0" smtClean="0"/>
              <a:t>https://www.youtube.com/watch?v=sVcwVQRHIc8</a:t>
            </a:r>
          </a:p>
          <a:p>
            <a:r>
              <a:rPr lang="en-IN" dirty="0" smtClean="0"/>
              <a:t>https://www.youtube.com/watch?v=8sSHg1034r0 – with out </a:t>
            </a:r>
            <a:r>
              <a:rPr lang="en-IN" smtClean="0"/>
              <a:t>langchain</a:t>
            </a:r>
            <a:endParaRPr lang="en-IN" dirty="0"/>
          </a:p>
        </p:txBody>
      </p:sp>
      <p:sp>
        <p:nvSpPr>
          <p:cNvPr id="4" name="Slide Number Placeholder 3"/>
          <p:cNvSpPr>
            <a:spLocks noGrp="1"/>
          </p:cNvSpPr>
          <p:nvPr>
            <p:ph type="sldNum" sz="quarter" idx="10"/>
          </p:nvPr>
        </p:nvSpPr>
        <p:spPr/>
        <p:txBody>
          <a:bodyPr/>
          <a:lstStyle/>
          <a:p>
            <a:fld id="{6684D035-8484-4F58-9D29-A39A493CE121}" type="slidenum">
              <a:rPr lang="en-IN" smtClean="0"/>
              <a:t>2</a:t>
            </a:fld>
            <a:endParaRPr lang="en-IN"/>
          </a:p>
        </p:txBody>
      </p:sp>
    </p:spTree>
    <p:extLst>
      <p:ext uri="{BB962C8B-B14F-4D97-AF65-F5344CB8AC3E}">
        <p14:creationId xmlns:p14="http://schemas.microsoft.com/office/powerpoint/2010/main" val="23411123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684D035-8484-4F58-9D29-A39A493CE121}" type="slidenum">
              <a:rPr lang="en-IN" smtClean="0"/>
              <a:t>3</a:t>
            </a:fld>
            <a:endParaRPr lang="en-IN"/>
          </a:p>
        </p:txBody>
      </p:sp>
    </p:spTree>
    <p:extLst>
      <p:ext uri="{BB962C8B-B14F-4D97-AF65-F5344CB8AC3E}">
        <p14:creationId xmlns:p14="http://schemas.microsoft.com/office/powerpoint/2010/main" val="35086441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684D035-8484-4F58-9D29-A39A493CE121}" type="slidenum">
              <a:rPr lang="en-IN" smtClean="0"/>
              <a:t>4</a:t>
            </a:fld>
            <a:endParaRPr lang="en-IN"/>
          </a:p>
        </p:txBody>
      </p:sp>
    </p:spTree>
    <p:extLst>
      <p:ext uri="{BB962C8B-B14F-4D97-AF65-F5344CB8AC3E}">
        <p14:creationId xmlns:p14="http://schemas.microsoft.com/office/powerpoint/2010/main" val="12339255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7991F-E995-897B-29EE-7B505AB6646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EB67F7B-139D-FBEE-5DC8-2E47E96F6C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474AFDF-4EB4-2154-D568-E99CEAE5BC26}"/>
              </a:ext>
            </a:extLst>
          </p:cNvPr>
          <p:cNvSpPr>
            <a:spLocks noGrp="1"/>
          </p:cNvSpPr>
          <p:nvPr>
            <p:ph type="dt" sz="half" idx="10"/>
          </p:nvPr>
        </p:nvSpPr>
        <p:spPr/>
        <p:txBody>
          <a:bodyPr/>
          <a:lstStyle/>
          <a:p>
            <a:fld id="{032066A6-D1A9-4114-9E94-251832C69923}" type="datetimeFigureOut">
              <a:rPr lang="en-IN" smtClean="0"/>
              <a:t>19-11-2025</a:t>
            </a:fld>
            <a:endParaRPr lang="en-IN"/>
          </a:p>
        </p:txBody>
      </p:sp>
      <p:sp>
        <p:nvSpPr>
          <p:cNvPr id="5" name="Footer Placeholder 4">
            <a:extLst>
              <a:ext uri="{FF2B5EF4-FFF2-40B4-BE49-F238E27FC236}">
                <a16:creationId xmlns:a16="http://schemas.microsoft.com/office/drawing/2014/main" id="{861859FE-B4A5-F459-6D01-CA55616D4A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2A9D83-4AD0-F06F-1BFD-7335E67B485F}"/>
              </a:ext>
            </a:extLst>
          </p:cNvPr>
          <p:cNvSpPr>
            <a:spLocks noGrp="1"/>
          </p:cNvSpPr>
          <p:nvPr>
            <p:ph type="sldNum" sz="quarter" idx="12"/>
          </p:nvPr>
        </p:nvSpPr>
        <p:spPr/>
        <p:txBody>
          <a:bodyPr/>
          <a:lstStyle/>
          <a:p>
            <a:fld id="{DF0E4596-51ED-496E-8BF6-E6E70F95E67B}" type="slidenum">
              <a:rPr lang="en-IN" smtClean="0"/>
              <a:t>‹#›</a:t>
            </a:fld>
            <a:endParaRPr lang="en-IN"/>
          </a:p>
        </p:txBody>
      </p:sp>
      <p:pic>
        <p:nvPicPr>
          <p:cNvPr id="7" name="Picture 6" descr="A blue and green logo&#10;&#10;Description automatically generated">
            <a:extLst>
              <a:ext uri="{FF2B5EF4-FFF2-40B4-BE49-F238E27FC236}">
                <a16:creationId xmlns:a16="http://schemas.microsoft.com/office/drawing/2014/main" id="{18C91886-4610-0E6C-8B52-92F6E3631F4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494629" y="75515"/>
            <a:ext cx="610970" cy="610970"/>
          </a:xfrm>
          <a:prstGeom prst="rect">
            <a:avLst/>
          </a:prstGeom>
        </p:spPr>
      </p:pic>
    </p:spTree>
    <p:extLst>
      <p:ext uri="{BB962C8B-B14F-4D97-AF65-F5344CB8AC3E}">
        <p14:creationId xmlns:p14="http://schemas.microsoft.com/office/powerpoint/2010/main" val="38352581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E64DD-1124-594C-D6C3-30AC77D8248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13956EB-D5B0-F889-4D83-707F8858400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DDB960-C94C-3229-A8BF-3F24767FBEB3}"/>
              </a:ext>
            </a:extLst>
          </p:cNvPr>
          <p:cNvSpPr>
            <a:spLocks noGrp="1"/>
          </p:cNvSpPr>
          <p:nvPr>
            <p:ph type="dt" sz="half" idx="10"/>
          </p:nvPr>
        </p:nvSpPr>
        <p:spPr/>
        <p:txBody>
          <a:bodyPr/>
          <a:lstStyle/>
          <a:p>
            <a:fld id="{032066A6-D1A9-4114-9E94-251832C69923}" type="datetimeFigureOut">
              <a:rPr lang="en-IN" smtClean="0"/>
              <a:t>19-11-2025</a:t>
            </a:fld>
            <a:endParaRPr lang="en-IN"/>
          </a:p>
        </p:txBody>
      </p:sp>
      <p:sp>
        <p:nvSpPr>
          <p:cNvPr id="5" name="Footer Placeholder 4">
            <a:extLst>
              <a:ext uri="{FF2B5EF4-FFF2-40B4-BE49-F238E27FC236}">
                <a16:creationId xmlns:a16="http://schemas.microsoft.com/office/drawing/2014/main" id="{73EBC9D0-5AF0-DB1E-FCC8-DF40FBA8064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128B43-188B-BE7E-1FAD-B28D9A1D4A43}"/>
              </a:ext>
            </a:extLst>
          </p:cNvPr>
          <p:cNvSpPr>
            <a:spLocks noGrp="1"/>
          </p:cNvSpPr>
          <p:nvPr>
            <p:ph type="sldNum" sz="quarter" idx="12"/>
          </p:nvPr>
        </p:nvSpPr>
        <p:spPr/>
        <p:txBody>
          <a:bodyPr/>
          <a:lstStyle/>
          <a:p>
            <a:fld id="{DF0E4596-51ED-496E-8BF6-E6E70F95E67B}" type="slidenum">
              <a:rPr lang="en-IN" smtClean="0"/>
              <a:t>‹#›</a:t>
            </a:fld>
            <a:endParaRPr lang="en-IN"/>
          </a:p>
        </p:txBody>
      </p:sp>
      <p:pic>
        <p:nvPicPr>
          <p:cNvPr id="7" name="Picture 6" descr="A blue and green logo&#10;&#10;Description automatically generated">
            <a:extLst>
              <a:ext uri="{FF2B5EF4-FFF2-40B4-BE49-F238E27FC236}">
                <a16:creationId xmlns:a16="http://schemas.microsoft.com/office/drawing/2014/main" id="{18C91886-4610-0E6C-8B52-92F6E3631F4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494629" y="75515"/>
            <a:ext cx="610970" cy="610970"/>
          </a:xfrm>
          <a:prstGeom prst="rect">
            <a:avLst/>
          </a:prstGeom>
        </p:spPr>
      </p:pic>
    </p:spTree>
    <p:extLst>
      <p:ext uri="{BB962C8B-B14F-4D97-AF65-F5344CB8AC3E}">
        <p14:creationId xmlns:p14="http://schemas.microsoft.com/office/powerpoint/2010/main" val="17603070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E9EB8-B517-7328-045D-4B42F4BE5B5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68749FE-223B-0565-51D9-E7E53B5578D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F43461B-39F7-04FD-57A8-48AD930AEB8B}"/>
              </a:ext>
            </a:extLst>
          </p:cNvPr>
          <p:cNvSpPr>
            <a:spLocks noGrp="1"/>
          </p:cNvSpPr>
          <p:nvPr>
            <p:ph type="dt" sz="half" idx="10"/>
          </p:nvPr>
        </p:nvSpPr>
        <p:spPr/>
        <p:txBody>
          <a:bodyPr/>
          <a:lstStyle/>
          <a:p>
            <a:fld id="{032066A6-D1A9-4114-9E94-251832C69923}" type="datetimeFigureOut">
              <a:rPr lang="en-IN" smtClean="0"/>
              <a:t>19-11-2025</a:t>
            </a:fld>
            <a:endParaRPr lang="en-IN"/>
          </a:p>
        </p:txBody>
      </p:sp>
      <p:sp>
        <p:nvSpPr>
          <p:cNvPr id="5" name="Footer Placeholder 4">
            <a:extLst>
              <a:ext uri="{FF2B5EF4-FFF2-40B4-BE49-F238E27FC236}">
                <a16:creationId xmlns:a16="http://schemas.microsoft.com/office/drawing/2014/main" id="{534C0593-5333-C224-E1B2-B9C4B7D4AF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74ADE0-4449-0BD6-D966-CBE208496DC7}"/>
              </a:ext>
            </a:extLst>
          </p:cNvPr>
          <p:cNvSpPr>
            <a:spLocks noGrp="1"/>
          </p:cNvSpPr>
          <p:nvPr>
            <p:ph type="sldNum" sz="quarter" idx="12"/>
          </p:nvPr>
        </p:nvSpPr>
        <p:spPr/>
        <p:txBody>
          <a:bodyPr/>
          <a:lstStyle/>
          <a:p>
            <a:fld id="{DF0E4596-51ED-496E-8BF6-E6E70F95E67B}" type="slidenum">
              <a:rPr lang="en-IN" smtClean="0"/>
              <a:t>‹#›</a:t>
            </a:fld>
            <a:endParaRPr lang="en-IN"/>
          </a:p>
        </p:txBody>
      </p:sp>
    </p:spTree>
    <p:extLst>
      <p:ext uri="{BB962C8B-B14F-4D97-AF65-F5344CB8AC3E}">
        <p14:creationId xmlns:p14="http://schemas.microsoft.com/office/powerpoint/2010/main" val="40991128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62BC8-D36F-6117-FAEA-86021EC6D95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015CDAA-66A4-B827-7699-008FFE7F0DE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C5FF1F8-BAE7-DDAA-F6CA-97D830A922D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23F4065-84FE-70CE-9B5B-A521F70EBE8B}"/>
              </a:ext>
            </a:extLst>
          </p:cNvPr>
          <p:cNvSpPr>
            <a:spLocks noGrp="1"/>
          </p:cNvSpPr>
          <p:nvPr>
            <p:ph type="dt" sz="half" idx="10"/>
          </p:nvPr>
        </p:nvSpPr>
        <p:spPr/>
        <p:txBody>
          <a:bodyPr/>
          <a:lstStyle/>
          <a:p>
            <a:fld id="{032066A6-D1A9-4114-9E94-251832C69923}" type="datetimeFigureOut">
              <a:rPr lang="en-IN" smtClean="0"/>
              <a:t>19-11-2025</a:t>
            </a:fld>
            <a:endParaRPr lang="en-IN"/>
          </a:p>
        </p:txBody>
      </p:sp>
      <p:sp>
        <p:nvSpPr>
          <p:cNvPr id="6" name="Footer Placeholder 5">
            <a:extLst>
              <a:ext uri="{FF2B5EF4-FFF2-40B4-BE49-F238E27FC236}">
                <a16:creationId xmlns:a16="http://schemas.microsoft.com/office/drawing/2014/main" id="{3F4FADE3-3E99-1A24-242B-3D30AA30C68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1BD6DFB-8246-E19B-62C9-847771CAA060}"/>
              </a:ext>
            </a:extLst>
          </p:cNvPr>
          <p:cNvSpPr>
            <a:spLocks noGrp="1"/>
          </p:cNvSpPr>
          <p:nvPr>
            <p:ph type="sldNum" sz="quarter" idx="12"/>
          </p:nvPr>
        </p:nvSpPr>
        <p:spPr/>
        <p:txBody>
          <a:bodyPr/>
          <a:lstStyle/>
          <a:p>
            <a:fld id="{DF0E4596-51ED-496E-8BF6-E6E70F95E67B}" type="slidenum">
              <a:rPr lang="en-IN" smtClean="0"/>
              <a:t>‹#›</a:t>
            </a:fld>
            <a:endParaRPr lang="en-IN"/>
          </a:p>
        </p:txBody>
      </p:sp>
      <p:pic>
        <p:nvPicPr>
          <p:cNvPr id="8" name="Picture 7" descr="A blue and green logo&#10;&#10;Description automatically generated">
            <a:extLst>
              <a:ext uri="{FF2B5EF4-FFF2-40B4-BE49-F238E27FC236}">
                <a16:creationId xmlns:a16="http://schemas.microsoft.com/office/drawing/2014/main" id="{18C91886-4610-0E6C-8B52-92F6E3631F4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494629" y="75515"/>
            <a:ext cx="610970" cy="610970"/>
          </a:xfrm>
          <a:prstGeom prst="rect">
            <a:avLst/>
          </a:prstGeom>
        </p:spPr>
      </p:pic>
    </p:spTree>
    <p:extLst>
      <p:ext uri="{BB962C8B-B14F-4D97-AF65-F5344CB8AC3E}">
        <p14:creationId xmlns:p14="http://schemas.microsoft.com/office/powerpoint/2010/main" val="3742462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9FF33-E1F9-C9DF-28CF-2D93FA9894E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D61D9D4-7C67-8F4B-F2C9-B50F979E921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5E47A6A-A844-7785-EC67-177F6B94B31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C9B2FA6-D7BB-E706-A3E8-01420028AAC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F08A30B-A453-4BFC-A2CB-5A150DDC4F3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B7DCAD0-84E3-47EE-3D70-9F876F0B8F67}"/>
              </a:ext>
            </a:extLst>
          </p:cNvPr>
          <p:cNvSpPr>
            <a:spLocks noGrp="1"/>
          </p:cNvSpPr>
          <p:nvPr>
            <p:ph type="dt" sz="half" idx="10"/>
          </p:nvPr>
        </p:nvSpPr>
        <p:spPr/>
        <p:txBody>
          <a:bodyPr/>
          <a:lstStyle/>
          <a:p>
            <a:fld id="{032066A6-D1A9-4114-9E94-251832C69923}" type="datetimeFigureOut">
              <a:rPr lang="en-IN" smtClean="0"/>
              <a:t>19-11-2025</a:t>
            </a:fld>
            <a:endParaRPr lang="en-IN"/>
          </a:p>
        </p:txBody>
      </p:sp>
      <p:sp>
        <p:nvSpPr>
          <p:cNvPr id="8" name="Footer Placeholder 7">
            <a:extLst>
              <a:ext uri="{FF2B5EF4-FFF2-40B4-BE49-F238E27FC236}">
                <a16:creationId xmlns:a16="http://schemas.microsoft.com/office/drawing/2014/main" id="{CC432BE6-EB1D-4DA5-DB48-B58D962A5B5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82746C8-70CA-3360-6BC6-A40F5F23940B}"/>
              </a:ext>
            </a:extLst>
          </p:cNvPr>
          <p:cNvSpPr>
            <a:spLocks noGrp="1"/>
          </p:cNvSpPr>
          <p:nvPr>
            <p:ph type="sldNum" sz="quarter" idx="12"/>
          </p:nvPr>
        </p:nvSpPr>
        <p:spPr/>
        <p:txBody>
          <a:bodyPr/>
          <a:lstStyle/>
          <a:p>
            <a:fld id="{DF0E4596-51ED-496E-8BF6-E6E70F95E67B}" type="slidenum">
              <a:rPr lang="en-IN" smtClean="0"/>
              <a:t>‹#›</a:t>
            </a:fld>
            <a:endParaRPr lang="en-IN"/>
          </a:p>
        </p:txBody>
      </p:sp>
    </p:spTree>
    <p:extLst>
      <p:ext uri="{BB962C8B-B14F-4D97-AF65-F5344CB8AC3E}">
        <p14:creationId xmlns:p14="http://schemas.microsoft.com/office/powerpoint/2010/main" val="12803951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3445D-64B1-38C3-5E24-38598BEBE5A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FE786F1-B775-4C52-E819-3543529F970D}"/>
              </a:ext>
            </a:extLst>
          </p:cNvPr>
          <p:cNvSpPr>
            <a:spLocks noGrp="1"/>
          </p:cNvSpPr>
          <p:nvPr>
            <p:ph type="dt" sz="half" idx="10"/>
          </p:nvPr>
        </p:nvSpPr>
        <p:spPr/>
        <p:txBody>
          <a:bodyPr/>
          <a:lstStyle/>
          <a:p>
            <a:fld id="{032066A6-D1A9-4114-9E94-251832C69923}" type="datetimeFigureOut">
              <a:rPr lang="en-IN" smtClean="0"/>
              <a:t>19-11-2025</a:t>
            </a:fld>
            <a:endParaRPr lang="en-IN"/>
          </a:p>
        </p:txBody>
      </p:sp>
      <p:sp>
        <p:nvSpPr>
          <p:cNvPr id="4" name="Footer Placeholder 3">
            <a:extLst>
              <a:ext uri="{FF2B5EF4-FFF2-40B4-BE49-F238E27FC236}">
                <a16:creationId xmlns:a16="http://schemas.microsoft.com/office/drawing/2014/main" id="{8C173C8A-E876-90D6-B15F-115238CF9F1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A0A1262-279B-4A6C-5CC3-C6A8887A5F9E}"/>
              </a:ext>
            </a:extLst>
          </p:cNvPr>
          <p:cNvSpPr>
            <a:spLocks noGrp="1"/>
          </p:cNvSpPr>
          <p:nvPr>
            <p:ph type="sldNum" sz="quarter" idx="12"/>
          </p:nvPr>
        </p:nvSpPr>
        <p:spPr/>
        <p:txBody>
          <a:bodyPr/>
          <a:lstStyle/>
          <a:p>
            <a:fld id="{DF0E4596-51ED-496E-8BF6-E6E70F95E67B}" type="slidenum">
              <a:rPr lang="en-IN" smtClean="0"/>
              <a:t>‹#›</a:t>
            </a:fld>
            <a:endParaRPr lang="en-IN"/>
          </a:p>
        </p:txBody>
      </p:sp>
    </p:spTree>
    <p:extLst>
      <p:ext uri="{BB962C8B-B14F-4D97-AF65-F5344CB8AC3E}">
        <p14:creationId xmlns:p14="http://schemas.microsoft.com/office/powerpoint/2010/main" val="40212704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8D09089-4275-1048-CEE7-0A08D71C9260}"/>
              </a:ext>
            </a:extLst>
          </p:cNvPr>
          <p:cNvSpPr>
            <a:spLocks noGrp="1"/>
          </p:cNvSpPr>
          <p:nvPr>
            <p:ph type="dt" sz="half" idx="10"/>
          </p:nvPr>
        </p:nvSpPr>
        <p:spPr/>
        <p:txBody>
          <a:bodyPr/>
          <a:lstStyle/>
          <a:p>
            <a:fld id="{032066A6-D1A9-4114-9E94-251832C69923}" type="datetimeFigureOut">
              <a:rPr lang="en-IN" smtClean="0"/>
              <a:t>19-11-2025</a:t>
            </a:fld>
            <a:endParaRPr lang="en-IN"/>
          </a:p>
        </p:txBody>
      </p:sp>
      <p:sp>
        <p:nvSpPr>
          <p:cNvPr id="3" name="Footer Placeholder 2">
            <a:extLst>
              <a:ext uri="{FF2B5EF4-FFF2-40B4-BE49-F238E27FC236}">
                <a16:creationId xmlns:a16="http://schemas.microsoft.com/office/drawing/2014/main" id="{65724FCE-FC51-100D-7EB4-2F6914D23C7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DBBE78A-DA65-3C14-808A-55415599CC2D}"/>
              </a:ext>
            </a:extLst>
          </p:cNvPr>
          <p:cNvSpPr>
            <a:spLocks noGrp="1"/>
          </p:cNvSpPr>
          <p:nvPr>
            <p:ph type="sldNum" sz="quarter" idx="12"/>
          </p:nvPr>
        </p:nvSpPr>
        <p:spPr/>
        <p:txBody>
          <a:bodyPr/>
          <a:lstStyle/>
          <a:p>
            <a:fld id="{DF0E4596-51ED-496E-8BF6-E6E70F95E67B}" type="slidenum">
              <a:rPr lang="en-IN" smtClean="0"/>
              <a:t>‹#›</a:t>
            </a:fld>
            <a:endParaRPr lang="en-IN"/>
          </a:p>
        </p:txBody>
      </p:sp>
    </p:spTree>
    <p:extLst>
      <p:ext uri="{BB962C8B-B14F-4D97-AF65-F5344CB8AC3E}">
        <p14:creationId xmlns:p14="http://schemas.microsoft.com/office/powerpoint/2010/main" val="38767532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B034B-8224-5F4C-8974-BA0376FEB2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D78BB6E-D8F6-DC0B-FCAC-E41539735EF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183FDD0-87F9-F157-8C07-205CD29C13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D131F2-E21E-1789-5933-56F48882B23E}"/>
              </a:ext>
            </a:extLst>
          </p:cNvPr>
          <p:cNvSpPr>
            <a:spLocks noGrp="1"/>
          </p:cNvSpPr>
          <p:nvPr>
            <p:ph type="dt" sz="half" idx="10"/>
          </p:nvPr>
        </p:nvSpPr>
        <p:spPr/>
        <p:txBody>
          <a:bodyPr/>
          <a:lstStyle/>
          <a:p>
            <a:fld id="{032066A6-D1A9-4114-9E94-251832C69923}" type="datetimeFigureOut">
              <a:rPr lang="en-IN" smtClean="0"/>
              <a:t>19-11-2025</a:t>
            </a:fld>
            <a:endParaRPr lang="en-IN"/>
          </a:p>
        </p:txBody>
      </p:sp>
      <p:sp>
        <p:nvSpPr>
          <p:cNvPr id="6" name="Footer Placeholder 5">
            <a:extLst>
              <a:ext uri="{FF2B5EF4-FFF2-40B4-BE49-F238E27FC236}">
                <a16:creationId xmlns:a16="http://schemas.microsoft.com/office/drawing/2014/main" id="{49F1DBC4-505F-2A13-B335-1FE99DB35A7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58D1DE6-DFF0-9B32-8951-71B5CAE27C77}"/>
              </a:ext>
            </a:extLst>
          </p:cNvPr>
          <p:cNvSpPr>
            <a:spLocks noGrp="1"/>
          </p:cNvSpPr>
          <p:nvPr>
            <p:ph type="sldNum" sz="quarter" idx="12"/>
          </p:nvPr>
        </p:nvSpPr>
        <p:spPr/>
        <p:txBody>
          <a:bodyPr/>
          <a:lstStyle/>
          <a:p>
            <a:fld id="{DF0E4596-51ED-496E-8BF6-E6E70F95E67B}" type="slidenum">
              <a:rPr lang="en-IN" smtClean="0"/>
              <a:t>‹#›</a:t>
            </a:fld>
            <a:endParaRPr lang="en-IN"/>
          </a:p>
        </p:txBody>
      </p:sp>
    </p:spTree>
    <p:extLst>
      <p:ext uri="{BB962C8B-B14F-4D97-AF65-F5344CB8AC3E}">
        <p14:creationId xmlns:p14="http://schemas.microsoft.com/office/powerpoint/2010/main" val="21904920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293B5-339E-870A-6EE5-0B819E5BA1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256FB93-2AEC-67EB-4024-437105D2FB3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DCBA8DE-B9F6-F250-1B1E-B6DB595B1F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74E7EB-F1EF-3651-2266-5B1F5AAFAB5E}"/>
              </a:ext>
            </a:extLst>
          </p:cNvPr>
          <p:cNvSpPr>
            <a:spLocks noGrp="1"/>
          </p:cNvSpPr>
          <p:nvPr>
            <p:ph type="dt" sz="half" idx="10"/>
          </p:nvPr>
        </p:nvSpPr>
        <p:spPr/>
        <p:txBody>
          <a:bodyPr/>
          <a:lstStyle/>
          <a:p>
            <a:fld id="{032066A6-D1A9-4114-9E94-251832C69923}" type="datetimeFigureOut">
              <a:rPr lang="en-IN" smtClean="0"/>
              <a:t>19-11-2025</a:t>
            </a:fld>
            <a:endParaRPr lang="en-IN"/>
          </a:p>
        </p:txBody>
      </p:sp>
      <p:sp>
        <p:nvSpPr>
          <p:cNvPr id="6" name="Footer Placeholder 5">
            <a:extLst>
              <a:ext uri="{FF2B5EF4-FFF2-40B4-BE49-F238E27FC236}">
                <a16:creationId xmlns:a16="http://schemas.microsoft.com/office/drawing/2014/main" id="{D1CF8B12-A386-0FB5-44B5-2D776735778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89B1C7B-6BD8-92FA-C044-366FF654F631}"/>
              </a:ext>
            </a:extLst>
          </p:cNvPr>
          <p:cNvSpPr>
            <a:spLocks noGrp="1"/>
          </p:cNvSpPr>
          <p:nvPr>
            <p:ph type="sldNum" sz="quarter" idx="12"/>
          </p:nvPr>
        </p:nvSpPr>
        <p:spPr/>
        <p:txBody>
          <a:bodyPr/>
          <a:lstStyle/>
          <a:p>
            <a:fld id="{DF0E4596-51ED-496E-8BF6-E6E70F95E67B}" type="slidenum">
              <a:rPr lang="en-IN" smtClean="0"/>
              <a:t>‹#›</a:t>
            </a:fld>
            <a:endParaRPr lang="en-IN"/>
          </a:p>
        </p:txBody>
      </p:sp>
    </p:spTree>
    <p:extLst>
      <p:ext uri="{BB962C8B-B14F-4D97-AF65-F5344CB8AC3E}">
        <p14:creationId xmlns:p14="http://schemas.microsoft.com/office/powerpoint/2010/main" val="32710012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36908-04DA-A591-9C9B-1F097FDDA1B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8AE0DE2-418D-750C-597F-38D94976F6A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119CDEA-53E8-2C23-CC9E-AF5A3901B621}"/>
              </a:ext>
            </a:extLst>
          </p:cNvPr>
          <p:cNvSpPr>
            <a:spLocks noGrp="1"/>
          </p:cNvSpPr>
          <p:nvPr>
            <p:ph type="dt" sz="half" idx="10"/>
          </p:nvPr>
        </p:nvSpPr>
        <p:spPr/>
        <p:txBody>
          <a:bodyPr/>
          <a:lstStyle/>
          <a:p>
            <a:fld id="{032066A6-D1A9-4114-9E94-251832C69923}" type="datetimeFigureOut">
              <a:rPr lang="en-IN" smtClean="0"/>
              <a:t>19-11-2025</a:t>
            </a:fld>
            <a:endParaRPr lang="en-IN"/>
          </a:p>
        </p:txBody>
      </p:sp>
      <p:sp>
        <p:nvSpPr>
          <p:cNvPr id="5" name="Footer Placeholder 4">
            <a:extLst>
              <a:ext uri="{FF2B5EF4-FFF2-40B4-BE49-F238E27FC236}">
                <a16:creationId xmlns:a16="http://schemas.microsoft.com/office/drawing/2014/main" id="{0A2CAD83-374B-35CE-53E8-8899EA9B3A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BEC723-68AA-7191-39BE-8F208C92AE99}"/>
              </a:ext>
            </a:extLst>
          </p:cNvPr>
          <p:cNvSpPr>
            <a:spLocks noGrp="1"/>
          </p:cNvSpPr>
          <p:nvPr>
            <p:ph type="sldNum" sz="quarter" idx="12"/>
          </p:nvPr>
        </p:nvSpPr>
        <p:spPr/>
        <p:txBody>
          <a:bodyPr/>
          <a:lstStyle/>
          <a:p>
            <a:fld id="{DF0E4596-51ED-496E-8BF6-E6E70F95E67B}" type="slidenum">
              <a:rPr lang="en-IN" smtClean="0"/>
              <a:t>‹#›</a:t>
            </a:fld>
            <a:endParaRPr lang="en-IN"/>
          </a:p>
        </p:txBody>
      </p:sp>
    </p:spTree>
    <p:extLst>
      <p:ext uri="{BB962C8B-B14F-4D97-AF65-F5344CB8AC3E}">
        <p14:creationId xmlns:p14="http://schemas.microsoft.com/office/powerpoint/2010/main" val="27249649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1231BD8-F8EB-C0C4-26BA-CA01B0753EE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1ED1228-3044-8025-2371-BBC89DB83E8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FBA1DCB-8164-1EF0-D63F-0D51A08A3B99}"/>
              </a:ext>
            </a:extLst>
          </p:cNvPr>
          <p:cNvSpPr>
            <a:spLocks noGrp="1"/>
          </p:cNvSpPr>
          <p:nvPr>
            <p:ph type="dt" sz="half" idx="10"/>
          </p:nvPr>
        </p:nvSpPr>
        <p:spPr/>
        <p:txBody>
          <a:bodyPr/>
          <a:lstStyle/>
          <a:p>
            <a:fld id="{032066A6-D1A9-4114-9E94-251832C69923}" type="datetimeFigureOut">
              <a:rPr lang="en-IN" smtClean="0"/>
              <a:t>19-11-2025</a:t>
            </a:fld>
            <a:endParaRPr lang="en-IN"/>
          </a:p>
        </p:txBody>
      </p:sp>
      <p:sp>
        <p:nvSpPr>
          <p:cNvPr id="5" name="Footer Placeholder 4">
            <a:extLst>
              <a:ext uri="{FF2B5EF4-FFF2-40B4-BE49-F238E27FC236}">
                <a16:creationId xmlns:a16="http://schemas.microsoft.com/office/drawing/2014/main" id="{92840341-CF13-2A66-53D2-588E571DD1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617D7C-CC1C-1264-2DA1-295E6D1AD66D}"/>
              </a:ext>
            </a:extLst>
          </p:cNvPr>
          <p:cNvSpPr>
            <a:spLocks noGrp="1"/>
          </p:cNvSpPr>
          <p:nvPr>
            <p:ph type="sldNum" sz="quarter" idx="12"/>
          </p:nvPr>
        </p:nvSpPr>
        <p:spPr/>
        <p:txBody>
          <a:bodyPr/>
          <a:lstStyle/>
          <a:p>
            <a:fld id="{DF0E4596-51ED-496E-8BF6-E6E70F95E67B}" type="slidenum">
              <a:rPr lang="en-IN" smtClean="0"/>
              <a:t>‹#›</a:t>
            </a:fld>
            <a:endParaRPr lang="en-IN"/>
          </a:p>
        </p:txBody>
      </p:sp>
    </p:spTree>
    <p:extLst>
      <p:ext uri="{BB962C8B-B14F-4D97-AF65-F5344CB8AC3E}">
        <p14:creationId xmlns:p14="http://schemas.microsoft.com/office/powerpoint/2010/main" val="538761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700B29-40C6-2BA3-A1E6-F3D6B197A5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CFF8C6B-3E6D-5141-6436-161A08D0D9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AF8DBB8-43B9-9730-B866-9A749FCB34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32066A6-D1A9-4114-9E94-251832C69923}" type="datetimeFigureOut">
              <a:rPr lang="en-IN" smtClean="0"/>
              <a:t>19-11-2025</a:t>
            </a:fld>
            <a:endParaRPr lang="en-IN"/>
          </a:p>
        </p:txBody>
      </p:sp>
      <p:sp>
        <p:nvSpPr>
          <p:cNvPr id="5" name="Footer Placeholder 4">
            <a:extLst>
              <a:ext uri="{FF2B5EF4-FFF2-40B4-BE49-F238E27FC236}">
                <a16:creationId xmlns:a16="http://schemas.microsoft.com/office/drawing/2014/main" id="{ACDD5448-9797-D45F-7189-84C1AE1CA6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76ED67D6-EA6E-021B-9B76-56F9014206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F0E4596-51ED-496E-8BF6-E6E70F95E67B}" type="slidenum">
              <a:rPr lang="en-IN" smtClean="0"/>
              <a:t>‹#›</a:t>
            </a:fld>
            <a:endParaRPr lang="en-IN"/>
          </a:p>
        </p:txBody>
      </p:sp>
    </p:spTree>
    <p:extLst>
      <p:ext uri="{BB962C8B-B14F-4D97-AF65-F5344CB8AC3E}">
        <p14:creationId xmlns:p14="http://schemas.microsoft.com/office/powerpoint/2010/main" val="11408835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ADCAF8-8823-4E89-8612-21029831A4B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8CA07B2-0819-4B62-9425-7A52BBDD707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grpSp>
        <p:nvGrpSpPr>
          <p:cNvPr id="13" name="Group 12">
            <a:extLst>
              <a:ext uri="{FF2B5EF4-FFF2-40B4-BE49-F238E27FC236}">
                <a16:creationId xmlns:a16="http://schemas.microsoft.com/office/drawing/2014/main" id="{DA02BEE4-A5D4-40AF-882D-49D34B086FFF}"/>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p:grpSpPr>
        <p:sp>
          <p:nvSpPr>
            <p:cNvPr id="14" name="Freeform: Shape 13">
              <a:extLst>
                <a:ext uri="{FF2B5EF4-FFF2-40B4-BE49-F238E27FC236}">
                  <a16:creationId xmlns:a16="http://schemas.microsoft.com/office/drawing/2014/main" id="{0F5843EB-154F-4459-8954-BB1DF64BBD13}"/>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75905135-55D9-431B-8D5A-4C5C92B1FED7}"/>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Shape 5">
              <a:extLst>
                <a:ext uri="{FF2B5EF4-FFF2-40B4-BE49-F238E27FC236}">
                  <a16:creationId xmlns:a16="http://schemas.microsoft.com/office/drawing/2014/main" id="{9B732812-A0BB-4324-B390-DFEF26C109E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01FEC055-6F76-4E20-BC93-76C2F58EAF38}"/>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Shape 7">
              <a:extLst>
                <a:ext uri="{FF2B5EF4-FFF2-40B4-BE49-F238E27FC236}">
                  <a16:creationId xmlns:a16="http://schemas.microsoft.com/office/drawing/2014/main" id="{D74CD21D-122E-4F3D-82AF-F4A37C278AF1}"/>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9">
              <a:extLst>
                <a:ext uri="{FF2B5EF4-FFF2-40B4-BE49-F238E27FC236}">
                  <a16:creationId xmlns:a16="http://schemas.microsoft.com/office/drawing/2014/main" id="{5A7FF51F-3820-41BE-8690-7E758ECFA7CF}"/>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gradFill>
              <a:gsLst>
                <a:gs pos="813">
                  <a:schemeClr val="bg1">
                    <a:alpha val="41000"/>
                  </a:schemeClr>
                </a:gs>
                <a:gs pos="20000">
                  <a:schemeClr val="accent5">
                    <a:lumMod val="85000"/>
                    <a:alpha val="56000"/>
                  </a:schemeClr>
                </a:gs>
                <a:gs pos="44000">
                  <a:schemeClr val="accent6">
                    <a:lumMod val="40000"/>
                    <a:lumOff val="60000"/>
                    <a:alpha val="57000"/>
                  </a:schemeClr>
                </a:gs>
                <a:gs pos="100000">
                  <a:schemeClr val="bg1">
                    <a:alpha val="59000"/>
                  </a:schemeClr>
                </a:gs>
                <a:gs pos="74000">
                  <a:schemeClr val="accent1">
                    <a:lumMod val="91000"/>
                    <a:lumOff val="9000"/>
                    <a:alpha val="34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85EAD889-EA4D-485F-BA9C-F6473A43299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4" name="Title 3">
            <a:extLst>
              <a:ext uri="{FF2B5EF4-FFF2-40B4-BE49-F238E27FC236}">
                <a16:creationId xmlns:a16="http://schemas.microsoft.com/office/drawing/2014/main" id="{A438EA56-8646-05A2-36D5-9122791CBC31}"/>
              </a:ext>
            </a:extLst>
          </p:cNvPr>
          <p:cNvSpPr>
            <a:spLocks noGrp="1"/>
          </p:cNvSpPr>
          <p:nvPr>
            <p:ph type="ctrTitle"/>
          </p:nvPr>
        </p:nvSpPr>
        <p:spPr>
          <a:xfrm>
            <a:off x="3043250" y="1014884"/>
            <a:ext cx="6105194" cy="3283103"/>
          </a:xfrm>
        </p:spPr>
        <p:txBody>
          <a:bodyPr>
            <a:normAutofit fontScale="90000"/>
          </a:bodyPr>
          <a:lstStyle/>
          <a:p>
            <a:r>
              <a:rPr lang="en-US" sz="6600" dirty="0" smtClean="0">
                <a:solidFill>
                  <a:schemeClr val="tx2"/>
                </a:solidFill>
                <a:latin typeface="Arial" panose="020B0604020202020204" pitchFamily="34" charset="0"/>
                <a:cs typeface="Arial" panose="020B0604020202020204" pitchFamily="34" charset="0"/>
              </a:rPr>
              <a:t>RAG – Retrieval Augmented Generation</a:t>
            </a:r>
            <a:endParaRPr lang="en-IN" sz="6600" dirty="0">
              <a:solidFill>
                <a:schemeClr val="tx2"/>
              </a:solidFill>
              <a:latin typeface="Arial" panose="020B0604020202020204" pitchFamily="34" charset="0"/>
              <a:cs typeface="Arial" panose="020B0604020202020204" pitchFamily="34" charset="0"/>
            </a:endParaRPr>
          </a:p>
        </p:txBody>
      </p:sp>
      <p:pic>
        <p:nvPicPr>
          <p:cNvPr id="16" name="Picture 15" descr="A blue and green logo&#10;&#10;Description automatically generated">
            <a:extLst>
              <a:ext uri="{FF2B5EF4-FFF2-40B4-BE49-F238E27FC236}">
                <a16:creationId xmlns:a16="http://schemas.microsoft.com/office/drawing/2014/main" id="{18C91886-4610-0E6C-8B52-92F6E3631F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67415" y="75515"/>
            <a:ext cx="610970" cy="610970"/>
          </a:xfrm>
          <a:prstGeom prst="rect">
            <a:avLst/>
          </a:prstGeom>
        </p:spPr>
      </p:pic>
      <p:grpSp>
        <p:nvGrpSpPr>
          <p:cNvPr id="17" name="Group 16">
            <a:extLst>
              <a:ext uri="{FF2B5EF4-FFF2-40B4-BE49-F238E27FC236}">
                <a16:creationId xmlns:a16="http://schemas.microsoft.com/office/drawing/2014/main" id="{0CC98F91-2037-6AAF-7C21-34FAB6DA435D}"/>
              </a:ext>
            </a:extLst>
          </p:cNvPr>
          <p:cNvGrpSpPr/>
          <p:nvPr/>
        </p:nvGrpSpPr>
        <p:grpSpPr>
          <a:xfrm>
            <a:off x="3626418" y="4759020"/>
            <a:ext cx="4445785" cy="589558"/>
            <a:chOff x="3614024" y="4908823"/>
            <a:chExt cx="4445785" cy="589558"/>
          </a:xfrm>
        </p:grpSpPr>
        <p:sp>
          <p:nvSpPr>
            <p:cNvPr id="18" name="Title 1">
              <a:extLst>
                <a:ext uri="{FF2B5EF4-FFF2-40B4-BE49-F238E27FC236}">
                  <a16:creationId xmlns:a16="http://schemas.microsoft.com/office/drawing/2014/main" id="{D64B9545-AA74-9959-DEF7-A5E273646E5C}"/>
                </a:ext>
              </a:extLst>
            </p:cNvPr>
            <p:cNvSpPr txBox="1">
              <a:spLocks/>
            </p:cNvSpPr>
            <p:nvPr/>
          </p:nvSpPr>
          <p:spPr>
            <a:xfrm>
              <a:off x="3614024" y="4908823"/>
              <a:ext cx="4445785" cy="58955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smtClean="0"/>
                <a:t>By</a:t>
              </a:r>
              <a:r>
                <a:rPr lang="en-US" sz="3200" b="1" dirty="0" smtClean="0">
                  <a:solidFill>
                    <a:srgbClr val="00B0F0"/>
                  </a:solidFill>
                </a:rPr>
                <a:t> </a:t>
              </a:r>
              <a:endParaRPr lang="en-US" sz="3200" b="1" dirty="0">
                <a:solidFill>
                  <a:srgbClr val="00B050"/>
                </a:solidFill>
              </a:endParaRPr>
            </a:p>
          </p:txBody>
        </p:sp>
        <p:pic>
          <p:nvPicPr>
            <p:cNvPr id="19" name="Picture 18" descr="A blue and green logo&#10;&#10;Description automatically generated">
              <a:extLst>
                <a:ext uri="{FF2B5EF4-FFF2-40B4-BE49-F238E27FC236}">
                  <a16:creationId xmlns:a16="http://schemas.microsoft.com/office/drawing/2014/main" id="{93B8DE8A-D399-DD1D-681B-D87204E487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67646" y="4908823"/>
              <a:ext cx="589558" cy="589558"/>
            </a:xfrm>
            <a:prstGeom prst="rect">
              <a:avLst/>
            </a:prstGeom>
          </p:spPr>
        </p:pic>
      </p:grpSp>
    </p:spTree>
    <p:extLst>
      <p:ext uri="{BB962C8B-B14F-4D97-AF65-F5344CB8AC3E}">
        <p14:creationId xmlns:p14="http://schemas.microsoft.com/office/powerpoint/2010/main" val="272867516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8672-BCCD-358E-1B1C-899E93B0C6D9}"/>
              </a:ext>
            </a:extLst>
          </p:cNvPr>
          <p:cNvSpPr>
            <a:spLocks noGrp="1"/>
          </p:cNvSpPr>
          <p:nvPr>
            <p:ph type="title"/>
          </p:nvPr>
        </p:nvSpPr>
        <p:spPr>
          <a:xfrm>
            <a:off x="762000" y="158194"/>
            <a:ext cx="10515600" cy="595418"/>
          </a:xfrm>
        </p:spPr>
        <p:txBody>
          <a:bodyPr>
            <a:normAutofit/>
          </a:bodyPr>
          <a:lstStyle/>
          <a:p>
            <a:pPr algn="ctr" fontAlgn="base"/>
            <a:r>
              <a:rPr lang="en-IN" sz="3200" b="1" dirty="0" smtClean="0">
                <a:latin typeface="Arial" panose="020B0604020202020204" pitchFamily="34" charset="0"/>
                <a:cs typeface="Arial" panose="020B0604020202020204" pitchFamily="34" charset="0"/>
              </a:rPr>
              <a:t>RAG – Retrieval Augmented Generation</a:t>
            </a:r>
            <a:endParaRPr lang="en-IN" sz="3200" b="1" dirty="0">
              <a:latin typeface="Arial" panose="020B0604020202020204" pitchFamily="34" charset="0"/>
              <a:cs typeface="Arial" panose="020B0604020202020204" pitchFamily="34" charset="0"/>
            </a:endParaRPr>
          </a:p>
        </p:txBody>
      </p:sp>
      <p:sp>
        <p:nvSpPr>
          <p:cNvPr id="5" name="Subtitle 2">
            <a:extLst>
              <a:ext uri="{FF2B5EF4-FFF2-40B4-BE49-F238E27FC236}">
                <a16:creationId xmlns:a16="http://schemas.microsoft.com/office/drawing/2014/main" id="{C611B996-6893-C9B0-E3A0-CA5FBBA2E16F}"/>
              </a:ext>
            </a:extLst>
          </p:cNvPr>
          <p:cNvSpPr txBox="1">
            <a:spLocks/>
          </p:cNvSpPr>
          <p:nvPr/>
        </p:nvSpPr>
        <p:spPr>
          <a:xfrm>
            <a:off x="699135" y="753612"/>
            <a:ext cx="10911840" cy="71323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fontAlgn="base"/>
            <a:endParaRPr lang="en-IN" sz="1400" b="1" dirty="0">
              <a:latin typeface="Arial" panose="020B0604020202020204" pitchFamily="34" charset="0"/>
              <a:cs typeface="Arial" panose="020B0604020202020204" pitchFamily="34" charset="0"/>
            </a:endParaRPr>
          </a:p>
        </p:txBody>
      </p:sp>
      <p:sp>
        <p:nvSpPr>
          <p:cNvPr id="4"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pic>
        <p:nvPicPr>
          <p:cNvPr id="10" name="Picture 9"/>
          <p:cNvPicPr>
            <a:picLocks noChangeAspect="1"/>
          </p:cNvPicPr>
          <p:nvPr/>
        </p:nvPicPr>
        <p:blipFill>
          <a:blip r:embed="rId3"/>
          <a:stretch>
            <a:fillRect/>
          </a:stretch>
        </p:blipFill>
        <p:spPr>
          <a:xfrm>
            <a:off x="762000" y="1349030"/>
            <a:ext cx="10524362" cy="5262181"/>
          </a:xfrm>
          <a:prstGeom prst="rect">
            <a:avLst/>
          </a:prstGeom>
        </p:spPr>
      </p:pic>
    </p:spTree>
    <p:extLst>
      <p:ext uri="{BB962C8B-B14F-4D97-AF65-F5344CB8AC3E}">
        <p14:creationId xmlns:p14="http://schemas.microsoft.com/office/powerpoint/2010/main" val="203165807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8672-BCCD-358E-1B1C-899E93B0C6D9}"/>
              </a:ext>
            </a:extLst>
          </p:cNvPr>
          <p:cNvSpPr>
            <a:spLocks noGrp="1"/>
          </p:cNvSpPr>
          <p:nvPr>
            <p:ph type="title"/>
          </p:nvPr>
        </p:nvSpPr>
        <p:spPr>
          <a:xfrm>
            <a:off x="762000" y="158194"/>
            <a:ext cx="10515600" cy="595418"/>
          </a:xfrm>
        </p:spPr>
        <p:txBody>
          <a:bodyPr>
            <a:normAutofit/>
          </a:bodyPr>
          <a:lstStyle/>
          <a:p>
            <a:pPr algn="ctr" fontAlgn="base"/>
            <a:r>
              <a:rPr lang="en-IN" sz="3200" b="1" dirty="0" smtClean="0">
                <a:latin typeface="Arial" panose="020B0604020202020204" pitchFamily="34" charset="0"/>
                <a:cs typeface="Arial" panose="020B0604020202020204" pitchFamily="34" charset="0"/>
              </a:rPr>
              <a:t>RAG – Retrieval Augmented Generation</a:t>
            </a:r>
            <a:endParaRPr lang="en-IN" sz="3200" b="1" dirty="0">
              <a:latin typeface="Arial" panose="020B0604020202020204" pitchFamily="34" charset="0"/>
              <a:cs typeface="Arial" panose="020B0604020202020204" pitchFamily="34" charset="0"/>
            </a:endParaRPr>
          </a:p>
        </p:txBody>
      </p:sp>
      <p:sp>
        <p:nvSpPr>
          <p:cNvPr id="5" name="Subtitle 2">
            <a:extLst>
              <a:ext uri="{FF2B5EF4-FFF2-40B4-BE49-F238E27FC236}">
                <a16:creationId xmlns:a16="http://schemas.microsoft.com/office/drawing/2014/main" id="{C611B996-6893-C9B0-E3A0-CA5FBBA2E16F}"/>
              </a:ext>
            </a:extLst>
          </p:cNvPr>
          <p:cNvSpPr txBox="1">
            <a:spLocks/>
          </p:cNvSpPr>
          <p:nvPr/>
        </p:nvSpPr>
        <p:spPr>
          <a:xfrm>
            <a:off x="699135" y="753612"/>
            <a:ext cx="10911840" cy="71323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fontAlgn="base"/>
            <a:endParaRPr lang="en-IN" sz="1400" b="1" dirty="0">
              <a:latin typeface="Arial" panose="020B0604020202020204" pitchFamily="34" charset="0"/>
              <a:cs typeface="Arial" panose="020B0604020202020204" pitchFamily="34" charset="0"/>
            </a:endParaRPr>
          </a:p>
        </p:txBody>
      </p:sp>
      <p:sp>
        <p:nvSpPr>
          <p:cNvPr id="4"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pic>
        <p:nvPicPr>
          <p:cNvPr id="3" name="Picture 2"/>
          <p:cNvPicPr>
            <a:picLocks noChangeAspect="1"/>
          </p:cNvPicPr>
          <p:nvPr/>
        </p:nvPicPr>
        <p:blipFill>
          <a:blip r:embed="rId3"/>
          <a:stretch>
            <a:fillRect/>
          </a:stretch>
        </p:blipFill>
        <p:spPr>
          <a:xfrm>
            <a:off x="1456669" y="1240052"/>
            <a:ext cx="9651597" cy="5072855"/>
          </a:xfrm>
          <a:prstGeom prst="rect">
            <a:avLst/>
          </a:prstGeom>
        </p:spPr>
      </p:pic>
    </p:spTree>
    <p:extLst>
      <p:ext uri="{BB962C8B-B14F-4D97-AF65-F5344CB8AC3E}">
        <p14:creationId xmlns:p14="http://schemas.microsoft.com/office/powerpoint/2010/main" val="426472651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8672-BCCD-358E-1B1C-899E93B0C6D9}"/>
              </a:ext>
            </a:extLst>
          </p:cNvPr>
          <p:cNvSpPr>
            <a:spLocks noGrp="1"/>
          </p:cNvSpPr>
          <p:nvPr>
            <p:ph type="title"/>
          </p:nvPr>
        </p:nvSpPr>
        <p:spPr>
          <a:xfrm>
            <a:off x="762000" y="158194"/>
            <a:ext cx="10515600" cy="595418"/>
          </a:xfrm>
        </p:spPr>
        <p:txBody>
          <a:bodyPr>
            <a:normAutofit/>
          </a:bodyPr>
          <a:lstStyle/>
          <a:p>
            <a:pPr algn="ctr" fontAlgn="base"/>
            <a:r>
              <a:rPr lang="en-IN" sz="3200" b="1" dirty="0" smtClean="0">
                <a:latin typeface="Arial" panose="020B0604020202020204" pitchFamily="34" charset="0"/>
                <a:cs typeface="Arial" panose="020B0604020202020204" pitchFamily="34" charset="0"/>
              </a:rPr>
              <a:t>RAG – Retrieval Augmented Generation</a:t>
            </a:r>
            <a:endParaRPr lang="en-IN" sz="3200" b="1" dirty="0">
              <a:latin typeface="Arial" panose="020B0604020202020204" pitchFamily="34" charset="0"/>
              <a:cs typeface="Arial" panose="020B0604020202020204" pitchFamily="34" charset="0"/>
            </a:endParaRPr>
          </a:p>
        </p:txBody>
      </p:sp>
      <p:sp>
        <p:nvSpPr>
          <p:cNvPr id="5" name="Subtitle 2">
            <a:extLst>
              <a:ext uri="{FF2B5EF4-FFF2-40B4-BE49-F238E27FC236}">
                <a16:creationId xmlns:a16="http://schemas.microsoft.com/office/drawing/2014/main" id="{C611B996-6893-C9B0-E3A0-CA5FBBA2E16F}"/>
              </a:ext>
            </a:extLst>
          </p:cNvPr>
          <p:cNvSpPr txBox="1">
            <a:spLocks/>
          </p:cNvSpPr>
          <p:nvPr/>
        </p:nvSpPr>
        <p:spPr>
          <a:xfrm>
            <a:off x="699135" y="753612"/>
            <a:ext cx="10911840" cy="71323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fontAlgn="base"/>
            <a:endParaRPr lang="en-IN" sz="1400" b="1" dirty="0">
              <a:latin typeface="Arial" panose="020B0604020202020204" pitchFamily="34" charset="0"/>
              <a:cs typeface="Arial" panose="020B0604020202020204" pitchFamily="34" charset="0"/>
            </a:endParaRPr>
          </a:p>
        </p:txBody>
      </p:sp>
      <p:sp>
        <p:nvSpPr>
          <p:cNvPr id="4"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pic>
        <p:nvPicPr>
          <p:cNvPr id="6" name="Picture 5"/>
          <p:cNvPicPr>
            <a:picLocks noChangeAspect="1"/>
          </p:cNvPicPr>
          <p:nvPr/>
        </p:nvPicPr>
        <p:blipFill>
          <a:blip r:embed="rId3"/>
          <a:stretch>
            <a:fillRect/>
          </a:stretch>
        </p:blipFill>
        <p:spPr>
          <a:xfrm>
            <a:off x="1447800" y="1349030"/>
            <a:ext cx="9716912" cy="4886670"/>
          </a:xfrm>
          <a:prstGeom prst="rect">
            <a:avLst/>
          </a:prstGeom>
        </p:spPr>
      </p:pic>
    </p:spTree>
    <p:extLst>
      <p:ext uri="{BB962C8B-B14F-4D97-AF65-F5344CB8AC3E}">
        <p14:creationId xmlns:p14="http://schemas.microsoft.com/office/powerpoint/2010/main" val="163229397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8672-BCCD-358E-1B1C-899E93B0C6D9}"/>
              </a:ext>
            </a:extLst>
          </p:cNvPr>
          <p:cNvSpPr>
            <a:spLocks noGrp="1"/>
          </p:cNvSpPr>
          <p:nvPr>
            <p:ph type="title"/>
          </p:nvPr>
        </p:nvSpPr>
        <p:spPr>
          <a:xfrm>
            <a:off x="762000" y="158194"/>
            <a:ext cx="10515600" cy="595418"/>
          </a:xfrm>
        </p:spPr>
        <p:txBody>
          <a:bodyPr>
            <a:normAutofit/>
          </a:bodyPr>
          <a:lstStyle/>
          <a:p>
            <a:pPr algn="ctr" fontAlgn="base"/>
            <a:r>
              <a:rPr lang="en-IN" sz="3200" b="1" dirty="0" smtClean="0">
                <a:latin typeface="Arial" panose="020B0604020202020204" pitchFamily="34" charset="0"/>
                <a:cs typeface="Arial" panose="020B0604020202020204" pitchFamily="34" charset="0"/>
              </a:rPr>
              <a:t>RAG – Retrieval Augmented Generation</a:t>
            </a:r>
            <a:endParaRPr lang="en-IN" sz="3200" b="1" dirty="0">
              <a:latin typeface="Arial" panose="020B0604020202020204" pitchFamily="34" charset="0"/>
              <a:cs typeface="Arial" panose="020B0604020202020204" pitchFamily="34" charset="0"/>
            </a:endParaRPr>
          </a:p>
        </p:txBody>
      </p:sp>
      <p:sp>
        <p:nvSpPr>
          <p:cNvPr id="5" name="Subtitle 2">
            <a:extLst>
              <a:ext uri="{FF2B5EF4-FFF2-40B4-BE49-F238E27FC236}">
                <a16:creationId xmlns:a16="http://schemas.microsoft.com/office/drawing/2014/main" id="{C611B996-6893-C9B0-E3A0-CA5FBBA2E16F}"/>
              </a:ext>
            </a:extLst>
          </p:cNvPr>
          <p:cNvSpPr txBox="1">
            <a:spLocks/>
          </p:cNvSpPr>
          <p:nvPr/>
        </p:nvSpPr>
        <p:spPr>
          <a:xfrm>
            <a:off x="699135" y="753612"/>
            <a:ext cx="10911840" cy="71323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fontAlgn="base"/>
            <a:endParaRPr lang="en-IN" sz="1400" b="1" dirty="0">
              <a:latin typeface="Arial" panose="020B0604020202020204" pitchFamily="34" charset="0"/>
              <a:cs typeface="Arial" panose="020B0604020202020204" pitchFamily="34" charset="0"/>
            </a:endParaRPr>
          </a:p>
        </p:txBody>
      </p:sp>
      <p:sp>
        <p:nvSpPr>
          <p:cNvPr id="4"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3" name="Rectangle 2"/>
          <p:cNvSpPr/>
          <p:nvPr/>
        </p:nvSpPr>
        <p:spPr>
          <a:xfrm>
            <a:off x="609600" y="1228636"/>
            <a:ext cx="10744200" cy="5262979"/>
          </a:xfrm>
          <a:prstGeom prst="rect">
            <a:avLst/>
          </a:prstGeom>
        </p:spPr>
        <p:txBody>
          <a:bodyPr wrap="square">
            <a:spAutoFit/>
          </a:bodyPr>
          <a:lstStyle/>
          <a:p>
            <a:r>
              <a:rPr lang="en-US" sz="1600" dirty="0">
                <a:solidFill>
                  <a:srgbClr val="161616"/>
                </a:solidFill>
                <a:latin typeface="Arial" panose="020B0604020202020204" pitchFamily="34" charset="0"/>
                <a:cs typeface="Arial" panose="020B0604020202020204" pitchFamily="34" charset="0"/>
              </a:rPr>
              <a:t>Retrieval augmented generation (RAG) is an architectural pattern that enables foundation models to produce factually correct outputs for specialized or proprietary topics that were not part of the model's training data</a:t>
            </a:r>
            <a:r>
              <a:rPr lang="en-US" sz="1600" dirty="0" smtClean="0">
                <a:solidFill>
                  <a:srgbClr val="161616"/>
                </a:solidFill>
                <a:latin typeface="Arial" panose="020B0604020202020204" pitchFamily="34" charset="0"/>
                <a:cs typeface="Arial" panose="020B0604020202020204" pitchFamily="34" charset="0"/>
              </a:rPr>
              <a:t>.</a:t>
            </a:r>
          </a:p>
          <a:p>
            <a:endParaRPr lang="en-US" sz="1600" dirty="0">
              <a:solidFill>
                <a:srgbClr val="161616"/>
              </a:solidFill>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 </a:t>
            </a:r>
            <a:r>
              <a:rPr lang="en-US" sz="1600" b="1" dirty="0">
                <a:latin typeface="Arial" panose="020B0604020202020204" pitchFamily="34" charset="0"/>
                <a:cs typeface="Arial" panose="020B0604020202020204" pitchFamily="34" charset="0"/>
              </a:rPr>
              <a:t>RAG (Retrieval-Augmented Generation) pattern</a:t>
            </a:r>
            <a:r>
              <a:rPr lang="en-US" sz="1600" dirty="0">
                <a:latin typeface="Arial" panose="020B0604020202020204" pitchFamily="34" charset="0"/>
                <a:cs typeface="Arial" panose="020B0604020202020204" pitchFamily="34" charset="0"/>
              </a:rPr>
              <a:t> consists of two main stages:</a:t>
            </a:r>
          </a:p>
          <a:p>
            <a:endParaRPr lang="en-US" sz="1600" b="1" dirty="0" smtClean="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b="1" dirty="0" smtClean="0">
                <a:latin typeface="Arial" panose="020B0604020202020204" pitchFamily="34" charset="0"/>
                <a:cs typeface="Arial" panose="020B0604020202020204" pitchFamily="34" charset="0"/>
              </a:rPr>
              <a:t>Build </a:t>
            </a:r>
            <a:r>
              <a:rPr lang="en-US" sz="1600" b="1" dirty="0">
                <a:latin typeface="Arial" panose="020B0604020202020204" pitchFamily="34" charset="0"/>
                <a:cs typeface="Arial" panose="020B0604020202020204" pitchFamily="34" charset="0"/>
              </a:rPr>
              <a:t>Time (Data Embedding)</a:t>
            </a:r>
            <a:endParaRPr lang="en-US" sz="16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Client data (manuals, documentation, tickets) is preprocessed through transformations (format conversion, restructuring) and enrichment (abbreviation expansion, metadata addition).</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An </a:t>
            </a:r>
            <a:r>
              <a:rPr lang="en-US" sz="1600" b="1" dirty="0">
                <a:latin typeface="Arial" panose="020B0604020202020204" pitchFamily="34" charset="0"/>
                <a:cs typeface="Arial" panose="020B0604020202020204" pitchFamily="34" charset="0"/>
              </a:rPr>
              <a:t>embedding model</a:t>
            </a:r>
            <a:r>
              <a:rPr lang="en-US" sz="1600" dirty="0">
                <a:latin typeface="Arial" panose="020B0604020202020204" pitchFamily="34" charset="0"/>
                <a:cs typeface="Arial" panose="020B0604020202020204" pitchFamily="34" charset="0"/>
              </a:rPr>
              <a:t> converts the processed text into vector representations (chunks).</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These </a:t>
            </a:r>
            <a:r>
              <a:rPr lang="en-US" sz="1600" dirty="0" err="1">
                <a:latin typeface="Arial" panose="020B0604020202020204" pitchFamily="34" charset="0"/>
                <a:cs typeface="Arial" panose="020B0604020202020204" pitchFamily="34" charset="0"/>
              </a:rPr>
              <a:t>embeddings</a:t>
            </a:r>
            <a:r>
              <a:rPr lang="en-US" sz="1600" dirty="0">
                <a:latin typeface="Arial" panose="020B0604020202020204" pitchFamily="34" charset="0"/>
                <a:cs typeface="Arial" panose="020B0604020202020204" pitchFamily="34" charset="0"/>
              </a:rPr>
              <a:t> are stored in a </a:t>
            </a:r>
            <a:r>
              <a:rPr lang="en-US" sz="1600" b="1" dirty="0">
                <a:latin typeface="Arial" panose="020B0604020202020204" pitchFamily="34" charset="0"/>
                <a:cs typeface="Arial" panose="020B0604020202020204" pitchFamily="34" charset="0"/>
              </a:rPr>
              <a:t>vector database</a:t>
            </a:r>
            <a:r>
              <a:rPr lang="en-US" sz="1600" dirty="0">
                <a:latin typeface="Arial" panose="020B0604020202020204" pitchFamily="34" charset="0"/>
                <a:cs typeface="Arial" panose="020B0604020202020204" pitchFamily="34" charset="0"/>
              </a:rPr>
              <a:t> (e.g., FAISS, </a:t>
            </a:r>
            <a:r>
              <a:rPr lang="en-US" sz="1600" dirty="0" err="1">
                <a:latin typeface="Arial" panose="020B0604020202020204" pitchFamily="34" charset="0"/>
                <a:cs typeface="Arial" panose="020B0604020202020204" pitchFamily="34" charset="0"/>
              </a:rPr>
              <a:t>Milvus</a:t>
            </a:r>
            <a:r>
              <a:rPr lang="en-US" sz="1600" dirty="0">
                <a:latin typeface="Arial" panose="020B0604020202020204" pitchFamily="34" charset="0"/>
                <a:cs typeface="Arial" panose="020B0604020202020204" pitchFamily="34" charset="0"/>
              </a:rPr>
              <a:t>, Chroma).</a:t>
            </a:r>
          </a:p>
          <a:p>
            <a:endParaRPr lang="en-US" sz="1600" b="1" dirty="0" smtClean="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b="1" dirty="0" smtClean="0">
                <a:latin typeface="Arial" panose="020B0604020202020204" pitchFamily="34" charset="0"/>
                <a:cs typeface="Arial" panose="020B0604020202020204" pitchFamily="34" charset="0"/>
              </a:rPr>
              <a:t>Runtime </a:t>
            </a:r>
            <a:r>
              <a:rPr lang="en-US" sz="1600" b="1" dirty="0">
                <a:latin typeface="Arial" panose="020B0604020202020204" pitchFamily="34" charset="0"/>
                <a:cs typeface="Arial" panose="020B0604020202020204" pitchFamily="34" charset="0"/>
              </a:rPr>
              <a:t>(User Query &amp; Retrieval)</a:t>
            </a:r>
            <a:endParaRPr lang="en-US" sz="16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A user query is converted into an embedding and matched against stored vectors using semantic search to retrieve the most relevant data</a:t>
            </a:r>
            <a:r>
              <a:rPr lang="en-US" sz="1600" dirty="0" smtClean="0">
                <a:latin typeface="Arial" panose="020B0604020202020204" pitchFamily="34" charset="0"/>
                <a:cs typeface="Arial" panose="020B0604020202020204" pitchFamily="34" charset="0"/>
              </a:rPr>
              <a:t>.</a:t>
            </a:r>
          </a:p>
          <a:p>
            <a:pPr marL="742950" lvl="1" indent="-285750">
              <a:buFont typeface="Arial" panose="020B0604020202020204" pitchFamily="34" charset="0"/>
              <a:buChar char="•"/>
            </a:pPr>
            <a:r>
              <a:rPr lang="en-US" sz="1600" dirty="0" smtClean="0">
                <a:latin typeface="Arial" panose="020B0604020202020204" pitchFamily="34" charset="0"/>
                <a:cs typeface="Arial" panose="020B0604020202020204" pitchFamily="34" charset="0"/>
              </a:rPr>
              <a:t>The retrieved information is then used to enhance an AI model’s response.</a:t>
            </a:r>
          </a:p>
          <a:p>
            <a:pPr marL="285750" indent="-285750">
              <a:buFont typeface="Arial" panose="020B0604020202020204" pitchFamily="34" charset="0"/>
              <a:buChar char="•"/>
            </a:pPr>
            <a:endParaRPr lang="en-US" sz="1600" dirty="0" smtClean="0">
              <a:latin typeface="Arial" panose="020B0604020202020204" pitchFamily="34" charset="0"/>
              <a:cs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lang="en-US" altLang="en-US" sz="1600" b="1" dirty="0">
                <a:latin typeface="Arial" panose="020B0604020202020204" pitchFamily="34" charset="0"/>
              </a:rPr>
              <a:t>User Query:</a:t>
            </a:r>
            <a:r>
              <a:rPr lang="en-US" altLang="en-US" sz="1600" dirty="0">
                <a:latin typeface="Arial" panose="020B0604020202020204" pitchFamily="34" charset="0"/>
              </a:rPr>
              <a:t> End-users enter a query in a </a:t>
            </a:r>
            <a:r>
              <a:rPr lang="en-US" altLang="en-US" sz="1600" dirty="0" err="1">
                <a:latin typeface="Arial" panose="020B0604020202020204" pitchFamily="34" charset="0"/>
              </a:rPr>
              <a:t>GenAI</a:t>
            </a:r>
            <a:r>
              <a:rPr lang="en-US" altLang="en-US" sz="1600" dirty="0">
                <a:latin typeface="Arial" panose="020B0604020202020204" pitchFamily="34" charset="0"/>
              </a:rPr>
              <a:t>-enabled application.</a:t>
            </a:r>
          </a:p>
          <a:p>
            <a:pPr marL="285750" lvl="0" indent="-285750" eaLnBrk="0" fontAlgn="base" hangingPunct="0">
              <a:spcBef>
                <a:spcPct val="0"/>
              </a:spcBef>
              <a:spcAft>
                <a:spcPct val="0"/>
              </a:spcAft>
              <a:buFont typeface="Arial" panose="020B0604020202020204" pitchFamily="34" charset="0"/>
              <a:buChar char="•"/>
            </a:pPr>
            <a:r>
              <a:rPr lang="en-US" altLang="en-US" sz="1600" b="1" dirty="0">
                <a:latin typeface="Arial" panose="020B0604020202020204" pitchFamily="34" charset="0"/>
              </a:rPr>
              <a:t>Search &amp; Retrieval:</a:t>
            </a:r>
            <a:r>
              <a:rPr lang="en-US" altLang="en-US" sz="1600" dirty="0">
                <a:latin typeface="Arial" panose="020B0604020202020204" pitchFamily="34" charset="0"/>
              </a:rPr>
              <a:t> The application searches the vector database for the top </a:t>
            </a:r>
            <a:r>
              <a:rPr lang="en-US" altLang="en-US" sz="1600" b="1" dirty="0">
                <a:latin typeface="Arial" panose="020B0604020202020204" pitchFamily="34" charset="0"/>
              </a:rPr>
              <a:t>K</a:t>
            </a:r>
            <a:r>
              <a:rPr lang="en-US" altLang="en-US" sz="1600" dirty="0">
                <a:latin typeface="Arial" panose="020B0604020202020204" pitchFamily="34" charset="0"/>
              </a:rPr>
              <a:t> relevant passages.</a:t>
            </a:r>
          </a:p>
          <a:p>
            <a:pPr marL="285750" lvl="0" indent="-285750" eaLnBrk="0" fontAlgn="base" hangingPunct="0">
              <a:spcBef>
                <a:spcPct val="0"/>
              </a:spcBef>
              <a:spcAft>
                <a:spcPct val="0"/>
              </a:spcAft>
              <a:buFont typeface="Arial" panose="020B0604020202020204" pitchFamily="34" charset="0"/>
              <a:buChar char="•"/>
            </a:pPr>
            <a:r>
              <a:rPr lang="en-US" altLang="en-US" sz="1600" b="1" dirty="0">
                <a:latin typeface="Arial" panose="020B0604020202020204" pitchFamily="34" charset="0"/>
              </a:rPr>
              <a:t>LLM Processing:</a:t>
            </a:r>
            <a:r>
              <a:rPr lang="en-US" altLang="en-US" sz="1600" dirty="0">
                <a:latin typeface="Arial" panose="020B0604020202020204" pitchFamily="34" charset="0"/>
              </a:rPr>
              <a:t> Retrieved passages and a curated prompt are sent to the LLM.</a:t>
            </a:r>
          </a:p>
          <a:p>
            <a:pPr marL="285750" lvl="0" indent="-285750" eaLnBrk="0" fontAlgn="base" hangingPunct="0">
              <a:spcBef>
                <a:spcPct val="0"/>
              </a:spcBef>
              <a:spcAft>
                <a:spcPct val="0"/>
              </a:spcAft>
              <a:buFont typeface="Arial" panose="020B0604020202020204" pitchFamily="34" charset="0"/>
              <a:buChar char="•"/>
            </a:pPr>
            <a:r>
              <a:rPr lang="en-US" altLang="en-US" sz="1600" b="1" dirty="0">
                <a:latin typeface="Arial" panose="020B0604020202020204" pitchFamily="34" charset="0"/>
              </a:rPr>
              <a:t>Response Generation:</a:t>
            </a:r>
            <a:r>
              <a:rPr lang="en-US" altLang="en-US" sz="1600" dirty="0">
                <a:latin typeface="Arial" panose="020B0604020202020204" pitchFamily="34" charset="0"/>
              </a:rPr>
              <a:t> The LLM generates a human-like response based on the query and context.</a:t>
            </a:r>
          </a:p>
          <a:p>
            <a:pPr marL="285750" lvl="0" indent="-285750" eaLnBrk="0" fontAlgn="base" hangingPunct="0">
              <a:spcBef>
                <a:spcPct val="0"/>
              </a:spcBef>
              <a:spcAft>
                <a:spcPct val="0"/>
              </a:spcAft>
              <a:buFont typeface="Arial" panose="020B0604020202020204" pitchFamily="34" charset="0"/>
              <a:buChar char="•"/>
            </a:pPr>
            <a:r>
              <a:rPr lang="en-US" altLang="en-US" sz="1600" b="1" dirty="0">
                <a:latin typeface="Arial" panose="020B0604020202020204" pitchFamily="34" charset="0"/>
              </a:rPr>
              <a:t>Output:</a:t>
            </a:r>
            <a:r>
              <a:rPr lang="en-US" altLang="en-US" sz="1600" dirty="0">
                <a:latin typeface="Arial" panose="020B0604020202020204" pitchFamily="34" charset="0"/>
              </a:rPr>
              <a:t> The response is presented to the user. </a:t>
            </a:r>
            <a:endParaRPr lang="en-IN"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5539169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8672-BCCD-358E-1B1C-899E93B0C6D9}"/>
              </a:ext>
            </a:extLst>
          </p:cNvPr>
          <p:cNvSpPr>
            <a:spLocks noGrp="1"/>
          </p:cNvSpPr>
          <p:nvPr>
            <p:ph type="title"/>
          </p:nvPr>
        </p:nvSpPr>
        <p:spPr>
          <a:xfrm>
            <a:off x="762000" y="158194"/>
            <a:ext cx="10515600" cy="595418"/>
          </a:xfrm>
        </p:spPr>
        <p:txBody>
          <a:bodyPr>
            <a:normAutofit/>
          </a:bodyPr>
          <a:lstStyle/>
          <a:p>
            <a:pPr algn="ctr" fontAlgn="base"/>
            <a:r>
              <a:rPr lang="en-IN" sz="3200" b="1" dirty="0">
                <a:latin typeface="Arial" panose="020B0604020202020204" pitchFamily="34" charset="0"/>
                <a:cs typeface="Arial" panose="020B0604020202020204" pitchFamily="34" charset="0"/>
              </a:rPr>
              <a:t>Chunking Strategies in RAG</a:t>
            </a:r>
          </a:p>
        </p:txBody>
      </p:sp>
      <p:sp>
        <p:nvSpPr>
          <p:cNvPr id="5" name="Subtitle 2">
            <a:extLst>
              <a:ext uri="{FF2B5EF4-FFF2-40B4-BE49-F238E27FC236}">
                <a16:creationId xmlns:a16="http://schemas.microsoft.com/office/drawing/2014/main" id="{C611B996-6893-C9B0-E3A0-CA5FBBA2E16F}"/>
              </a:ext>
            </a:extLst>
          </p:cNvPr>
          <p:cNvSpPr txBox="1">
            <a:spLocks/>
          </p:cNvSpPr>
          <p:nvPr/>
        </p:nvSpPr>
        <p:spPr>
          <a:xfrm>
            <a:off x="699135" y="753612"/>
            <a:ext cx="10911840" cy="71323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fontAlgn="base"/>
            <a:endParaRPr lang="en-IN" sz="1400" b="1" dirty="0">
              <a:latin typeface="Arial" panose="020B0604020202020204" pitchFamily="34" charset="0"/>
              <a:cs typeface="Arial" panose="020B0604020202020204" pitchFamily="34" charset="0"/>
            </a:endParaRPr>
          </a:p>
        </p:txBody>
      </p:sp>
      <p:sp>
        <p:nvSpPr>
          <p:cNvPr id="4"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8" name="Rectangle 1"/>
          <p:cNvSpPr>
            <a:spLocks noChangeArrowheads="1"/>
          </p:cNvSpPr>
          <p:nvPr/>
        </p:nvSpPr>
        <p:spPr bwMode="auto">
          <a:xfrm>
            <a:off x="699135" y="1187026"/>
            <a:ext cx="245451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smtClean="0">
                <a:ln>
                  <a:noFill/>
                </a:ln>
                <a:solidFill>
                  <a:schemeClr val="tx1"/>
                </a:solidFill>
                <a:effectLst/>
                <a:latin typeface="Arial" panose="020B0604020202020204" pitchFamily="34" charset="0"/>
              </a:rPr>
              <a:t>Fixed-Size Chunking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smtClean="0">
              <a:ln>
                <a:noFill/>
              </a:ln>
              <a:solidFill>
                <a:schemeClr val="tx1"/>
              </a:solidFill>
              <a:effectLst/>
              <a:latin typeface="Arial" panose="020B0604020202020204" pitchFamily="34" charset="0"/>
            </a:endParaRPr>
          </a:p>
        </p:txBody>
      </p:sp>
      <p:graphicFrame>
        <p:nvGraphicFramePr>
          <p:cNvPr id="9" name="Table 8"/>
          <p:cNvGraphicFramePr>
            <a:graphicFrameLocks noGrp="1"/>
          </p:cNvGraphicFramePr>
          <p:nvPr>
            <p:extLst>
              <p:ext uri="{D42A27DB-BD31-4B8C-83A1-F6EECF244321}">
                <p14:modId xmlns:p14="http://schemas.microsoft.com/office/powerpoint/2010/main" val="3502486081"/>
              </p:ext>
            </p:extLst>
          </p:nvPr>
        </p:nvGraphicFramePr>
        <p:xfrm>
          <a:off x="762000" y="1833357"/>
          <a:ext cx="10594622" cy="3848560"/>
        </p:xfrm>
        <a:graphic>
          <a:graphicData uri="http://schemas.openxmlformats.org/drawingml/2006/table">
            <a:tbl>
              <a:tblPr firstRow="1" bandRow="1">
                <a:tableStyleId>{073A0DAA-6AF3-43AB-8588-CEC1D06C72B9}</a:tableStyleId>
              </a:tblPr>
              <a:tblGrid>
                <a:gridCol w="5297311">
                  <a:extLst>
                    <a:ext uri="{9D8B030D-6E8A-4147-A177-3AD203B41FA5}">
                      <a16:colId xmlns:a16="http://schemas.microsoft.com/office/drawing/2014/main" val="1716058214"/>
                    </a:ext>
                  </a:extLst>
                </a:gridCol>
                <a:gridCol w="5297311">
                  <a:extLst>
                    <a:ext uri="{9D8B030D-6E8A-4147-A177-3AD203B41FA5}">
                      <a16:colId xmlns:a16="http://schemas.microsoft.com/office/drawing/2014/main" val="589936931"/>
                    </a:ext>
                  </a:extLst>
                </a:gridCol>
              </a:tblGrid>
              <a:tr h="370840">
                <a:tc>
                  <a:txBody>
                    <a:bodyPr/>
                    <a:lstStyle/>
                    <a:p>
                      <a:r>
                        <a:rPr lang="en-IN" sz="1800" dirty="0">
                          <a:latin typeface="Arial" panose="020B0604020202020204" pitchFamily="34" charset="0"/>
                          <a:cs typeface="Arial" panose="020B0604020202020204" pitchFamily="34" charset="0"/>
                        </a:rPr>
                        <a:t>Aspect</a:t>
                      </a:r>
                      <a:endParaRPr lang="en-IN" sz="1800" dirty="0">
                        <a:solidFill>
                          <a:schemeClr val="bg1"/>
                        </a:solidFill>
                        <a:latin typeface="Arial" panose="020B0604020202020204" pitchFamily="34" charset="0"/>
                        <a:cs typeface="Arial" panose="020B0604020202020204" pitchFamily="34" charset="0"/>
                      </a:endParaRPr>
                    </a:p>
                  </a:txBody>
                  <a:tcPr marL="85320" marR="85320" marT="42660" marB="42660" anchor="ctr"/>
                </a:tc>
                <a:tc>
                  <a:txBody>
                    <a:bodyPr/>
                    <a:lstStyle/>
                    <a:p>
                      <a:r>
                        <a:rPr lang="en-IN" sz="1800" dirty="0">
                          <a:latin typeface="Arial" panose="020B0604020202020204" pitchFamily="34" charset="0"/>
                          <a:cs typeface="Arial" panose="020B0604020202020204" pitchFamily="34" charset="0"/>
                        </a:rPr>
                        <a:t>Details</a:t>
                      </a:r>
                      <a:endParaRPr lang="en-IN" sz="1800" dirty="0">
                        <a:solidFill>
                          <a:schemeClr val="bg1"/>
                        </a:solidFill>
                        <a:latin typeface="Arial" panose="020B0604020202020204" pitchFamily="34" charset="0"/>
                        <a:cs typeface="Arial" panose="020B0604020202020204" pitchFamily="34" charset="0"/>
                      </a:endParaRPr>
                    </a:p>
                  </a:txBody>
                  <a:tcPr marL="85320" marR="85320" marT="42660" marB="42660" anchor="ctr"/>
                </a:tc>
                <a:extLst>
                  <a:ext uri="{0D108BD9-81ED-4DB2-BD59-A6C34878D82A}">
                    <a16:rowId xmlns:a16="http://schemas.microsoft.com/office/drawing/2014/main" val="2842084639"/>
                  </a:ext>
                </a:extLst>
              </a:tr>
              <a:tr h="370840">
                <a:tc>
                  <a:txBody>
                    <a:bodyPr/>
                    <a:lstStyle/>
                    <a:p>
                      <a:r>
                        <a:rPr lang="en-IN" sz="1800" dirty="0">
                          <a:latin typeface="Arial" panose="020B0604020202020204" pitchFamily="34" charset="0"/>
                          <a:cs typeface="Arial" panose="020B0604020202020204" pitchFamily="34" charset="0"/>
                        </a:rPr>
                        <a:t>How it works</a:t>
                      </a:r>
                    </a:p>
                  </a:txBody>
                  <a:tcPr marL="85320" marR="85320" marT="42660" marB="42660"/>
                </a:tc>
                <a:tc>
                  <a:txBody>
                    <a:bodyPr/>
                    <a:lstStyle/>
                    <a:p>
                      <a:r>
                        <a:rPr lang="en-US" sz="1800" dirty="0">
                          <a:latin typeface="Arial" panose="020B0604020202020204" pitchFamily="34" charset="0"/>
                          <a:cs typeface="Arial" panose="020B0604020202020204" pitchFamily="34" charset="0"/>
                        </a:rPr>
                        <a:t>Splits text into chunks based on a fixed number of tokens/characters. Often includes overlap (e.g., 50 tokens).</a:t>
                      </a:r>
                    </a:p>
                  </a:txBody>
                  <a:tcPr marL="85320" marR="85320" marT="42660" marB="42660"/>
                </a:tc>
                <a:extLst>
                  <a:ext uri="{0D108BD9-81ED-4DB2-BD59-A6C34878D82A}">
                    <a16:rowId xmlns:a16="http://schemas.microsoft.com/office/drawing/2014/main" val="2806885310"/>
                  </a:ext>
                </a:extLst>
              </a:tr>
              <a:tr h="370840">
                <a:tc>
                  <a:txBody>
                    <a:bodyPr/>
                    <a:lstStyle/>
                    <a:p>
                      <a:r>
                        <a:rPr lang="en-IN" sz="1800" dirty="0">
                          <a:latin typeface="Arial" panose="020B0604020202020204" pitchFamily="34" charset="0"/>
                          <a:cs typeface="Arial" panose="020B0604020202020204" pitchFamily="34" charset="0"/>
                        </a:rPr>
                        <a:t>Example</a:t>
                      </a:r>
                    </a:p>
                  </a:txBody>
                  <a:tcPr marL="85320" marR="85320" marT="42660" marB="42660"/>
                </a:tc>
                <a:tc>
                  <a:txBody>
                    <a:bodyPr/>
                    <a:lstStyle/>
                    <a:p>
                      <a:r>
                        <a:rPr lang="en-IN" sz="1800" dirty="0">
                          <a:latin typeface="Arial" panose="020B0604020202020204" pitchFamily="34" charset="0"/>
                          <a:cs typeface="Arial" panose="020B0604020202020204" pitchFamily="34" charset="0"/>
                        </a:rPr>
                        <a:t>Text → split every 300 tokens with 50-token overlap. </a:t>
                      </a:r>
                      <a:br>
                        <a:rPr lang="en-IN" sz="1800" dirty="0">
                          <a:latin typeface="Arial" panose="020B0604020202020204" pitchFamily="34" charset="0"/>
                          <a:cs typeface="Arial" panose="020B0604020202020204" pitchFamily="34" charset="0"/>
                        </a:rPr>
                      </a:br>
                      <a:r>
                        <a:rPr lang="en-IN" sz="1800" dirty="0">
                          <a:latin typeface="Arial" panose="020B0604020202020204" pitchFamily="34" charset="0"/>
                          <a:cs typeface="Arial" panose="020B0604020202020204" pitchFamily="34" charset="0"/>
                        </a:rPr>
                        <a:t>Chunk 1: tokens 1–300</a:t>
                      </a:r>
                      <a:br>
                        <a:rPr lang="en-IN" sz="1800" dirty="0">
                          <a:latin typeface="Arial" panose="020B0604020202020204" pitchFamily="34" charset="0"/>
                          <a:cs typeface="Arial" panose="020B0604020202020204" pitchFamily="34" charset="0"/>
                        </a:rPr>
                      </a:br>
                      <a:r>
                        <a:rPr lang="en-IN" sz="1800" dirty="0">
                          <a:latin typeface="Arial" panose="020B0604020202020204" pitchFamily="34" charset="0"/>
                          <a:cs typeface="Arial" panose="020B0604020202020204" pitchFamily="34" charset="0"/>
                        </a:rPr>
                        <a:t>Chunk 2: tokens 250–550</a:t>
                      </a:r>
                      <a:br>
                        <a:rPr lang="en-IN" sz="1800" dirty="0">
                          <a:latin typeface="Arial" panose="020B0604020202020204" pitchFamily="34" charset="0"/>
                          <a:cs typeface="Arial" panose="020B0604020202020204" pitchFamily="34" charset="0"/>
                        </a:rPr>
                      </a:br>
                      <a:r>
                        <a:rPr lang="en-IN" sz="1800" dirty="0">
                          <a:latin typeface="Arial" panose="020B0604020202020204" pitchFamily="34" charset="0"/>
                          <a:cs typeface="Arial" panose="020B0604020202020204" pitchFamily="34" charset="0"/>
                        </a:rPr>
                        <a:t>Chunk 3: tokens 500–800</a:t>
                      </a:r>
                    </a:p>
                  </a:txBody>
                  <a:tcPr marL="85320" marR="85320" marT="42660" marB="42660"/>
                </a:tc>
                <a:extLst>
                  <a:ext uri="{0D108BD9-81ED-4DB2-BD59-A6C34878D82A}">
                    <a16:rowId xmlns:a16="http://schemas.microsoft.com/office/drawing/2014/main" val="3209461921"/>
                  </a:ext>
                </a:extLst>
              </a:tr>
              <a:tr h="370840">
                <a:tc>
                  <a:txBody>
                    <a:bodyPr/>
                    <a:lstStyle/>
                    <a:p>
                      <a:r>
                        <a:rPr lang="en-IN" sz="1800">
                          <a:latin typeface="Arial" panose="020B0604020202020204" pitchFamily="34" charset="0"/>
                          <a:cs typeface="Arial" panose="020B0604020202020204" pitchFamily="34" charset="0"/>
                        </a:rPr>
                        <a:t>Pros</a:t>
                      </a:r>
                    </a:p>
                  </a:txBody>
                  <a:tcPr marL="85320" marR="85320" marT="42660" marB="42660"/>
                </a:tc>
                <a:tc>
                  <a:txBody>
                    <a:bodyPr/>
                    <a:lstStyle/>
                    <a:p>
                      <a:r>
                        <a:rPr lang="en-IN" sz="1800" dirty="0">
                          <a:latin typeface="Arial" panose="020B0604020202020204" pitchFamily="34" charset="0"/>
                          <a:cs typeface="Arial" panose="020B0604020202020204" pitchFamily="34" charset="0"/>
                        </a:rPr>
                        <a:t>Simple, fast, predictable.</a:t>
                      </a:r>
                    </a:p>
                  </a:txBody>
                  <a:tcPr marL="85320" marR="85320" marT="42660" marB="42660"/>
                </a:tc>
                <a:extLst>
                  <a:ext uri="{0D108BD9-81ED-4DB2-BD59-A6C34878D82A}">
                    <a16:rowId xmlns:a16="http://schemas.microsoft.com/office/drawing/2014/main" val="646796001"/>
                  </a:ext>
                </a:extLst>
              </a:tr>
              <a:tr h="370840">
                <a:tc>
                  <a:txBody>
                    <a:bodyPr/>
                    <a:lstStyle/>
                    <a:p>
                      <a:r>
                        <a:rPr lang="en-IN" sz="1800">
                          <a:latin typeface="Arial" panose="020B0604020202020204" pitchFamily="34" charset="0"/>
                          <a:cs typeface="Arial" panose="020B0604020202020204" pitchFamily="34" charset="0"/>
                        </a:rPr>
                        <a:t>Cons</a:t>
                      </a:r>
                    </a:p>
                  </a:txBody>
                  <a:tcPr marL="85320" marR="85320" marT="42660" marB="42660"/>
                </a:tc>
                <a:tc>
                  <a:txBody>
                    <a:bodyPr/>
                    <a:lstStyle/>
                    <a:p>
                      <a:r>
                        <a:rPr lang="en-US" sz="1800" dirty="0">
                          <a:latin typeface="Arial" panose="020B0604020202020204" pitchFamily="34" charset="0"/>
                          <a:cs typeface="Arial" panose="020B0604020202020204" pitchFamily="34" charset="0"/>
                        </a:rPr>
                        <a:t>Cuts meaning halfway; may split tables/code.</a:t>
                      </a:r>
                    </a:p>
                  </a:txBody>
                  <a:tcPr marL="85320" marR="85320" marT="42660" marB="42660"/>
                </a:tc>
                <a:extLst>
                  <a:ext uri="{0D108BD9-81ED-4DB2-BD59-A6C34878D82A}">
                    <a16:rowId xmlns:a16="http://schemas.microsoft.com/office/drawing/2014/main" val="2066792032"/>
                  </a:ext>
                </a:extLst>
              </a:tr>
              <a:tr h="370840">
                <a:tc>
                  <a:txBody>
                    <a:bodyPr/>
                    <a:lstStyle/>
                    <a:p>
                      <a:r>
                        <a:rPr lang="en-IN" sz="1800">
                          <a:latin typeface="Arial" panose="020B0604020202020204" pitchFamily="34" charset="0"/>
                          <a:cs typeface="Arial" panose="020B0604020202020204" pitchFamily="34" charset="0"/>
                        </a:rPr>
                        <a:t>Best For</a:t>
                      </a:r>
                    </a:p>
                  </a:txBody>
                  <a:tcPr marL="85320" marR="85320" marT="42660" marB="42660"/>
                </a:tc>
                <a:tc>
                  <a:txBody>
                    <a:bodyPr/>
                    <a:lstStyle/>
                    <a:p>
                      <a:r>
                        <a:rPr lang="en-US" sz="1800" dirty="0">
                          <a:latin typeface="Arial" panose="020B0604020202020204" pitchFamily="34" charset="0"/>
                          <a:cs typeface="Arial" panose="020B0604020202020204" pitchFamily="34" charset="0"/>
                        </a:rPr>
                        <a:t>PDFs, long manuals, code docs, structured text.</a:t>
                      </a:r>
                    </a:p>
                  </a:txBody>
                  <a:tcPr marL="85320" marR="85320" marT="42660" marB="42660"/>
                </a:tc>
                <a:extLst>
                  <a:ext uri="{0D108BD9-81ED-4DB2-BD59-A6C34878D82A}">
                    <a16:rowId xmlns:a16="http://schemas.microsoft.com/office/drawing/2014/main" val="2370995495"/>
                  </a:ext>
                </a:extLst>
              </a:tr>
            </a:tbl>
          </a:graphicData>
        </a:graphic>
      </p:graphicFrame>
    </p:spTree>
    <p:extLst>
      <p:ext uri="{BB962C8B-B14F-4D97-AF65-F5344CB8AC3E}">
        <p14:creationId xmlns:p14="http://schemas.microsoft.com/office/powerpoint/2010/main" val="206492089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8672-BCCD-358E-1B1C-899E93B0C6D9}"/>
              </a:ext>
            </a:extLst>
          </p:cNvPr>
          <p:cNvSpPr>
            <a:spLocks noGrp="1"/>
          </p:cNvSpPr>
          <p:nvPr>
            <p:ph type="title"/>
          </p:nvPr>
        </p:nvSpPr>
        <p:spPr>
          <a:xfrm>
            <a:off x="762000" y="158194"/>
            <a:ext cx="10515600" cy="595418"/>
          </a:xfrm>
        </p:spPr>
        <p:txBody>
          <a:bodyPr>
            <a:normAutofit/>
          </a:bodyPr>
          <a:lstStyle/>
          <a:p>
            <a:pPr algn="ctr" fontAlgn="base"/>
            <a:r>
              <a:rPr lang="en-IN" sz="3200" b="1" dirty="0">
                <a:latin typeface="Arial" panose="020B0604020202020204" pitchFamily="34" charset="0"/>
                <a:cs typeface="Arial" panose="020B0604020202020204" pitchFamily="34" charset="0"/>
              </a:rPr>
              <a:t>Chunking Strategies in RAG</a:t>
            </a:r>
          </a:p>
        </p:txBody>
      </p:sp>
      <p:sp>
        <p:nvSpPr>
          <p:cNvPr id="5" name="Subtitle 2">
            <a:extLst>
              <a:ext uri="{FF2B5EF4-FFF2-40B4-BE49-F238E27FC236}">
                <a16:creationId xmlns:a16="http://schemas.microsoft.com/office/drawing/2014/main" id="{C611B996-6893-C9B0-E3A0-CA5FBBA2E16F}"/>
              </a:ext>
            </a:extLst>
          </p:cNvPr>
          <p:cNvSpPr txBox="1">
            <a:spLocks/>
          </p:cNvSpPr>
          <p:nvPr/>
        </p:nvSpPr>
        <p:spPr>
          <a:xfrm>
            <a:off x="699135" y="753612"/>
            <a:ext cx="10911840" cy="71323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fontAlgn="base"/>
            <a:endParaRPr lang="en-IN" sz="1400" b="1" dirty="0">
              <a:latin typeface="Arial" panose="020B0604020202020204" pitchFamily="34" charset="0"/>
              <a:cs typeface="Arial" panose="020B0604020202020204" pitchFamily="34" charset="0"/>
            </a:endParaRPr>
          </a:p>
        </p:txBody>
      </p:sp>
      <p:sp>
        <p:nvSpPr>
          <p:cNvPr id="4"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8" name="Rectangle 1"/>
          <p:cNvSpPr>
            <a:spLocks noChangeArrowheads="1"/>
          </p:cNvSpPr>
          <p:nvPr/>
        </p:nvSpPr>
        <p:spPr bwMode="auto">
          <a:xfrm>
            <a:off x="699135" y="1096106"/>
            <a:ext cx="35317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IN" b="1" dirty="0">
                <a:latin typeface="Arial" panose="020B0604020202020204" pitchFamily="34" charset="0"/>
                <a:cs typeface="Arial" panose="020B0604020202020204" pitchFamily="34" charset="0"/>
              </a:rPr>
              <a:t>Semantic Chunking (Adaptive)</a:t>
            </a:r>
            <a:endParaRPr kumimoji="0" lang="en-US" altLang="en-US"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p:txBody>
      </p:sp>
      <p:graphicFrame>
        <p:nvGraphicFramePr>
          <p:cNvPr id="9" name="Table 8"/>
          <p:cNvGraphicFramePr>
            <a:graphicFrameLocks noGrp="1"/>
          </p:cNvGraphicFramePr>
          <p:nvPr>
            <p:extLst>
              <p:ext uri="{D42A27DB-BD31-4B8C-83A1-F6EECF244321}">
                <p14:modId xmlns:p14="http://schemas.microsoft.com/office/powerpoint/2010/main" val="2960036316"/>
              </p:ext>
            </p:extLst>
          </p:nvPr>
        </p:nvGraphicFramePr>
        <p:xfrm>
          <a:off x="762000" y="1691843"/>
          <a:ext cx="10594622" cy="4348480"/>
        </p:xfrm>
        <a:graphic>
          <a:graphicData uri="http://schemas.openxmlformats.org/drawingml/2006/table">
            <a:tbl>
              <a:tblPr firstRow="1" bandRow="1">
                <a:tableStyleId>{073A0DAA-6AF3-43AB-8588-CEC1D06C72B9}</a:tableStyleId>
              </a:tblPr>
              <a:tblGrid>
                <a:gridCol w="3798711">
                  <a:extLst>
                    <a:ext uri="{9D8B030D-6E8A-4147-A177-3AD203B41FA5}">
                      <a16:colId xmlns:a16="http://schemas.microsoft.com/office/drawing/2014/main" val="1716058214"/>
                    </a:ext>
                  </a:extLst>
                </a:gridCol>
                <a:gridCol w="6795911">
                  <a:extLst>
                    <a:ext uri="{9D8B030D-6E8A-4147-A177-3AD203B41FA5}">
                      <a16:colId xmlns:a16="http://schemas.microsoft.com/office/drawing/2014/main" val="589936931"/>
                    </a:ext>
                  </a:extLst>
                </a:gridCol>
              </a:tblGrid>
              <a:tr h="370840">
                <a:tc>
                  <a:txBody>
                    <a:bodyPr/>
                    <a:lstStyle/>
                    <a:p>
                      <a:r>
                        <a:rPr lang="en-IN" sz="1600">
                          <a:latin typeface="Arial" panose="020B0604020202020204" pitchFamily="34" charset="0"/>
                          <a:cs typeface="Arial" panose="020B0604020202020204" pitchFamily="34" charset="0"/>
                        </a:rPr>
                        <a:t>Aspect</a:t>
                      </a:r>
                    </a:p>
                  </a:txBody>
                  <a:tcPr/>
                </a:tc>
                <a:tc>
                  <a:txBody>
                    <a:bodyPr/>
                    <a:lstStyle/>
                    <a:p>
                      <a:r>
                        <a:rPr lang="en-IN" sz="1600">
                          <a:latin typeface="Arial" panose="020B0604020202020204" pitchFamily="34" charset="0"/>
                          <a:cs typeface="Arial" panose="020B0604020202020204" pitchFamily="34" charset="0"/>
                        </a:rPr>
                        <a:t>Details</a:t>
                      </a:r>
                    </a:p>
                  </a:txBody>
                  <a:tcPr/>
                </a:tc>
                <a:extLst>
                  <a:ext uri="{0D108BD9-81ED-4DB2-BD59-A6C34878D82A}">
                    <a16:rowId xmlns:a16="http://schemas.microsoft.com/office/drawing/2014/main" val="2842084639"/>
                  </a:ext>
                </a:extLst>
              </a:tr>
              <a:tr h="370840">
                <a:tc>
                  <a:txBody>
                    <a:bodyPr/>
                    <a:lstStyle/>
                    <a:p>
                      <a:r>
                        <a:rPr lang="en-IN" sz="1600" b="1" dirty="0">
                          <a:latin typeface="Arial" panose="020B0604020202020204" pitchFamily="34" charset="0"/>
                          <a:cs typeface="Arial" panose="020B0604020202020204" pitchFamily="34" charset="0"/>
                        </a:rPr>
                        <a:t>How it works</a:t>
                      </a:r>
                      <a:endParaRPr lang="en-IN" sz="1600" dirty="0">
                        <a:latin typeface="Arial" panose="020B0604020202020204" pitchFamily="34" charset="0"/>
                        <a:cs typeface="Arial" panose="020B0604020202020204" pitchFamily="34" charset="0"/>
                      </a:endParaRPr>
                    </a:p>
                  </a:txBody>
                  <a:tcPr/>
                </a:tc>
                <a:tc>
                  <a:txBody>
                    <a:bodyPr/>
                    <a:lstStyle/>
                    <a:p>
                      <a:r>
                        <a:rPr lang="en-US" sz="1600" b="1" dirty="0" smtClean="0">
                          <a:latin typeface="Arial" panose="020B0604020202020204" pitchFamily="34" charset="0"/>
                          <a:cs typeface="Arial" panose="020B0604020202020204" pitchFamily="34" charset="0"/>
                        </a:rPr>
                        <a:t>Uses </a:t>
                      </a:r>
                      <a:r>
                        <a:rPr lang="en-US" sz="1600" b="1" dirty="0" err="1" smtClean="0">
                          <a:latin typeface="Arial" panose="020B0604020202020204" pitchFamily="34" charset="0"/>
                          <a:cs typeface="Arial" panose="020B0604020202020204" pitchFamily="34" charset="0"/>
                        </a:rPr>
                        <a:t>embeddings</a:t>
                      </a:r>
                      <a:r>
                        <a:rPr lang="en-US" sz="1600" b="1" dirty="0" smtClean="0">
                          <a:latin typeface="Arial" panose="020B0604020202020204" pitchFamily="34" charset="0"/>
                          <a:cs typeface="Arial" panose="020B0604020202020204" pitchFamily="34" charset="0"/>
                        </a:rPr>
                        <a:t> to detect where the text changes topic.</a:t>
                      </a:r>
                      <a:endParaRPr lang="en-IN" sz="1600" b="1" dirty="0" smtClean="0">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IN" sz="1600" b="1" dirty="0" smtClean="0">
                          <a:latin typeface="Arial" panose="020B0604020202020204" pitchFamily="34" charset="0"/>
                          <a:cs typeface="Arial" panose="020B0604020202020204" pitchFamily="34" charset="0"/>
                        </a:rPr>
                        <a:t>Embedding similarity drop</a:t>
                      </a:r>
                      <a:r>
                        <a:rPr lang="en-IN" sz="1600" dirty="0" smtClean="0">
                          <a:latin typeface="Arial" panose="020B0604020202020204" pitchFamily="34" charset="0"/>
                          <a:cs typeface="Arial" panose="020B0604020202020204" pitchFamily="34" charset="0"/>
                        </a:rPr>
                        <a:t> → if adjacent sentences have low semantic similarity, create a new chunk.</a:t>
                      </a:r>
                    </a:p>
                    <a:p>
                      <a:pPr marL="285750" indent="-285750">
                        <a:buFont typeface="Wingdings" panose="05000000000000000000" pitchFamily="2" charset="2"/>
                        <a:buChar char="Ø"/>
                      </a:pPr>
                      <a:r>
                        <a:rPr lang="en-IN" sz="1600" b="1" dirty="0" smtClean="0">
                          <a:latin typeface="Arial" panose="020B0604020202020204" pitchFamily="34" charset="0"/>
                          <a:cs typeface="Arial" panose="020B0604020202020204" pitchFamily="34" charset="0"/>
                        </a:rPr>
                        <a:t>Percentile threshold</a:t>
                      </a:r>
                      <a:r>
                        <a:rPr lang="en-IN" sz="1600" dirty="0" smtClean="0">
                          <a:latin typeface="Arial" panose="020B0604020202020204" pitchFamily="34" charset="0"/>
                          <a:cs typeface="Arial" panose="020B0604020202020204" pitchFamily="34" charset="0"/>
                        </a:rPr>
                        <a:t> (</a:t>
                      </a:r>
                      <a:r>
                        <a:rPr lang="en-IN" sz="1600" dirty="0" err="1" smtClean="0">
                          <a:latin typeface="Arial" panose="020B0604020202020204" pitchFamily="34" charset="0"/>
                          <a:cs typeface="Arial" panose="020B0604020202020204" pitchFamily="34" charset="0"/>
                        </a:rPr>
                        <a:t>LangChain</a:t>
                      </a:r>
                      <a:r>
                        <a:rPr lang="en-IN" sz="1600" dirty="0" smtClean="0">
                          <a:latin typeface="Arial" panose="020B0604020202020204" pitchFamily="34" charset="0"/>
                          <a:cs typeface="Arial" panose="020B0604020202020204" pitchFamily="34" charset="0"/>
                        </a:rPr>
                        <a:t>) → only split at strong semantic breaks.</a:t>
                      </a:r>
                    </a:p>
                    <a:p>
                      <a:pPr marL="285750" indent="-285750">
                        <a:buFont typeface="Wingdings" panose="05000000000000000000" pitchFamily="2" charset="2"/>
                        <a:buChar char="Ø"/>
                      </a:pPr>
                      <a:r>
                        <a:rPr lang="en-IN" sz="1600" b="1" dirty="0" smtClean="0">
                          <a:latin typeface="Arial" panose="020B0604020202020204" pitchFamily="34" charset="0"/>
                          <a:cs typeface="Arial" panose="020B0604020202020204" pitchFamily="34" charset="0"/>
                        </a:rPr>
                        <a:t>Clustering-based chunking</a:t>
                      </a:r>
                      <a:r>
                        <a:rPr lang="en-IN" sz="1600" dirty="0" smtClean="0">
                          <a:latin typeface="Arial" panose="020B0604020202020204" pitchFamily="34" charset="0"/>
                          <a:cs typeface="Arial" panose="020B0604020202020204" pitchFamily="34" charset="0"/>
                        </a:rPr>
                        <a:t> → group semantically similar sentences the way LDA or K-Means would.</a:t>
                      </a:r>
                      <a:endParaRPr lang="en-IN"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806885310"/>
                  </a:ext>
                </a:extLst>
              </a:tr>
              <a:tr h="370840">
                <a:tc>
                  <a:txBody>
                    <a:bodyPr/>
                    <a:lstStyle/>
                    <a:p>
                      <a:r>
                        <a:rPr lang="en-IN" sz="1600" b="1">
                          <a:latin typeface="Arial" panose="020B0604020202020204" pitchFamily="34" charset="0"/>
                          <a:cs typeface="Arial" panose="020B0604020202020204" pitchFamily="34" charset="0"/>
                        </a:rPr>
                        <a:t>Example</a:t>
                      </a:r>
                      <a:endParaRPr lang="en-IN" sz="1600">
                        <a:latin typeface="Arial" panose="020B0604020202020204" pitchFamily="34" charset="0"/>
                        <a:cs typeface="Arial" panose="020B0604020202020204" pitchFamily="34" charset="0"/>
                      </a:endParaRPr>
                    </a:p>
                  </a:txBody>
                  <a:tcPr/>
                </a:tc>
                <a:tc>
                  <a:txBody>
                    <a:bodyPr/>
                    <a:lstStyle/>
                    <a:p>
                      <a:r>
                        <a:rPr lang="en-IN" sz="1600">
                          <a:latin typeface="Arial" panose="020B0604020202020204" pitchFamily="34" charset="0"/>
                          <a:cs typeface="Arial" panose="020B0604020202020204" pitchFamily="34" charset="0"/>
                        </a:rPr>
                        <a:t>Sentence similarity: </a:t>
                      </a:r>
                      <a:br>
                        <a:rPr lang="en-IN" sz="1600">
                          <a:latin typeface="Arial" panose="020B0604020202020204" pitchFamily="34" charset="0"/>
                          <a:cs typeface="Arial" panose="020B0604020202020204" pitchFamily="34" charset="0"/>
                        </a:rPr>
                      </a:br>
                      <a:r>
                        <a:rPr lang="en-IN" sz="1600">
                          <a:latin typeface="Arial" panose="020B0604020202020204" pitchFamily="34" charset="0"/>
                          <a:cs typeface="Arial" panose="020B0604020202020204" pitchFamily="34" charset="0"/>
                        </a:rPr>
                        <a:t>Sim(S1,S2)=0.95 → same chunk</a:t>
                      </a:r>
                      <a:br>
                        <a:rPr lang="en-IN" sz="1600">
                          <a:latin typeface="Arial" panose="020B0604020202020204" pitchFamily="34" charset="0"/>
                          <a:cs typeface="Arial" panose="020B0604020202020204" pitchFamily="34" charset="0"/>
                        </a:rPr>
                      </a:br>
                      <a:r>
                        <a:rPr lang="en-IN" sz="1600">
                          <a:latin typeface="Arial" panose="020B0604020202020204" pitchFamily="34" charset="0"/>
                          <a:cs typeface="Arial" panose="020B0604020202020204" pitchFamily="34" charset="0"/>
                        </a:rPr>
                        <a:t>Sim(S2,S3)=0.93 → same chunk</a:t>
                      </a:r>
                      <a:br>
                        <a:rPr lang="en-IN" sz="1600">
                          <a:latin typeface="Arial" panose="020B0604020202020204" pitchFamily="34" charset="0"/>
                          <a:cs typeface="Arial" panose="020B0604020202020204" pitchFamily="34" charset="0"/>
                        </a:rPr>
                      </a:br>
                      <a:r>
                        <a:rPr lang="en-IN" sz="1600">
                          <a:latin typeface="Arial" panose="020B0604020202020204" pitchFamily="34" charset="0"/>
                          <a:cs typeface="Arial" panose="020B0604020202020204" pitchFamily="34" charset="0"/>
                        </a:rPr>
                        <a:t>Sim(S3,S4)=0.41 → </a:t>
                      </a:r>
                      <a:r>
                        <a:rPr lang="en-IN" sz="1600" b="1">
                          <a:latin typeface="Arial" panose="020B0604020202020204" pitchFamily="34" charset="0"/>
                          <a:cs typeface="Arial" panose="020B0604020202020204" pitchFamily="34" charset="0"/>
                        </a:rPr>
                        <a:t>new chunk</a:t>
                      </a:r>
                      <a:endParaRPr lang="en-IN" sz="16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209461921"/>
                  </a:ext>
                </a:extLst>
              </a:tr>
              <a:tr h="370840">
                <a:tc>
                  <a:txBody>
                    <a:bodyPr/>
                    <a:lstStyle/>
                    <a:p>
                      <a:r>
                        <a:rPr lang="en-IN" sz="1600" b="1">
                          <a:latin typeface="Arial" panose="020B0604020202020204" pitchFamily="34" charset="0"/>
                          <a:cs typeface="Arial" panose="020B0604020202020204" pitchFamily="34" charset="0"/>
                        </a:rPr>
                        <a:t>Pros</a:t>
                      </a:r>
                      <a:endParaRPr lang="en-IN" sz="1600">
                        <a:latin typeface="Arial" panose="020B0604020202020204" pitchFamily="34" charset="0"/>
                        <a:cs typeface="Arial" panose="020B0604020202020204" pitchFamily="34" charset="0"/>
                      </a:endParaRPr>
                    </a:p>
                  </a:txBody>
                  <a:tcPr/>
                </a:tc>
                <a:tc>
                  <a:txBody>
                    <a:bodyPr/>
                    <a:lstStyle/>
                    <a:p>
                      <a:r>
                        <a:rPr lang="en-IN" sz="1600">
                          <a:latin typeface="Arial" panose="020B0604020202020204" pitchFamily="34" charset="0"/>
                          <a:cs typeface="Arial" panose="020B0604020202020204" pitchFamily="34" charset="0"/>
                        </a:rPr>
                        <a:t>Meaning-preserving, very relevant chunks.</a:t>
                      </a:r>
                    </a:p>
                  </a:txBody>
                  <a:tcPr/>
                </a:tc>
                <a:extLst>
                  <a:ext uri="{0D108BD9-81ED-4DB2-BD59-A6C34878D82A}">
                    <a16:rowId xmlns:a16="http://schemas.microsoft.com/office/drawing/2014/main" val="646796001"/>
                  </a:ext>
                </a:extLst>
              </a:tr>
              <a:tr h="370840">
                <a:tc>
                  <a:txBody>
                    <a:bodyPr/>
                    <a:lstStyle/>
                    <a:p>
                      <a:r>
                        <a:rPr lang="en-IN" sz="1600" b="1">
                          <a:latin typeface="Arial" panose="020B0604020202020204" pitchFamily="34" charset="0"/>
                          <a:cs typeface="Arial" panose="020B0604020202020204" pitchFamily="34" charset="0"/>
                        </a:rPr>
                        <a:t>Cons</a:t>
                      </a:r>
                      <a:endParaRPr lang="en-IN" sz="1600">
                        <a:latin typeface="Arial" panose="020B0604020202020204" pitchFamily="34" charset="0"/>
                        <a:cs typeface="Arial" panose="020B0604020202020204" pitchFamily="34" charset="0"/>
                      </a:endParaRPr>
                    </a:p>
                  </a:txBody>
                  <a:tcPr/>
                </a:tc>
                <a:tc>
                  <a:txBody>
                    <a:bodyPr/>
                    <a:lstStyle/>
                    <a:p>
                      <a:r>
                        <a:rPr lang="en-US" sz="1600">
                          <a:latin typeface="Arial" panose="020B0604020202020204" pitchFamily="34" charset="0"/>
                          <a:cs typeface="Arial" panose="020B0604020202020204" pitchFamily="34" charset="0"/>
                        </a:rPr>
                        <a:t>Slow, costly, may produce giant chunks if all sentences are similar.</a:t>
                      </a:r>
                    </a:p>
                  </a:txBody>
                  <a:tcPr/>
                </a:tc>
                <a:extLst>
                  <a:ext uri="{0D108BD9-81ED-4DB2-BD59-A6C34878D82A}">
                    <a16:rowId xmlns:a16="http://schemas.microsoft.com/office/drawing/2014/main" val="2066792032"/>
                  </a:ext>
                </a:extLst>
              </a:tr>
              <a:tr h="370840">
                <a:tc>
                  <a:txBody>
                    <a:bodyPr/>
                    <a:lstStyle/>
                    <a:p>
                      <a:r>
                        <a:rPr lang="en-IN" sz="1600" b="1">
                          <a:latin typeface="Arial" panose="020B0604020202020204" pitchFamily="34" charset="0"/>
                          <a:cs typeface="Arial" panose="020B0604020202020204" pitchFamily="34" charset="0"/>
                        </a:rPr>
                        <a:t>Best For</a:t>
                      </a:r>
                      <a:endParaRPr lang="en-IN" sz="1600">
                        <a:latin typeface="Arial" panose="020B0604020202020204" pitchFamily="34" charset="0"/>
                        <a:cs typeface="Arial" panose="020B0604020202020204" pitchFamily="34" charset="0"/>
                      </a:endParaRPr>
                    </a:p>
                  </a:txBody>
                  <a:tcPr/>
                </a:tc>
                <a:tc>
                  <a:txBody>
                    <a:bodyPr/>
                    <a:lstStyle/>
                    <a:p>
                      <a:r>
                        <a:rPr lang="en-US" sz="1600" dirty="0">
                          <a:latin typeface="Arial" panose="020B0604020202020204" pitchFamily="34" charset="0"/>
                          <a:cs typeface="Arial" panose="020B0604020202020204" pitchFamily="34" charset="0"/>
                        </a:rPr>
                        <a:t>Blogs, Q&amp;A, knowledge bases, conversational docs.</a:t>
                      </a:r>
                    </a:p>
                  </a:txBody>
                  <a:tcPr/>
                </a:tc>
                <a:extLst>
                  <a:ext uri="{0D108BD9-81ED-4DB2-BD59-A6C34878D82A}">
                    <a16:rowId xmlns:a16="http://schemas.microsoft.com/office/drawing/2014/main" val="2370995495"/>
                  </a:ext>
                </a:extLst>
              </a:tr>
            </a:tbl>
          </a:graphicData>
        </a:graphic>
      </p:graphicFrame>
    </p:spTree>
    <p:extLst>
      <p:ext uri="{BB962C8B-B14F-4D97-AF65-F5344CB8AC3E}">
        <p14:creationId xmlns:p14="http://schemas.microsoft.com/office/powerpoint/2010/main" val="307105204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8672-BCCD-358E-1B1C-899E93B0C6D9}"/>
              </a:ext>
            </a:extLst>
          </p:cNvPr>
          <p:cNvSpPr>
            <a:spLocks noGrp="1"/>
          </p:cNvSpPr>
          <p:nvPr>
            <p:ph type="title"/>
          </p:nvPr>
        </p:nvSpPr>
        <p:spPr>
          <a:xfrm>
            <a:off x="762000" y="158194"/>
            <a:ext cx="10515600" cy="595418"/>
          </a:xfrm>
        </p:spPr>
        <p:txBody>
          <a:bodyPr>
            <a:normAutofit/>
          </a:bodyPr>
          <a:lstStyle/>
          <a:p>
            <a:pPr algn="ctr" fontAlgn="base"/>
            <a:r>
              <a:rPr lang="en-IN" sz="3200" b="1" dirty="0">
                <a:latin typeface="Arial" panose="020B0604020202020204" pitchFamily="34" charset="0"/>
                <a:cs typeface="Arial" panose="020B0604020202020204" pitchFamily="34" charset="0"/>
              </a:rPr>
              <a:t>Chunking Strategies in RAG</a:t>
            </a:r>
          </a:p>
        </p:txBody>
      </p:sp>
      <p:sp>
        <p:nvSpPr>
          <p:cNvPr id="5" name="Subtitle 2">
            <a:extLst>
              <a:ext uri="{FF2B5EF4-FFF2-40B4-BE49-F238E27FC236}">
                <a16:creationId xmlns:a16="http://schemas.microsoft.com/office/drawing/2014/main" id="{C611B996-6893-C9B0-E3A0-CA5FBBA2E16F}"/>
              </a:ext>
            </a:extLst>
          </p:cNvPr>
          <p:cNvSpPr txBox="1">
            <a:spLocks/>
          </p:cNvSpPr>
          <p:nvPr/>
        </p:nvSpPr>
        <p:spPr>
          <a:xfrm>
            <a:off x="699135" y="753612"/>
            <a:ext cx="10911840" cy="71323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fontAlgn="base"/>
            <a:endParaRPr lang="en-IN" sz="1400" b="1" dirty="0">
              <a:latin typeface="Arial" panose="020B0604020202020204" pitchFamily="34" charset="0"/>
              <a:cs typeface="Arial" panose="020B0604020202020204" pitchFamily="34" charset="0"/>
            </a:endParaRPr>
          </a:p>
        </p:txBody>
      </p:sp>
      <p:sp>
        <p:nvSpPr>
          <p:cNvPr id="4"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8" name="Rectangle 1"/>
          <p:cNvSpPr>
            <a:spLocks noChangeArrowheads="1"/>
          </p:cNvSpPr>
          <p:nvPr/>
        </p:nvSpPr>
        <p:spPr bwMode="auto">
          <a:xfrm>
            <a:off x="699135" y="940954"/>
            <a:ext cx="277941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IN" sz="1600" b="1" dirty="0">
                <a:latin typeface="Arial" panose="020B0604020202020204" pitchFamily="34" charset="0"/>
                <a:cs typeface="Arial" panose="020B0604020202020204" pitchFamily="34" charset="0"/>
              </a:rPr>
              <a:t>Structure-Aware Chunking</a:t>
            </a:r>
            <a:endParaRPr kumimoji="0" lang="en-US" altLang="en-US" sz="16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p:txBody>
      </p:sp>
      <p:graphicFrame>
        <p:nvGraphicFramePr>
          <p:cNvPr id="9" name="Table 8"/>
          <p:cNvGraphicFramePr>
            <a:graphicFrameLocks noGrp="1"/>
          </p:cNvGraphicFramePr>
          <p:nvPr>
            <p:extLst>
              <p:ext uri="{D42A27DB-BD31-4B8C-83A1-F6EECF244321}">
                <p14:modId xmlns:p14="http://schemas.microsoft.com/office/powerpoint/2010/main" val="4144549254"/>
              </p:ext>
            </p:extLst>
          </p:nvPr>
        </p:nvGraphicFramePr>
        <p:xfrm>
          <a:off x="699135" y="1349030"/>
          <a:ext cx="10594622" cy="5567680"/>
        </p:xfrm>
        <a:graphic>
          <a:graphicData uri="http://schemas.openxmlformats.org/drawingml/2006/table">
            <a:tbl>
              <a:tblPr firstRow="1" bandRow="1">
                <a:tableStyleId>{073A0DAA-6AF3-43AB-8588-CEC1D06C72B9}</a:tableStyleId>
              </a:tblPr>
              <a:tblGrid>
                <a:gridCol w="3798711">
                  <a:extLst>
                    <a:ext uri="{9D8B030D-6E8A-4147-A177-3AD203B41FA5}">
                      <a16:colId xmlns:a16="http://schemas.microsoft.com/office/drawing/2014/main" val="1716058214"/>
                    </a:ext>
                  </a:extLst>
                </a:gridCol>
                <a:gridCol w="6795911">
                  <a:extLst>
                    <a:ext uri="{9D8B030D-6E8A-4147-A177-3AD203B41FA5}">
                      <a16:colId xmlns:a16="http://schemas.microsoft.com/office/drawing/2014/main" val="589936931"/>
                    </a:ext>
                  </a:extLst>
                </a:gridCol>
              </a:tblGrid>
              <a:tr h="370840">
                <a:tc>
                  <a:txBody>
                    <a:bodyPr/>
                    <a:lstStyle/>
                    <a:p>
                      <a:r>
                        <a:rPr lang="en-IN" sz="1600">
                          <a:latin typeface="Arial" panose="020B0604020202020204" pitchFamily="34" charset="0"/>
                          <a:cs typeface="Arial" panose="020B0604020202020204" pitchFamily="34" charset="0"/>
                        </a:rPr>
                        <a:t>Aspect</a:t>
                      </a:r>
                    </a:p>
                  </a:txBody>
                  <a:tcPr/>
                </a:tc>
                <a:tc>
                  <a:txBody>
                    <a:bodyPr/>
                    <a:lstStyle/>
                    <a:p>
                      <a:r>
                        <a:rPr lang="en-IN" sz="1600">
                          <a:latin typeface="Arial" panose="020B0604020202020204" pitchFamily="34" charset="0"/>
                          <a:cs typeface="Arial" panose="020B0604020202020204" pitchFamily="34" charset="0"/>
                        </a:rPr>
                        <a:t>Details</a:t>
                      </a:r>
                    </a:p>
                  </a:txBody>
                  <a:tcPr/>
                </a:tc>
                <a:extLst>
                  <a:ext uri="{0D108BD9-81ED-4DB2-BD59-A6C34878D82A}">
                    <a16:rowId xmlns:a16="http://schemas.microsoft.com/office/drawing/2014/main" val="2842084639"/>
                  </a:ext>
                </a:extLst>
              </a:tr>
              <a:tr h="370840">
                <a:tc>
                  <a:txBody>
                    <a:bodyPr/>
                    <a:lstStyle/>
                    <a:p>
                      <a:r>
                        <a:rPr lang="en-IN" sz="1600" b="1" dirty="0">
                          <a:latin typeface="Arial" panose="020B0604020202020204" pitchFamily="34" charset="0"/>
                          <a:cs typeface="Arial" panose="020B0604020202020204" pitchFamily="34" charset="0"/>
                        </a:rPr>
                        <a:t>How it works</a:t>
                      </a:r>
                      <a:endParaRPr lang="en-IN" sz="1600" dirty="0">
                        <a:latin typeface="Arial" panose="020B0604020202020204" pitchFamily="34" charset="0"/>
                        <a:cs typeface="Arial" panose="020B0604020202020204" pitchFamily="34" charset="0"/>
                      </a:endParaRPr>
                    </a:p>
                  </a:txBody>
                  <a:tcPr/>
                </a:tc>
                <a:tc>
                  <a:txBody>
                    <a:bodyPr/>
                    <a:lstStyle/>
                    <a:p>
                      <a:r>
                        <a:rPr lang="en-US" sz="1600" dirty="0" smtClean="0">
                          <a:latin typeface="Arial" panose="020B0604020202020204" pitchFamily="34" charset="0"/>
                          <a:cs typeface="Arial" panose="020B0604020202020204" pitchFamily="34" charset="0"/>
                        </a:rPr>
                        <a:t>Use the document structure to split meaningfully.</a:t>
                      </a:r>
                      <a:endParaRPr lang="en-IN"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806885310"/>
                  </a:ext>
                </a:extLst>
              </a:tr>
              <a:tr h="370840">
                <a:tc>
                  <a:txBody>
                    <a:bodyPr/>
                    <a:lstStyle/>
                    <a:p>
                      <a:r>
                        <a:rPr lang="en-IN" sz="1600" b="1" dirty="0">
                          <a:latin typeface="Arial" panose="020B0604020202020204" pitchFamily="34" charset="0"/>
                          <a:cs typeface="Arial" panose="020B0604020202020204" pitchFamily="34" charset="0"/>
                        </a:rPr>
                        <a:t>Example</a:t>
                      </a:r>
                      <a:endParaRPr lang="en-IN" sz="1600" dirty="0">
                        <a:latin typeface="Arial" panose="020B0604020202020204" pitchFamily="34" charset="0"/>
                        <a:cs typeface="Arial" panose="020B0604020202020204"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600" b="1" dirty="0" smtClean="0">
                          <a:latin typeface="Arial" panose="020B0604020202020204" pitchFamily="34" charset="0"/>
                          <a:cs typeface="Arial" panose="020B0604020202020204" pitchFamily="34" charset="0"/>
                        </a:rPr>
                        <a:t>a) Heading-based chunking - </a:t>
                      </a:r>
                      <a:r>
                        <a:rPr lang="en-IN" sz="1600" dirty="0" smtClean="0">
                          <a:latin typeface="Arial" panose="020B0604020202020204" pitchFamily="34" charset="0"/>
                          <a:cs typeface="Arial" panose="020B0604020202020204" pitchFamily="34" charset="0"/>
                        </a:rPr>
                        <a:t>Split at:</a:t>
                      </a:r>
                      <a:endParaRPr lang="en-IN" sz="1600" b="1" dirty="0" smtClean="0">
                        <a:latin typeface="Arial" panose="020B0604020202020204" pitchFamily="34" charset="0"/>
                        <a:cs typeface="Arial" panose="020B0604020202020204" pitchFamily="34" charset="0"/>
                      </a:endParaRPr>
                    </a:p>
                    <a:p>
                      <a:pPr lvl="1"/>
                      <a:r>
                        <a:rPr lang="en-IN" sz="1600" dirty="0" smtClean="0">
                          <a:latin typeface="Arial" panose="020B0604020202020204" pitchFamily="34" charset="0"/>
                          <a:cs typeface="Arial" panose="020B0604020202020204" pitchFamily="34" charset="0"/>
                        </a:rPr>
                        <a:t>H1, H2, H3</a:t>
                      </a:r>
                    </a:p>
                    <a:p>
                      <a:pPr lvl="1"/>
                      <a:r>
                        <a:rPr lang="en-IN" sz="1600" dirty="0" smtClean="0">
                          <a:latin typeface="Arial" panose="020B0604020202020204" pitchFamily="34" charset="0"/>
                          <a:cs typeface="Arial" panose="020B0604020202020204" pitchFamily="34" charset="0"/>
                        </a:rPr>
                        <a:t>Sections / chapters</a:t>
                      </a:r>
                    </a:p>
                    <a:p>
                      <a:pPr marL="0" marR="0" indent="0" algn="l" defTabSz="914400" rtl="0" eaLnBrk="1" fontAlgn="auto" latinLnBrk="0" hangingPunct="1">
                        <a:lnSpc>
                          <a:spcPct val="100000"/>
                        </a:lnSpc>
                        <a:spcBef>
                          <a:spcPts val="0"/>
                        </a:spcBef>
                        <a:spcAft>
                          <a:spcPts val="0"/>
                        </a:spcAft>
                        <a:buClrTx/>
                        <a:buSzTx/>
                        <a:buFontTx/>
                        <a:buNone/>
                        <a:tabLst/>
                        <a:defRPr/>
                      </a:pPr>
                      <a:r>
                        <a:rPr lang="en-IN" sz="1600" b="1" dirty="0" smtClean="0">
                          <a:latin typeface="Arial" panose="020B0604020202020204" pitchFamily="34" charset="0"/>
                          <a:cs typeface="Arial" panose="020B0604020202020204" pitchFamily="34" charset="0"/>
                        </a:rPr>
                        <a:t>b) Markdown / HTML-aware chunking - </a:t>
                      </a:r>
                      <a:r>
                        <a:rPr lang="en-IN" sz="1600" dirty="0" smtClean="0">
                          <a:latin typeface="Arial" panose="020B0604020202020204" pitchFamily="34" charset="0"/>
                          <a:cs typeface="Arial" panose="020B0604020202020204" pitchFamily="34" charset="0"/>
                        </a:rPr>
                        <a:t>Split at:</a:t>
                      </a:r>
                      <a:endParaRPr lang="en-IN" sz="1600" b="1" dirty="0" smtClean="0">
                        <a:latin typeface="Arial" panose="020B0604020202020204" pitchFamily="34" charset="0"/>
                        <a:cs typeface="Arial" panose="020B0604020202020204" pitchFamily="34" charset="0"/>
                      </a:endParaRPr>
                    </a:p>
                    <a:p>
                      <a:pPr lvl="1"/>
                      <a:r>
                        <a:rPr lang="en-IN" sz="1600" dirty="0" smtClean="0">
                          <a:latin typeface="Arial" panose="020B0604020202020204" pitchFamily="34" charset="0"/>
                          <a:cs typeface="Arial" panose="020B0604020202020204" pitchFamily="34" charset="0"/>
                        </a:rPr>
                        <a:t>&lt;p&gt;, &lt;</a:t>
                      </a:r>
                      <a:r>
                        <a:rPr lang="en-IN" sz="1600" dirty="0" err="1" smtClean="0">
                          <a:latin typeface="Arial" panose="020B0604020202020204" pitchFamily="34" charset="0"/>
                          <a:cs typeface="Arial" panose="020B0604020202020204" pitchFamily="34" charset="0"/>
                        </a:rPr>
                        <a:t>ul</a:t>
                      </a:r>
                      <a:r>
                        <a:rPr lang="en-IN" sz="1600" dirty="0" smtClean="0">
                          <a:latin typeface="Arial" panose="020B0604020202020204" pitchFamily="34" charset="0"/>
                          <a:cs typeface="Arial" panose="020B0604020202020204" pitchFamily="34" charset="0"/>
                        </a:rPr>
                        <a:t>&gt;, &lt;h2&gt;, &lt;code&gt;, etc.</a:t>
                      </a:r>
                    </a:p>
                    <a:p>
                      <a:pPr marL="0" marR="0" indent="0" algn="l" defTabSz="914400" rtl="0" eaLnBrk="1" fontAlgn="auto" latinLnBrk="0" hangingPunct="1">
                        <a:lnSpc>
                          <a:spcPct val="100000"/>
                        </a:lnSpc>
                        <a:spcBef>
                          <a:spcPts val="0"/>
                        </a:spcBef>
                        <a:spcAft>
                          <a:spcPts val="0"/>
                        </a:spcAft>
                        <a:buClrTx/>
                        <a:buSzTx/>
                        <a:buFontTx/>
                        <a:buNone/>
                        <a:tabLst/>
                        <a:defRPr/>
                      </a:pPr>
                      <a:r>
                        <a:rPr lang="en-IN" sz="1600" b="1" dirty="0" smtClean="0">
                          <a:latin typeface="Arial" panose="020B0604020202020204" pitchFamily="34" charset="0"/>
                          <a:cs typeface="Arial" panose="020B0604020202020204" pitchFamily="34" charset="0"/>
                        </a:rPr>
                        <a:t>c) PDF positional chunking - </a:t>
                      </a:r>
                      <a:r>
                        <a:rPr lang="en-IN" sz="1600" dirty="0" smtClean="0">
                          <a:latin typeface="Arial" panose="020B0604020202020204" pitchFamily="34" charset="0"/>
                          <a:cs typeface="Arial" panose="020B0604020202020204" pitchFamily="34" charset="0"/>
                        </a:rPr>
                        <a:t>Split by:</a:t>
                      </a:r>
                      <a:endParaRPr lang="en-IN" sz="1600" b="1" dirty="0" smtClean="0">
                        <a:latin typeface="Arial" panose="020B0604020202020204" pitchFamily="34" charset="0"/>
                        <a:cs typeface="Arial" panose="020B0604020202020204" pitchFamily="34" charset="0"/>
                      </a:endParaRPr>
                    </a:p>
                    <a:p>
                      <a:pPr lvl="1"/>
                      <a:r>
                        <a:rPr lang="en-IN" sz="1600" dirty="0" smtClean="0">
                          <a:latin typeface="Arial" panose="020B0604020202020204" pitchFamily="34" charset="0"/>
                          <a:cs typeface="Arial" panose="020B0604020202020204" pitchFamily="34" charset="0"/>
                        </a:rPr>
                        <a:t>Layout</a:t>
                      </a:r>
                    </a:p>
                    <a:p>
                      <a:pPr lvl="1"/>
                      <a:r>
                        <a:rPr lang="en-IN" sz="1600" dirty="0" smtClean="0">
                          <a:latin typeface="Arial" panose="020B0604020202020204" pitchFamily="34" charset="0"/>
                          <a:cs typeface="Arial" panose="020B0604020202020204" pitchFamily="34" charset="0"/>
                        </a:rPr>
                        <a:t>Left/right columns</a:t>
                      </a:r>
                    </a:p>
                    <a:p>
                      <a:pPr lvl="1"/>
                      <a:r>
                        <a:rPr lang="en-IN" sz="1600" dirty="0" smtClean="0">
                          <a:latin typeface="Arial" panose="020B0604020202020204" pitchFamily="34" charset="0"/>
                          <a:cs typeface="Arial" panose="020B0604020202020204" pitchFamily="34" charset="0"/>
                        </a:rPr>
                        <a:t>Paragraphs</a:t>
                      </a:r>
                    </a:p>
                    <a:p>
                      <a:pPr lvl="1"/>
                      <a:r>
                        <a:rPr lang="en-IN" sz="1600" dirty="0" smtClean="0">
                          <a:latin typeface="Arial" panose="020B0604020202020204" pitchFamily="34" charset="0"/>
                          <a:cs typeface="Arial" panose="020B0604020202020204" pitchFamily="34" charset="0"/>
                        </a:rPr>
                        <a:t>Table detection</a:t>
                      </a:r>
                    </a:p>
                    <a:p>
                      <a:pPr marL="0" marR="0" indent="0" algn="l" defTabSz="914400" rtl="0" eaLnBrk="1" fontAlgn="auto" latinLnBrk="0" hangingPunct="1">
                        <a:lnSpc>
                          <a:spcPct val="100000"/>
                        </a:lnSpc>
                        <a:spcBef>
                          <a:spcPts val="0"/>
                        </a:spcBef>
                        <a:spcAft>
                          <a:spcPts val="0"/>
                        </a:spcAft>
                        <a:buClrTx/>
                        <a:buSzTx/>
                        <a:buFontTx/>
                        <a:buNone/>
                        <a:tabLst/>
                        <a:defRPr/>
                      </a:pPr>
                      <a:r>
                        <a:rPr lang="en-IN" sz="1600" b="1" dirty="0" smtClean="0">
                          <a:latin typeface="Arial" panose="020B0604020202020204" pitchFamily="34" charset="0"/>
                          <a:cs typeface="Arial" panose="020B0604020202020204" pitchFamily="34" charset="0"/>
                        </a:rPr>
                        <a:t>d) Code-aware chunking - </a:t>
                      </a:r>
                      <a:r>
                        <a:rPr lang="en-IN" sz="1600" dirty="0" smtClean="0">
                          <a:latin typeface="Arial" panose="020B0604020202020204" pitchFamily="34" charset="0"/>
                          <a:cs typeface="Arial" panose="020B0604020202020204" pitchFamily="34" charset="0"/>
                        </a:rPr>
                        <a:t>Split by:</a:t>
                      </a:r>
                      <a:endParaRPr lang="en-IN" sz="1600" b="1" dirty="0" smtClean="0">
                        <a:latin typeface="Arial" panose="020B0604020202020204" pitchFamily="34" charset="0"/>
                        <a:cs typeface="Arial" panose="020B0604020202020204" pitchFamily="34" charset="0"/>
                      </a:endParaRPr>
                    </a:p>
                    <a:p>
                      <a:pPr lvl="1"/>
                      <a:r>
                        <a:rPr lang="en-IN" sz="1600" dirty="0" smtClean="0">
                          <a:latin typeface="Arial" panose="020B0604020202020204" pitchFamily="34" charset="0"/>
                          <a:cs typeface="Arial" panose="020B0604020202020204" pitchFamily="34" charset="0"/>
                        </a:rPr>
                        <a:t>Classes</a:t>
                      </a:r>
                    </a:p>
                    <a:p>
                      <a:pPr lvl="1"/>
                      <a:r>
                        <a:rPr lang="en-IN" sz="1600" dirty="0" smtClean="0">
                          <a:latin typeface="Arial" panose="020B0604020202020204" pitchFamily="34" charset="0"/>
                          <a:cs typeface="Arial" panose="020B0604020202020204" pitchFamily="34" charset="0"/>
                        </a:rPr>
                        <a:t>Functions</a:t>
                      </a:r>
                    </a:p>
                    <a:p>
                      <a:pPr lvl="1"/>
                      <a:r>
                        <a:rPr lang="en-IN" sz="1600" dirty="0" err="1" smtClean="0">
                          <a:latin typeface="Arial" panose="020B0604020202020204" pitchFamily="34" charset="0"/>
                          <a:cs typeface="Arial" panose="020B0604020202020204" pitchFamily="34" charset="0"/>
                        </a:rPr>
                        <a:t>Docstrings</a:t>
                      </a:r>
                      <a:endParaRPr lang="en-IN"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209461921"/>
                  </a:ext>
                </a:extLst>
              </a:tr>
              <a:tr h="370840">
                <a:tc>
                  <a:txBody>
                    <a:bodyPr/>
                    <a:lstStyle/>
                    <a:p>
                      <a:r>
                        <a:rPr lang="en-IN" sz="1600" b="1" dirty="0">
                          <a:latin typeface="Arial" panose="020B0604020202020204" pitchFamily="34" charset="0"/>
                          <a:cs typeface="Arial" panose="020B0604020202020204" pitchFamily="34" charset="0"/>
                        </a:rPr>
                        <a:t>Pros</a:t>
                      </a:r>
                      <a:endParaRPr lang="en-IN" sz="1600" dirty="0">
                        <a:latin typeface="Arial" panose="020B0604020202020204" pitchFamily="34" charset="0"/>
                        <a:cs typeface="Arial" panose="020B0604020202020204" pitchFamily="34" charset="0"/>
                      </a:endParaRPr>
                    </a:p>
                  </a:txBody>
                  <a:tcPr/>
                </a:tc>
                <a:tc>
                  <a:txBody>
                    <a:bodyPr/>
                    <a:lstStyle/>
                    <a:p>
                      <a:r>
                        <a:rPr lang="en-US" sz="1600" dirty="0" smtClean="0">
                          <a:latin typeface="Arial" panose="020B0604020202020204" pitchFamily="34" charset="0"/>
                          <a:cs typeface="Arial" panose="020B0604020202020204" pitchFamily="34" charset="0"/>
                        </a:rPr>
                        <a:t>Very high contextual </a:t>
                      </a:r>
                      <a:r>
                        <a:rPr lang="en-US" sz="1600" dirty="0" err="1" smtClean="0">
                          <a:latin typeface="Arial" panose="020B0604020202020204" pitchFamily="34" charset="0"/>
                          <a:cs typeface="Arial" panose="020B0604020202020204" pitchFamily="34" charset="0"/>
                        </a:rPr>
                        <a:t>accuracy,Maintains</a:t>
                      </a:r>
                      <a:r>
                        <a:rPr lang="en-US" sz="1600" dirty="0" smtClean="0">
                          <a:latin typeface="Arial" panose="020B0604020202020204" pitchFamily="34" charset="0"/>
                          <a:cs typeface="Arial" panose="020B0604020202020204" pitchFamily="34" charset="0"/>
                        </a:rPr>
                        <a:t> document </a:t>
                      </a:r>
                      <a:r>
                        <a:rPr lang="en-US" sz="1600" dirty="0" err="1" smtClean="0">
                          <a:latin typeface="Arial" panose="020B0604020202020204" pitchFamily="34" charset="0"/>
                          <a:cs typeface="Arial" panose="020B0604020202020204" pitchFamily="34" charset="0"/>
                        </a:rPr>
                        <a:t>structure,Works</a:t>
                      </a:r>
                      <a:r>
                        <a:rPr lang="en-US" sz="1600" dirty="0" smtClean="0">
                          <a:latin typeface="Arial" panose="020B0604020202020204" pitchFamily="34" charset="0"/>
                          <a:cs typeface="Arial" panose="020B0604020202020204" pitchFamily="34" charset="0"/>
                        </a:rPr>
                        <a:t> best for technical docs</a:t>
                      </a:r>
                      <a:endParaRPr lang="en-US"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646796001"/>
                  </a:ext>
                </a:extLst>
              </a:tr>
              <a:tr h="370840">
                <a:tc>
                  <a:txBody>
                    <a:bodyPr/>
                    <a:lstStyle/>
                    <a:p>
                      <a:r>
                        <a:rPr lang="en-IN" sz="1600" b="1">
                          <a:latin typeface="Arial" panose="020B0604020202020204" pitchFamily="34" charset="0"/>
                          <a:cs typeface="Arial" panose="020B0604020202020204" pitchFamily="34" charset="0"/>
                        </a:rPr>
                        <a:t>Cons</a:t>
                      </a:r>
                      <a:endParaRPr lang="en-IN" sz="1600">
                        <a:latin typeface="Arial" panose="020B0604020202020204" pitchFamily="34" charset="0"/>
                        <a:cs typeface="Arial" panose="020B0604020202020204" pitchFamily="34" charset="0"/>
                      </a:endParaRPr>
                    </a:p>
                  </a:txBody>
                  <a:tcPr/>
                </a:tc>
                <a:tc>
                  <a:txBody>
                    <a:bodyPr/>
                    <a:lstStyle/>
                    <a:p>
                      <a:r>
                        <a:rPr lang="en-IN" sz="1600" dirty="0" smtClean="0">
                          <a:latin typeface="Arial" panose="020B0604020202020204" pitchFamily="34" charset="0"/>
                          <a:cs typeface="Arial" panose="020B0604020202020204" pitchFamily="34" charset="0"/>
                        </a:rPr>
                        <a:t>Requires document layout parsing</a:t>
                      </a:r>
                      <a:endParaRPr lang="en-US"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066792032"/>
                  </a:ext>
                </a:extLst>
              </a:tr>
              <a:tr h="370840">
                <a:tc>
                  <a:txBody>
                    <a:bodyPr/>
                    <a:lstStyle/>
                    <a:p>
                      <a:r>
                        <a:rPr lang="en-IN" sz="1600" b="1">
                          <a:latin typeface="Arial" panose="020B0604020202020204" pitchFamily="34" charset="0"/>
                          <a:cs typeface="Arial" panose="020B0604020202020204" pitchFamily="34" charset="0"/>
                        </a:rPr>
                        <a:t>Best For</a:t>
                      </a:r>
                      <a:endParaRPr lang="en-IN" sz="1600">
                        <a:latin typeface="Arial" panose="020B0604020202020204" pitchFamily="34" charset="0"/>
                        <a:cs typeface="Arial" panose="020B0604020202020204" pitchFamily="34" charset="0"/>
                      </a:endParaRPr>
                    </a:p>
                  </a:txBody>
                  <a:tcPr/>
                </a:tc>
                <a:tc>
                  <a:txBody>
                    <a:bodyPr/>
                    <a:lstStyle/>
                    <a:p>
                      <a:r>
                        <a:rPr lang="en-US" sz="1600" dirty="0" smtClean="0">
                          <a:latin typeface="Arial" panose="020B0604020202020204" pitchFamily="34" charset="0"/>
                          <a:cs typeface="Arial" panose="020B0604020202020204" pitchFamily="34" charset="0"/>
                        </a:rPr>
                        <a:t>Best for: </a:t>
                      </a:r>
                      <a:r>
                        <a:rPr lang="en-US" sz="1600" b="1" dirty="0" smtClean="0">
                          <a:latin typeface="Arial" panose="020B0604020202020204" pitchFamily="34" charset="0"/>
                          <a:cs typeface="Arial" panose="020B0604020202020204" pitchFamily="34" charset="0"/>
                        </a:rPr>
                        <a:t>PDFs, code, manuals, books, legal docs</a:t>
                      </a:r>
                      <a:endParaRPr lang="en-US"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370995495"/>
                  </a:ext>
                </a:extLst>
              </a:tr>
            </a:tbl>
          </a:graphicData>
        </a:graphic>
      </p:graphicFrame>
    </p:spTree>
    <p:extLst>
      <p:ext uri="{BB962C8B-B14F-4D97-AF65-F5344CB8AC3E}">
        <p14:creationId xmlns:p14="http://schemas.microsoft.com/office/powerpoint/2010/main" val="198468749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8672-BCCD-358E-1B1C-899E93B0C6D9}"/>
              </a:ext>
            </a:extLst>
          </p:cNvPr>
          <p:cNvSpPr>
            <a:spLocks noGrp="1"/>
          </p:cNvSpPr>
          <p:nvPr>
            <p:ph type="title"/>
          </p:nvPr>
        </p:nvSpPr>
        <p:spPr>
          <a:xfrm>
            <a:off x="762000" y="158194"/>
            <a:ext cx="10515600" cy="595418"/>
          </a:xfrm>
        </p:spPr>
        <p:txBody>
          <a:bodyPr>
            <a:normAutofit/>
          </a:bodyPr>
          <a:lstStyle/>
          <a:p>
            <a:pPr algn="ctr" fontAlgn="base"/>
            <a:r>
              <a:rPr lang="en-IN" sz="3200" b="1" dirty="0">
                <a:latin typeface="Arial" panose="020B0604020202020204" pitchFamily="34" charset="0"/>
                <a:cs typeface="Arial" panose="020B0604020202020204" pitchFamily="34" charset="0"/>
              </a:rPr>
              <a:t>Chunking Strategies in RAG</a:t>
            </a:r>
          </a:p>
        </p:txBody>
      </p:sp>
      <p:sp>
        <p:nvSpPr>
          <p:cNvPr id="5" name="Subtitle 2">
            <a:extLst>
              <a:ext uri="{FF2B5EF4-FFF2-40B4-BE49-F238E27FC236}">
                <a16:creationId xmlns:a16="http://schemas.microsoft.com/office/drawing/2014/main" id="{C611B996-6893-C9B0-E3A0-CA5FBBA2E16F}"/>
              </a:ext>
            </a:extLst>
          </p:cNvPr>
          <p:cNvSpPr txBox="1">
            <a:spLocks/>
          </p:cNvSpPr>
          <p:nvPr/>
        </p:nvSpPr>
        <p:spPr>
          <a:xfrm>
            <a:off x="699135" y="753612"/>
            <a:ext cx="10911840" cy="71323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fontAlgn="base"/>
            <a:endParaRPr lang="en-IN" sz="1400" b="1" dirty="0">
              <a:latin typeface="Arial" panose="020B0604020202020204" pitchFamily="34" charset="0"/>
              <a:cs typeface="Arial" panose="020B0604020202020204" pitchFamily="34" charset="0"/>
            </a:endParaRPr>
          </a:p>
        </p:txBody>
      </p:sp>
      <p:sp>
        <p:nvSpPr>
          <p:cNvPr id="4"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8" name="Rectangle 1"/>
          <p:cNvSpPr>
            <a:spLocks noChangeArrowheads="1"/>
          </p:cNvSpPr>
          <p:nvPr/>
        </p:nvSpPr>
        <p:spPr bwMode="auto">
          <a:xfrm>
            <a:off x="699135" y="940954"/>
            <a:ext cx="502522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IN" sz="1600" b="1" dirty="0">
                <a:latin typeface="Arial" panose="020B0604020202020204" pitchFamily="34" charset="0"/>
                <a:cs typeface="Arial" panose="020B0604020202020204" pitchFamily="34" charset="0"/>
              </a:rPr>
              <a:t>Query-Aware Chunking (Dynamic RAG)</a:t>
            </a:r>
            <a:r>
              <a:rPr lang="en-IN" sz="1600" b="1" dirty="0" smtClean="0">
                <a:latin typeface="Arial" panose="020B0604020202020204" pitchFamily="34" charset="0"/>
                <a:cs typeface="Arial" panose="020B0604020202020204" pitchFamily="34" charset="0"/>
              </a:rPr>
              <a:t> </a:t>
            </a:r>
            <a:r>
              <a:rPr lang="en-IN" sz="1600" b="1" dirty="0">
                <a:latin typeface="Arial" panose="020B0604020202020204" pitchFamily="34" charset="0"/>
                <a:cs typeface="Arial" panose="020B0604020202020204" pitchFamily="34" charset="0"/>
              </a:rPr>
              <a:t>Chunking</a:t>
            </a:r>
            <a:endParaRPr kumimoji="0" lang="en-US" altLang="en-US" sz="16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p:txBody>
      </p:sp>
      <p:graphicFrame>
        <p:nvGraphicFramePr>
          <p:cNvPr id="9" name="Table 8"/>
          <p:cNvGraphicFramePr>
            <a:graphicFrameLocks noGrp="1"/>
          </p:cNvGraphicFramePr>
          <p:nvPr>
            <p:extLst>
              <p:ext uri="{D42A27DB-BD31-4B8C-83A1-F6EECF244321}">
                <p14:modId xmlns:p14="http://schemas.microsoft.com/office/powerpoint/2010/main" val="2932392216"/>
              </p:ext>
            </p:extLst>
          </p:nvPr>
        </p:nvGraphicFramePr>
        <p:xfrm>
          <a:off x="762000" y="1466850"/>
          <a:ext cx="10594622" cy="2016760"/>
        </p:xfrm>
        <a:graphic>
          <a:graphicData uri="http://schemas.openxmlformats.org/drawingml/2006/table">
            <a:tbl>
              <a:tblPr firstRow="1" bandRow="1">
                <a:tableStyleId>{073A0DAA-6AF3-43AB-8588-CEC1D06C72B9}</a:tableStyleId>
              </a:tblPr>
              <a:tblGrid>
                <a:gridCol w="3798711">
                  <a:extLst>
                    <a:ext uri="{9D8B030D-6E8A-4147-A177-3AD203B41FA5}">
                      <a16:colId xmlns:a16="http://schemas.microsoft.com/office/drawing/2014/main" val="1716058214"/>
                    </a:ext>
                  </a:extLst>
                </a:gridCol>
                <a:gridCol w="6795911">
                  <a:extLst>
                    <a:ext uri="{9D8B030D-6E8A-4147-A177-3AD203B41FA5}">
                      <a16:colId xmlns:a16="http://schemas.microsoft.com/office/drawing/2014/main" val="589936931"/>
                    </a:ext>
                  </a:extLst>
                </a:gridCol>
              </a:tblGrid>
              <a:tr h="370840">
                <a:tc>
                  <a:txBody>
                    <a:bodyPr/>
                    <a:lstStyle/>
                    <a:p>
                      <a:r>
                        <a:rPr lang="en-IN" sz="1600" dirty="0" smtClean="0">
                          <a:latin typeface="Arial" panose="020B0604020202020204" pitchFamily="34" charset="0"/>
                          <a:cs typeface="Arial" panose="020B0604020202020204" pitchFamily="34" charset="0"/>
                        </a:rPr>
                        <a:t>Aspect</a:t>
                      </a:r>
                      <a:endParaRPr lang="en-IN" sz="1600" dirty="0">
                        <a:latin typeface="Arial" panose="020B0604020202020204" pitchFamily="34" charset="0"/>
                        <a:cs typeface="Arial" panose="020B0604020202020204" pitchFamily="34" charset="0"/>
                      </a:endParaRPr>
                    </a:p>
                  </a:txBody>
                  <a:tcPr/>
                </a:tc>
                <a:tc>
                  <a:txBody>
                    <a:bodyPr/>
                    <a:lstStyle/>
                    <a:p>
                      <a:r>
                        <a:rPr lang="en-IN" sz="1600" smtClean="0">
                          <a:latin typeface="Arial" panose="020B0604020202020204" pitchFamily="34" charset="0"/>
                          <a:cs typeface="Arial" panose="020B0604020202020204" pitchFamily="34" charset="0"/>
                        </a:rPr>
                        <a:t>Details</a:t>
                      </a:r>
                      <a:endParaRPr lang="en-IN" sz="16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842084639"/>
                  </a:ext>
                </a:extLst>
              </a:tr>
              <a:tr h="370840">
                <a:tc>
                  <a:txBody>
                    <a:bodyPr/>
                    <a:lstStyle/>
                    <a:p>
                      <a:r>
                        <a:rPr lang="en-IN" sz="1600" b="1" dirty="0" smtClean="0">
                          <a:latin typeface="Arial" panose="020B0604020202020204" pitchFamily="34" charset="0"/>
                          <a:cs typeface="Arial" panose="020B0604020202020204" pitchFamily="34" charset="0"/>
                        </a:rPr>
                        <a:t>How it works</a:t>
                      </a:r>
                      <a:endParaRPr lang="en-IN" sz="1600" dirty="0">
                        <a:latin typeface="Arial" panose="020B0604020202020204" pitchFamily="34" charset="0"/>
                        <a:cs typeface="Arial" panose="020B0604020202020204" pitchFamily="34" charset="0"/>
                      </a:endParaRPr>
                    </a:p>
                  </a:txBody>
                  <a:tcPr/>
                </a:tc>
                <a:tc>
                  <a:txBody>
                    <a:bodyPr/>
                    <a:lstStyle/>
                    <a:p>
                      <a:r>
                        <a:rPr lang="en-US" sz="1600" dirty="0" smtClean="0">
                          <a:latin typeface="Arial" panose="020B0604020202020204" pitchFamily="34" charset="0"/>
                          <a:cs typeface="Arial" panose="020B0604020202020204" pitchFamily="34" charset="0"/>
                        </a:rPr>
                        <a:t>Chunking happens based on </a:t>
                      </a:r>
                      <a:r>
                        <a:rPr lang="en-US" sz="1600" b="1" dirty="0" smtClean="0">
                          <a:latin typeface="Arial" panose="020B0604020202020204" pitchFamily="34" charset="0"/>
                          <a:cs typeface="Arial" panose="020B0604020202020204" pitchFamily="34" charset="0"/>
                        </a:rPr>
                        <a:t>user query intent</a:t>
                      </a:r>
                      <a:r>
                        <a:rPr lang="en-US" sz="1600" dirty="0" smtClean="0">
                          <a:latin typeface="Arial" panose="020B0604020202020204" pitchFamily="34" charset="0"/>
                          <a:cs typeface="Arial" panose="020B0604020202020204" pitchFamily="34" charset="0"/>
                        </a:rPr>
                        <a:t>.</a:t>
                      </a:r>
                    </a:p>
                    <a:p>
                      <a:r>
                        <a:rPr lang="en-US" sz="1600" b="1" dirty="0" smtClean="0">
                          <a:latin typeface="Arial" panose="020B0604020202020204" pitchFamily="34" charset="0"/>
                          <a:cs typeface="Arial" panose="020B0604020202020204" pitchFamily="34" charset="0"/>
                        </a:rPr>
                        <a:t>Techniques:</a:t>
                      </a:r>
                    </a:p>
                    <a:p>
                      <a:pPr marL="285750" indent="-285750">
                        <a:buFont typeface="Wingdings" panose="05000000000000000000" pitchFamily="2" charset="2"/>
                        <a:buChar char="Ø"/>
                      </a:pPr>
                      <a:r>
                        <a:rPr lang="en-US" sz="1600" dirty="0" smtClean="0">
                          <a:latin typeface="Arial" panose="020B0604020202020204" pitchFamily="34" charset="0"/>
                          <a:cs typeface="Arial" panose="020B0604020202020204" pitchFamily="34" charset="0"/>
                        </a:rPr>
                        <a:t>Re-rank chunk boundaries based on query similarity</a:t>
                      </a:r>
                    </a:p>
                    <a:p>
                      <a:pPr marL="285750" indent="-285750">
                        <a:buFont typeface="Wingdings" panose="05000000000000000000" pitchFamily="2" charset="2"/>
                        <a:buChar char="Ø"/>
                      </a:pPr>
                      <a:r>
                        <a:rPr lang="en-US" sz="1600" dirty="0" smtClean="0">
                          <a:latin typeface="Arial" panose="020B0604020202020204" pitchFamily="34" charset="0"/>
                          <a:cs typeface="Arial" panose="020B0604020202020204" pitchFamily="34" charset="0"/>
                        </a:rPr>
                        <a:t>Dynamic window expansion around relevant sections</a:t>
                      </a:r>
                    </a:p>
                  </a:txBody>
                  <a:tcPr/>
                </a:tc>
                <a:extLst>
                  <a:ext uri="{0D108BD9-81ED-4DB2-BD59-A6C34878D82A}">
                    <a16:rowId xmlns:a16="http://schemas.microsoft.com/office/drawing/2014/main" val="2806885310"/>
                  </a:ext>
                </a:extLst>
              </a:tr>
              <a:tr h="370840">
                <a:tc>
                  <a:txBody>
                    <a:bodyPr/>
                    <a:lstStyle/>
                    <a:p>
                      <a:r>
                        <a:rPr lang="en-IN" sz="1600" b="1" smtClean="0">
                          <a:latin typeface="Arial" panose="020B0604020202020204" pitchFamily="34" charset="0"/>
                          <a:cs typeface="Arial" panose="020B0604020202020204" pitchFamily="34" charset="0"/>
                        </a:rPr>
                        <a:t>Example</a:t>
                      </a:r>
                      <a:endParaRPr lang="en-IN" sz="1600" dirty="0">
                        <a:latin typeface="Arial" panose="020B0604020202020204" pitchFamily="34" charset="0"/>
                        <a:cs typeface="Arial" panose="020B0604020202020204" pitchFamily="34" charset="0"/>
                      </a:endParaRPr>
                    </a:p>
                  </a:txBody>
                  <a:tcPr/>
                </a:tc>
                <a:tc>
                  <a:txBody>
                    <a:bodyPr/>
                    <a:lstStyle/>
                    <a:p>
                      <a:r>
                        <a:rPr lang="en-US" sz="1600" dirty="0" smtClean="0">
                          <a:latin typeface="Arial" panose="020B0604020202020204" pitchFamily="34" charset="0"/>
                          <a:cs typeface="Arial" panose="020B0604020202020204" pitchFamily="34" charset="0"/>
                        </a:rPr>
                        <a:t>For code, fetch the function + relevant calls</a:t>
                      </a:r>
                    </a:p>
                    <a:p>
                      <a:r>
                        <a:rPr lang="en-US" sz="1600" dirty="0" smtClean="0">
                          <a:latin typeface="Arial" panose="020B0604020202020204" pitchFamily="34" charset="0"/>
                          <a:cs typeface="Arial" panose="020B0604020202020204" pitchFamily="34" charset="0"/>
                        </a:rPr>
                        <a:t>For legal text, fetch the clause + definitions</a:t>
                      </a:r>
                      <a:endParaRPr lang="en-US"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209461921"/>
                  </a:ext>
                </a:extLst>
              </a:tr>
            </a:tbl>
          </a:graphicData>
        </a:graphic>
      </p:graphicFrame>
      <p:sp>
        <p:nvSpPr>
          <p:cNvPr id="3" name="Rectangle 2"/>
          <p:cNvSpPr/>
          <p:nvPr/>
        </p:nvSpPr>
        <p:spPr>
          <a:xfrm>
            <a:off x="722489" y="3898678"/>
            <a:ext cx="4499950" cy="369332"/>
          </a:xfrm>
          <a:prstGeom prst="rect">
            <a:avLst/>
          </a:prstGeom>
        </p:spPr>
        <p:txBody>
          <a:bodyPr wrap="none">
            <a:spAutoFit/>
          </a:bodyPr>
          <a:lstStyle/>
          <a:p>
            <a:r>
              <a:rPr lang="en-IN" b="1" dirty="0">
                <a:latin typeface="Arial" panose="020B0604020202020204" pitchFamily="34" charset="0"/>
                <a:cs typeface="Arial" panose="020B0604020202020204" pitchFamily="34" charset="0"/>
              </a:rPr>
              <a:t>Sentence-Level Embedding + Grouping</a:t>
            </a:r>
          </a:p>
        </p:txBody>
      </p:sp>
      <p:graphicFrame>
        <p:nvGraphicFramePr>
          <p:cNvPr id="10" name="Table 9"/>
          <p:cNvGraphicFramePr>
            <a:graphicFrameLocks noGrp="1"/>
          </p:cNvGraphicFramePr>
          <p:nvPr>
            <p:extLst>
              <p:ext uri="{D42A27DB-BD31-4B8C-83A1-F6EECF244321}">
                <p14:modId xmlns:p14="http://schemas.microsoft.com/office/powerpoint/2010/main" val="444752094"/>
              </p:ext>
            </p:extLst>
          </p:nvPr>
        </p:nvGraphicFramePr>
        <p:xfrm>
          <a:off x="744261" y="4483794"/>
          <a:ext cx="10594622" cy="2016760"/>
        </p:xfrm>
        <a:graphic>
          <a:graphicData uri="http://schemas.openxmlformats.org/drawingml/2006/table">
            <a:tbl>
              <a:tblPr firstRow="1" bandRow="1">
                <a:tableStyleId>{073A0DAA-6AF3-43AB-8588-CEC1D06C72B9}</a:tableStyleId>
              </a:tblPr>
              <a:tblGrid>
                <a:gridCol w="3798711">
                  <a:extLst>
                    <a:ext uri="{9D8B030D-6E8A-4147-A177-3AD203B41FA5}">
                      <a16:colId xmlns:a16="http://schemas.microsoft.com/office/drawing/2014/main" val="1716058214"/>
                    </a:ext>
                  </a:extLst>
                </a:gridCol>
                <a:gridCol w="6795911">
                  <a:extLst>
                    <a:ext uri="{9D8B030D-6E8A-4147-A177-3AD203B41FA5}">
                      <a16:colId xmlns:a16="http://schemas.microsoft.com/office/drawing/2014/main" val="589936931"/>
                    </a:ext>
                  </a:extLst>
                </a:gridCol>
              </a:tblGrid>
              <a:tr h="370840">
                <a:tc>
                  <a:txBody>
                    <a:bodyPr/>
                    <a:lstStyle/>
                    <a:p>
                      <a:r>
                        <a:rPr lang="en-IN" sz="1600" smtClean="0">
                          <a:latin typeface="Arial" panose="020B0604020202020204" pitchFamily="34" charset="0"/>
                          <a:cs typeface="Arial" panose="020B0604020202020204" pitchFamily="34" charset="0"/>
                        </a:rPr>
                        <a:t>Aspect</a:t>
                      </a:r>
                      <a:endParaRPr lang="en-IN" sz="1600" dirty="0">
                        <a:latin typeface="Arial" panose="020B0604020202020204" pitchFamily="34" charset="0"/>
                        <a:cs typeface="Arial" panose="020B0604020202020204" pitchFamily="34" charset="0"/>
                      </a:endParaRPr>
                    </a:p>
                  </a:txBody>
                  <a:tcPr/>
                </a:tc>
                <a:tc>
                  <a:txBody>
                    <a:bodyPr/>
                    <a:lstStyle/>
                    <a:p>
                      <a:r>
                        <a:rPr lang="en-IN" sz="1600" smtClean="0">
                          <a:latin typeface="Arial" panose="020B0604020202020204" pitchFamily="34" charset="0"/>
                          <a:cs typeface="Arial" panose="020B0604020202020204" pitchFamily="34" charset="0"/>
                        </a:rPr>
                        <a:t>Details</a:t>
                      </a:r>
                      <a:endParaRPr lang="en-IN" sz="16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842084639"/>
                  </a:ext>
                </a:extLst>
              </a:tr>
              <a:tr h="370840">
                <a:tc>
                  <a:txBody>
                    <a:bodyPr/>
                    <a:lstStyle/>
                    <a:p>
                      <a:r>
                        <a:rPr lang="en-IN" sz="1600" b="1" dirty="0" smtClean="0">
                          <a:latin typeface="Arial" panose="020B0604020202020204" pitchFamily="34" charset="0"/>
                          <a:cs typeface="Arial" panose="020B0604020202020204" pitchFamily="34" charset="0"/>
                        </a:rPr>
                        <a:t>How it works</a:t>
                      </a:r>
                      <a:endParaRPr lang="en-IN" sz="1600" dirty="0">
                        <a:latin typeface="Arial" panose="020B0604020202020204" pitchFamily="34" charset="0"/>
                        <a:cs typeface="Arial" panose="020B0604020202020204" pitchFamily="34" charset="0"/>
                      </a:endParaRPr>
                    </a:p>
                  </a:txBody>
                  <a:tcPr/>
                </a:tc>
                <a:tc>
                  <a:txBody>
                    <a:bodyPr/>
                    <a:lstStyle/>
                    <a:p>
                      <a:r>
                        <a:rPr lang="en-US" sz="1600" dirty="0" smtClean="0">
                          <a:latin typeface="Arial" panose="020B0604020202020204" pitchFamily="34" charset="0"/>
                          <a:cs typeface="Arial" panose="020B0604020202020204" pitchFamily="34" charset="0"/>
                        </a:rPr>
                        <a:t>Each sentence has an embedding, then you merge </a:t>
                      </a:r>
                      <a:r>
                        <a:rPr lang="en-US" sz="1600" b="1" dirty="0" smtClean="0">
                          <a:latin typeface="Arial" panose="020B0604020202020204" pitchFamily="34" charset="0"/>
                          <a:cs typeface="Arial" panose="020B0604020202020204" pitchFamily="34" charset="0"/>
                        </a:rPr>
                        <a:t>topically similar adjacent sentences</a:t>
                      </a:r>
                      <a:r>
                        <a:rPr lang="en-US" sz="1600" dirty="0" smtClean="0">
                          <a:latin typeface="Arial" panose="020B0604020202020204" pitchFamily="34" charset="0"/>
                          <a:cs typeface="Arial" panose="020B0604020202020204" pitchFamily="34" charset="0"/>
                        </a:rPr>
                        <a:t>.</a:t>
                      </a:r>
                      <a:endParaRPr lang="en-IN"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806885310"/>
                  </a:ext>
                </a:extLst>
              </a:tr>
              <a:tr h="370840">
                <a:tc>
                  <a:txBody>
                    <a:bodyPr/>
                    <a:lstStyle/>
                    <a:p>
                      <a:r>
                        <a:rPr lang="en-IN" sz="1600" b="1" dirty="0" smtClean="0">
                          <a:latin typeface="Arial" panose="020B0604020202020204" pitchFamily="34" charset="0"/>
                          <a:cs typeface="Arial" panose="020B0604020202020204" pitchFamily="34" charset="0"/>
                        </a:rPr>
                        <a:t>Example</a:t>
                      </a:r>
                      <a:endParaRPr lang="en-IN" sz="1600" dirty="0">
                        <a:latin typeface="Arial" panose="020B0604020202020204" pitchFamily="34" charset="0"/>
                        <a:cs typeface="Arial" panose="020B0604020202020204" pitchFamily="34" charset="0"/>
                      </a:endParaRPr>
                    </a:p>
                  </a:txBody>
                  <a:tcPr/>
                </a:tc>
                <a:tc>
                  <a:txBody>
                    <a:bodyPr/>
                    <a:lstStyle/>
                    <a:p>
                      <a:r>
                        <a:rPr lang="en-US" sz="1600" dirty="0" smtClean="0">
                          <a:latin typeface="Arial" panose="020B0604020202020204" pitchFamily="34" charset="0"/>
                          <a:cs typeface="Arial" panose="020B0604020202020204" pitchFamily="34" charset="0"/>
                        </a:rPr>
                        <a:t>These methods include:</a:t>
                      </a:r>
                    </a:p>
                    <a:p>
                      <a:pPr marL="742950" lvl="1" indent="-285750">
                        <a:buFont typeface="Wingdings" panose="05000000000000000000" pitchFamily="2" charset="2"/>
                        <a:buChar char="Ø"/>
                      </a:pPr>
                      <a:r>
                        <a:rPr lang="en-US" sz="1600" dirty="0" smtClean="0">
                          <a:latin typeface="Arial" panose="020B0604020202020204" pitchFamily="34" charset="0"/>
                          <a:cs typeface="Arial" panose="020B0604020202020204" pitchFamily="34" charset="0"/>
                        </a:rPr>
                        <a:t>Agglomerative clustering</a:t>
                      </a:r>
                    </a:p>
                    <a:p>
                      <a:pPr marL="742950" lvl="1" indent="-285750">
                        <a:buFont typeface="Wingdings" panose="05000000000000000000" pitchFamily="2" charset="2"/>
                        <a:buChar char="Ø"/>
                      </a:pPr>
                      <a:r>
                        <a:rPr lang="en-US" sz="1600" dirty="0" smtClean="0">
                          <a:latin typeface="Arial" panose="020B0604020202020204" pitchFamily="34" charset="0"/>
                          <a:cs typeface="Arial" panose="020B0604020202020204" pitchFamily="34" charset="0"/>
                        </a:rPr>
                        <a:t>DBSCAN on sentence </a:t>
                      </a:r>
                      <a:r>
                        <a:rPr lang="en-US" sz="1600" dirty="0" err="1" smtClean="0">
                          <a:latin typeface="Arial" panose="020B0604020202020204" pitchFamily="34" charset="0"/>
                          <a:cs typeface="Arial" panose="020B0604020202020204" pitchFamily="34" charset="0"/>
                        </a:rPr>
                        <a:t>embeddings</a:t>
                      </a:r>
                      <a:endParaRPr lang="en-US" sz="1600" dirty="0" smtClean="0">
                        <a:latin typeface="Arial" panose="020B0604020202020204" pitchFamily="34" charset="0"/>
                        <a:cs typeface="Arial" panose="020B0604020202020204" pitchFamily="34" charset="0"/>
                      </a:endParaRPr>
                    </a:p>
                    <a:p>
                      <a:pPr marL="742950" lvl="1" indent="-285750">
                        <a:buFont typeface="Wingdings" panose="05000000000000000000" pitchFamily="2" charset="2"/>
                        <a:buChar char="Ø"/>
                      </a:pPr>
                      <a:r>
                        <a:rPr lang="en-US" sz="1600" dirty="0" smtClean="0">
                          <a:latin typeface="Arial" panose="020B0604020202020204" pitchFamily="34" charset="0"/>
                          <a:cs typeface="Arial" panose="020B0604020202020204" pitchFamily="34" charset="0"/>
                        </a:rPr>
                        <a:t>Topic modeling (LDA-based)</a:t>
                      </a:r>
                      <a:endParaRPr lang="en-US"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209461921"/>
                  </a:ext>
                </a:extLst>
              </a:tr>
            </a:tbl>
          </a:graphicData>
        </a:graphic>
      </p:graphicFrame>
    </p:spTree>
    <p:extLst>
      <p:ext uri="{BB962C8B-B14F-4D97-AF65-F5344CB8AC3E}">
        <p14:creationId xmlns:p14="http://schemas.microsoft.com/office/powerpoint/2010/main" val="285478285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8672-BCCD-358E-1B1C-899E93B0C6D9}"/>
              </a:ext>
            </a:extLst>
          </p:cNvPr>
          <p:cNvSpPr>
            <a:spLocks noGrp="1"/>
          </p:cNvSpPr>
          <p:nvPr>
            <p:ph type="title"/>
          </p:nvPr>
        </p:nvSpPr>
        <p:spPr>
          <a:xfrm>
            <a:off x="762000" y="158194"/>
            <a:ext cx="10515600" cy="595418"/>
          </a:xfrm>
        </p:spPr>
        <p:txBody>
          <a:bodyPr>
            <a:normAutofit/>
          </a:bodyPr>
          <a:lstStyle/>
          <a:p>
            <a:pPr algn="ctr" fontAlgn="base"/>
            <a:r>
              <a:rPr lang="en-IN" sz="3200" b="1" dirty="0">
                <a:latin typeface="Arial" panose="020B0604020202020204" pitchFamily="34" charset="0"/>
                <a:cs typeface="Arial" panose="020B0604020202020204" pitchFamily="34" charset="0"/>
              </a:rPr>
              <a:t>Chunking Strategies in RAG</a:t>
            </a:r>
          </a:p>
        </p:txBody>
      </p:sp>
      <p:sp>
        <p:nvSpPr>
          <p:cNvPr id="5" name="Subtitle 2">
            <a:extLst>
              <a:ext uri="{FF2B5EF4-FFF2-40B4-BE49-F238E27FC236}">
                <a16:creationId xmlns:a16="http://schemas.microsoft.com/office/drawing/2014/main" id="{C611B996-6893-C9B0-E3A0-CA5FBBA2E16F}"/>
              </a:ext>
            </a:extLst>
          </p:cNvPr>
          <p:cNvSpPr txBox="1">
            <a:spLocks/>
          </p:cNvSpPr>
          <p:nvPr/>
        </p:nvSpPr>
        <p:spPr>
          <a:xfrm>
            <a:off x="699135" y="753612"/>
            <a:ext cx="10911840" cy="71323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fontAlgn="base"/>
            <a:endParaRPr lang="en-IN" sz="1400" b="1" dirty="0">
              <a:latin typeface="Arial" panose="020B0604020202020204" pitchFamily="34" charset="0"/>
              <a:cs typeface="Arial" panose="020B0604020202020204" pitchFamily="34" charset="0"/>
            </a:endParaRPr>
          </a:p>
        </p:txBody>
      </p:sp>
      <p:sp>
        <p:nvSpPr>
          <p:cNvPr id="4"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8" name="Rectangle 1"/>
          <p:cNvSpPr>
            <a:spLocks noChangeArrowheads="1"/>
          </p:cNvSpPr>
          <p:nvPr/>
        </p:nvSpPr>
        <p:spPr bwMode="auto">
          <a:xfrm>
            <a:off x="699135" y="940954"/>
            <a:ext cx="247375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IN" sz="1600" b="1" dirty="0">
                <a:latin typeface="Arial" panose="020B0604020202020204" pitchFamily="34" charset="0"/>
                <a:cs typeface="Arial" panose="020B0604020202020204" pitchFamily="34" charset="0"/>
              </a:rPr>
              <a:t>Graph-Based Chunking</a:t>
            </a:r>
            <a:endParaRPr kumimoji="0" lang="en-US" altLang="en-US" sz="16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p:txBody>
      </p:sp>
      <p:graphicFrame>
        <p:nvGraphicFramePr>
          <p:cNvPr id="9" name="Table 8"/>
          <p:cNvGraphicFramePr>
            <a:graphicFrameLocks noGrp="1"/>
          </p:cNvGraphicFramePr>
          <p:nvPr>
            <p:extLst>
              <p:ext uri="{D42A27DB-BD31-4B8C-83A1-F6EECF244321}">
                <p14:modId xmlns:p14="http://schemas.microsoft.com/office/powerpoint/2010/main" val="3025583111"/>
              </p:ext>
            </p:extLst>
          </p:nvPr>
        </p:nvGraphicFramePr>
        <p:xfrm>
          <a:off x="762000" y="1466850"/>
          <a:ext cx="10594622" cy="2748280"/>
        </p:xfrm>
        <a:graphic>
          <a:graphicData uri="http://schemas.openxmlformats.org/drawingml/2006/table">
            <a:tbl>
              <a:tblPr firstRow="1" bandRow="1">
                <a:tableStyleId>{073A0DAA-6AF3-43AB-8588-CEC1D06C72B9}</a:tableStyleId>
              </a:tblPr>
              <a:tblGrid>
                <a:gridCol w="3798711">
                  <a:extLst>
                    <a:ext uri="{9D8B030D-6E8A-4147-A177-3AD203B41FA5}">
                      <a16:colId xmlns:a16="http://schemas.microsoft.com/office/drawing/2014/main" val="1716058214"/>
                    </a:ext>
                  </a:extLst>
                </a:gridCol>
                <a:gridCol w="6795911">
                  <a:extLst>
                    <a:ext uri="{9D8B030D-6E8A-4147-A177-3AD203B41FA5}">
                      <a16:colId xmlns:a16="http://schemas.microsoft.com/office/drawing/2014/main" val="589936931"/>
                    </a:ext>
                  </a:extLst>
                </a:gridCol>
              </a:tblGrid>
              <a:tr h="370840">
                <a:tc>
                  <a:txBody>
                    <a:bodyPr/>
                    <a:lstStyle/>
                    <a:p>
                      <a:r>
                        <a:rPr lang="en-IN" sz="1600" smtClean="0">
                          <a:latin typeface="Arial" panose="020B0604020202020204" pitchFamily="34" charset="0"/>
                          <a:cs typeface="Arial" panose="020B0604020202020204" pitchFamily="34" charset="0"/>
                        </a:rPr>
                        <a:t>Aspect</a:t>
                      </a:r>
                      <a:endParaRPr lang="en-IN" sz="1600" dirty="0">
                        <a:latin typeface="Arial" panose="020B0604020202020204" pitchFamily="34" charset="0"/>
                        <a:cs typeface="Arial" panose="020B0604020202020204" pitchFamily="34" charset="0"/>
                      </a:endParaRPr>
                    </a:p>
                  </a:txBody>
                  <a:tcPr/>
                </a:tc>
                <a:tc>
                  <a:txBody>
                    <a:bodyPr/>
                    <a:lstStyle/>
                    <a:p>
                      <a:r>
                        <a:rPr lang="en-IN" sz="1600" smtClean="0">
                          <a:latin typeface="Arial" panose="020B0604020202020204" pitchFamily="34" charset="0"/>
                          <a:cs typeface="Arial" panose="020B0604020202020204" pitchFamily="34" charset="0"/>
                        </a:rPr>
                        <a:t>Details</a:t>
                      </a:r>
                      <a:endParaRPr lang="en-IN" sz="16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842084639"/>
                  </a:ext>
                </a:extLst>
              </a:tr>
              <a:tr h="370840">
                <a:tc>
                  <a:txBody>
                    <a:bodyPr/>
                    <a:lstStyle/>
                    <a:p>
                      <a:r>
                        <a:rPr lang="en-IN" sz="1600" b="1" smtClean="0">
                          <a:latin typeface="Arial" panose="020B0604020202020204" pitchFamily="34" charset="0"/>
                          <a:cs typeface="Arial" panose="020B0604020202020204" pitchFamily="34" charset="0"/>
                        </a:rPr>
                        <a:t>How it works</a:t>
                      </a:r>
                      <a:endParaRPr lang="en-IN" sz="1600" dirty="0">
                        <a:latin typeface="Arial" panose="020B0604020202020204" pitchFamily="34" charset="0"/>
                        <a:cs typeface="Arial" panose="020B0604020202020204" pitchFamily="34" charset="0"/>
                      </a:endParaRPr>
                    </a:p>
                  </a:txBody>
                  <a:tcPr/>
                </a:tc>
                <a:tc>
                  <a:txBody>
                    <a:bodyPr/>
                    <a:lstStyle/>
                    <a:p>
                      <a:r>
                        <a:rPr lang="en-US" sz="1600" dirty="0" smtClean="0">
                          <a:latin typeface="Arial" panose="020B0604020202020204" pitchFamily="34" charset="0"/>
                          <a:cs typeface="Arial" panose="020B0604020202020204" pitchFamily="34" charset="0"/>
                        </a:rPr>
                        <a:t>Build a </a:t>
                      </a:r>
                      <a:r>
                        <a:rPr lang="en-US" sz="1600" b="1" dirty="0" smtClean="0">
                          <a:latin typeface="Arial" panose="020B0604020202020204" pitchFamily="34" charset="0"/>
                          <a:cs typeface="Arial" panose="020B0604020202020204" pitchFamily="34" charset="0"/>
                        </a:rPr>
                        <a:t>knowledge graph</a:t>
                      </a:r>
                      <a:r>
                        <a:rPr lang="en-US" sz="1600" dirty="0" smtClean="0">
                          <a:latin typeface="Arial" panose="020B0604020202020204" pitchFamily="34" charset="0"/>
                          <a:cs typeface="Arial" panose="020B0604020202020204" pitchFamily="34" charset="0"/>
                        </a:rPr>
                        <a:t> instead of linear chunks.</a:t>
                      </a:r>
                    </a:p>
                    <a:p>
                      <a:pPr marL="742950" lvl="1" indent="-285750">
                        <a:buFont typeface="Wingdings" panose="05000000000000000000" pitchFamily="2" charset="2"/>
                        <a:buChar char="Ø"/>
                      </a:pPr>
                      <a:r>
                        <a:rPr lang="en-US" sz="1600" dirty="0" smtClean="0">
                          <a:latin typeface="Arial" panose="020B0604020202020204" pitchFamily="34" charset="0"/>
                          <a:cs typeface="Arial" panose="020B0604020202020204" pitchFamily="34" charset="0"/>
                        </a:rPr>
                        <a:t>Extract entities + relations</a:t>
                      </a:r>
                    </a:p>
                    <a:p>
                      <a:pPr marL="742950" lvl="1" indent="-285750">
                        <a:buFont typeface="Wingdings" panose="05000000000000000000" pitchFamily="2" charset="2"/>
                        <a:buChar char="Ø"/>
                      </a:pPr>
                      <a:r>
                        <a:rPr lang="en-US" sz="1600" dirty="0" smtClean="0">
                          <a:latin typeface="Arial" panose="020B0604020202020204" pitchFamily="34" charset="0"/>
                          <a:cs typeface="Arial" panose="020B0604020202020204" pitchFamily="34" charset="0"/>
                        </a:rPr>
                        <a:t>Create graph nodes (chunks)</a:t>
                      </a:r>
                    </a:p>
                    <a:p>
                      <a:pPr marL="742950" lvl="1" indent="-285750">
                        <a:buFont typeface="Wingdings" panose="05000000000000000000" pitchFamily="2" charset="2"/>
                        <a:buChar char="Ø"/>
                      </a:pPr>
                      <a:r>
                        <a:rPr lang="en-US" sz="1600" dirty="0" smtClean="0">
                          <a:latin typeface="Arial" panose="020B0604020202020204" pitchFamily="34" charset="0"/>
                          <a:cs typeface="Arial" panose="020B0604020202020204" pitchFamily="34" charset="0"/>
                        </a:rPr>
                        <a:t>Link them semantically</a:t>
                      </a:r>
                    </a:p>
                    <a:p>
                      <a:pPr marL="742950" lvl="1" indent="-285750">
                        <a:buFont typeface="Wingdings" panose="05000000000000000000" pitchFamily="2" charset="2"/>
                        <a:buChar char="Ø"/>
                      </a:pPr>
                      <a:r>
                        <a:rPr lang="en-US" sz="1600" dirty="0" smtClean="0">
                          <a:latin typeface="Arial" panose="020B0604020202020204" pitchFamily="34" charset="0"/>
                          <a:cs typeface="Arial" panose="020B0604020202020204" pitchFamily="34" charset="0"/>
                        </a:rPr>
                        <a:t>Better retrieval than simple chunks.</a:t>
                      </a:r>
                    </a:p>
                  </a:txBody>
                  <a:tcPr/>
                </a:tc>
                <a:extLst>
                  <a:ext uri="{0D108BD9-81ED-4DB2-BD59-A6C34878D82A}">
                    <a16:rowId xmlns:a16="http://schemas.microsoft.com/office/drawing/2014/main" val="2806885310"/>
                  </a:ext>
                </a:extLst>
              </a:tr>
              <a:tr h="370840">
                <a:tc>
                  <a:txBody>
                    <a:bodyPr/>
                    <a:lstStyle/>
                    <a:p>
                      <a:r>
                        <a:rPr lang="en-IN" sz="1600" b="1" smtClean="0">
                          <a:latin typeface="Arial" panose="020B0604020202020204" pitchFamily="34" charset="0"/>
                          <a:cs typeface="Arial" panose="020B0604020202020204" pitchFamily="34" charset="0"/>
                        </a:rPr>
                        <a:t>Example</a:t>
                      </a:r>
                      <a:endParaRPr lang="en-IN" sz="1600" dirty="0">
                        <a:latin typeface="Arial" panose="020B0604020202020204" pitchFamily="34" charset="0"/>
                        <a:cs typeface="Arial" panose="020B0604020202020204" pitchFamily="34" charset="0"/>
                      </a:endParaRPr>
                    </a:p>
                  </a:txBody>
                  <a:tcPr/>
                </a:tc>
                <a:tc>
                  <a:txBody>
                    <a:bodyPr/>
                    <a:lstStyle/>
                    <a:p>
                      <a:r>
                        <a:rPr lang="en-IN" sz="1600" dirty="0" smtClean="0">
                          <a:latin typeface="Arial" panose="020B0604020202020204" pitchFamily="34" charset="0"/>
                          <a:cs typeface="Arial" panose="020B0604020202020204" pitchFamily="34" charset="0"/>
                        </a:rPr>
                        <a:t>Nodes: {CPU}, {GPU}, {Tensor Core}</a:t>
                      </a:r>
                      <a:br>
                        <a:rPr lang="en-IN" sz="1600" dirty="0" smtClean="0">
                          <a:latin typeface="Arial" panose="020B0604020202020204" pitchFamily="34" charset="0"/>
                          <a:cs typeface="Arial" panose="020B0604020202020204" pitchFamily="34" charset="0"/>
                        </a:rPr>
                      </a:br>
                      <a:r>
                        <a:rPr lang="en-IN" sz="1600" dirty="0" smtClean="0">
                          <a:latin typeface="Arial" panose="020B0604020202020204" pitchFamily="34" charset="0"/>
                          <a:cs typeface="Arial" panose="020B0604020202020204" pitchFamily="34" charset="0"/>
                        </a:rPr>
                        <a:t>Edges: “GPU → contains → Tensor Core”</a:t>
                      </a:r>
                      <a:br>
                        <a:rPr lang="en-IN" sz="1600" dirty="0" smtClean="0">
                          <a:latin typeface="Arial" panose="020B0604020202020204" pitchFamily="34" charset="0"/>
                          <a:cs typeface="Arial" panose="020B0604020202020204" pitchFamily="34" charset="0"/>
                        </a:rPr>
                      </a:br>
                      <a:r>
                        <a:rPr lang="en-IN" sz="1600" dirty="0" smtClean="0">
                          <a:latin typeface="Arial" panose="020B0604020202020204" pitchFamily="34" charset="0"/>
                          <a:cs typeface="Arial" panose="020B0604020202020204" pitchFamily="34" charset="0"/>
                        </a:rPr>
                        <a:t>Query: “What is Tensor Core?”</a:t>
                      </a:r>
                      <a:br>
                        <a:rPr lang="en-IN" sz="1600" dirty="0" smtClean="0">
                          <a:latin typeface="Arial" panose="020B0604020202020204" pitchFamily="34" charset="0"/>
                          <a:cs typeface="Arial" panose="020B0604020202020204" pitchFamily="34" charset="0"/>
                        </a:rPr>
                      </a:br>
                      <a:r>
                        <a:rPr lang="en-IN" sz="1600" dirty="0" smtClean="0">
                          <a:latin typeface="Arial" panose="020B0604020202020204" pitchFamily="34" charset="0"/>
                          <a:cs typeface="Arial" panose="020B0604020202020204" pitchFamily="34" charset="0"/>
                        </a:rPr>
                        <a:t>Chunks: traverse GPU → Tensor Core.</a:t>
                      </a:r>
                      <a:endParaRPr lang="en-US"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209461921"/>
                  </a:ext>
                </a:extLst>
              </a:tr>
            </a:tbl>
          </a:graphicData>
        </a:graphic>
      </p:graphicFrame>
    </p:spTree>
    <p:extLst>
      <p:ext uri="{BB962C8B-B14F-4D97-AF65-F5344CB8AC3E}">
        <p14:creationId xmlns:p14="http://schemas.microsoft.com/office/powerpoint/2010/main" val="372489622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8672-BCCD-358E-1B1C-899E93B0C6D9}"/>
              </a:ext>
            </a:extLst>
          </p:cNvPr>
          <p:cNvSpPr>
            <a:spLocks noGrp="1"/>
          </p:cNvSpPr>
          <p:nvPr>
            <p:ph type="title"/>
          </p:nvPr>
        </p:nvSpPr>
        <p:spPr>
          <a:xfrm>
            <a:off x="762000" y="158194"/>
            <a:ext cx="10515600" cy="595418"/>
          </a:xfrm>
        </p:spPr>
        <p:txBody>
          <a:bodyPr>
            <a:normAutofit/>
          </a:bodyPr>
          <a:lstStyle/>
          <a:p>
            <a:pPr lvl="0" algn="ctr" eaLnBrk="0" fontAlgn="base" hangingPunct="0">
              <a:spcAft>
                <a:spcPct val="0"/>
              </a:spcAft>
            </a:pPr>
            <a:r>
              <a:rPr lang="en-US" altLang="en-US" sz="3200" b="1" dirty="0">
                <a:latin typeface="Arial" panose="020B0604020202020204" pitchFamily="34" charset="0"/>
                <a:cs typeface="Arial" panose="020B0604020202020204" pitchFamily="34" charset="0"/>
              </a:rPr>
              <a:t>Recommended Best </a:t>
            </a:r>
            <a:r>
              <a:rPr lang="en-US" altLang="en-US" sz="3200" b="1" dirty="0" smtClean="0">
                <a:latin typeface="Arial" panose="020B0604020202020204" pitchFamily="34" charset="0"/>
                <a:cs typeface="Arial" panose="020B0604020202020204" pitchFamily="34" charset="0"/>
              </a:rPr>
              <a:t>Practice</a:t>
            </a:r>
            <a:endParaRPr lang="en-US" altLang="en-US" sz="3200" b="1" dirty="0">
              <a:latin typeface="Arial" panose="020B0604020202020204" pitchFamily="34" charset="0"/>
              <a:cs typeface="Arial" panose="020B0604020202020204" pitchFamily="34" charset="0"/>
            </a:endParaRPr>
          </a:p>
        </p:txBody>
      </p:sp>
      <p:sp>
        <p:nvSpPr>
          <p:cNvPr id="5" name="Subtitle 2">
            <a:extLst>
              <a:ext uri="{FF2B5EF4-FFF2-40B4-BE49-F238E27FC236}">
                <a16:creationId xmlns:a16="http://schemas.microsoft.com/office/drawing/2014/main" id="{C611B996-6893-C9B0-E3A0-CA5FBBA2E16F}"/>
              </a:ext>
            </a:extLst>
          </p:cNvPr>
          <p:cNvSpPr txBox="1">
            <a:spLocks/>
          </p:cNvSpPr>
          <p:nvPr/>
        </p:nvSpPr>
        <p:spPr>
          <a:xfrm>
            <a:off x="699135" y="753612"/>
            <a:ext cx="10911840" cy="71323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fontAlgn="base"/>
            <a:endParaRPr lang="en-IN" sz="1400" b="1" dirty="0">
              <a:latin typeface="Arial" panose="020B0604020202020204" pitchFamily="34" charset="0"/>
              <a:cs typeface="Arial" panose="020B0604020202020204" pitchFamily="34" charset="0"/>
            </a:endParaRPr>
          </a:p>
        </p:txBody>
      </p:sp>
      <p:sp>
        <p:nvSpPr>
          <p:cNvPr id="4"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8" name="Rectangle 1"/>
          <p:cNvSpPr>
            <a:spLocks noChangeArrowheads="1"/>
          </p:cNvSpPr>
          <p:nvPr/>
        </p:nvSpPr>
        <p:spPr bwMode="auto">
          <a:xfrm>
            <a:off x="529802" y="1126800"/>
            <a:ext cx="10544597"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endParaRPr lang="en-US" altLang="en-US" b="1" dirty="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en-US" altLang="en-US" b="1" dirty="0" smtClean="0">
                <a:latin typeface="Arial" panose="020B0604020202020204" pitchFamily="34" charset="0"/>
                <a:cs typeface="Arial" panose="020B0604020202020204" pitchFamily="34" charset="0"/>
              </a:rPr>
              <a:t>Best </a:t>
            </a:r>
            <a:r>
              <a:rPr lang="en-US" altLang="en-US" b="1" dirty="0">
                <a:latin typeface="Arial" panose="020B0604020202020204" pitchFamily="34" charset="0"/>
                <a:cs typeface="Arial" panose="020B0604020202020204" pitchFamily="34" charset="0"/>
              </a:rPr>
              <a:t>2-Strategy Combo:</a:t>
            </a:r>
          </a:p>
          <a:p>
            <a:pPr marL="742950" lvl="1" indent="-28575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cs typeface="Arial" panose="020B0604020202020204" pitchFamily="34" charset="0"/>
              </a:rPr>
              <a:t>Semantic chunking + fixed-size hard limit</a:t>
            </a:r>
            <a:r>
              <a:rPr lang="en-US" altLang="en-US" dirty="0" smtClean="0">
                <a:latin typeface="Arial" panose="020B0604020202020204" pitchFamily="34" charset="0"/>
                <a:cs typeface="Arial" panose="020B0604020202020204" pitchFamily="34" charset="0"/>
              </a:rPr>
              <a:t>, This </a:t>
            </a:r>
            <a:r>
              <a:rPr lang="en-US" altLang="en-US" dirty="0">
                <a:latin typeface="Arial" panose="020B0604020202020204" pitchFamily="34" charset="0"/>
                <a:cs typeface="Arial" panose="020B0604020202020204" pitchFamily="34" charset="0"/>
              </a:rPr>
              <a:t>avoids over-large chunks when semantic similarity is high.</a:t>
            </a:r>
            <a:endParaRPr lang="en-US" altLang="en-US" b="1" dirty="0">
              <a:latin typeface="Arial" panose="020B0604020202020204" pitchFamily="34" charset="0"/>
              <a:cs typeface="Arial" panose="020B0604020202020204" pitchFamily="34" charset="0"/>
            </a:endParaRPr>
          </a:p>
          <a:p>
            <a:pPr lvl="0" eaLnBrk="0" fontAlgn="base" hangingPunct="0">
              <a:spcBef>
                <a:spcPct val="0"/>
              </a:spcBef>
              <a:spcAft>
                <a:spcPct val="0"/>
              </a:spcAft>
            </a:pPr>
            <a:endParaRPr lang="en-US" altLang="en-US" b="1" dirty="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en-US" altLang="en-US" b="1" dirty="0" smtClean="0">
                <a:latin typeface="Arial" panose="020B0604020202020204" pitchFamily="34" charset="0"/>
                <a:cs typeface="Arial" panose="020B0604020202020204" pitchFamily="34" charset="0"/>
              </a:rPr>
              <a:t>Best </a:t>
            </a:r>
            <a:r>
              <a:rPr lang="en-US" altLang="en-US" b="1" dirty="0">
                <a:latin typeface="Arial" panose="020B0604020202020204" pitchFamily="34" charset="0"/>
                <a:cs typeface="Arial" panose="020B0604020202020204" pitchFamily="34" charset="0"/>
              </a:rPr>
              <a:t>for production:</a:t>
            </a:r>
          </a:p>
          <a:p>
            <a:pPr marL="742950" lvl="1" indent="-28575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cs typeface="Arial" panose="020B0604020202020204" pitchFamily="34" charset="0"/>
              </a:rPr>
              <a:t>Structure-aware + semantic within sections</a:t>
            </a:r>
          </a:p>
          <a:p>
            <a:pPr lvl="0" eaLnBrk="0" fontAlgn="base" hangingPunct="0">
              <a:spcBef>
                <a:spcPct val="0"/>
              </a:spcBef>
              <a:spcAft>
                <a:spcPct val="0"/>
              </a:spcAft>
            </a:pPr>
            <a:endParaRPr lang="en-US" altLang="en-US" b="1" dirty="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en-US" altLang="en-US" b="1" dirty="0" smtClean="0">
                <a:latin typeface="Arial" panose="020B0604020202020204" pitchFamily="34" charset="0"/>
                <a:cs typeface="Arial" panose="020B0604020202020204" pitchFamily="34" charset="0"/>
              </a:rPr>
              <a:t>Best </a:t>
            </a:r>
            <a:r>
              <a:rPr lang="en-US" altLang="en-US" b="1" dirty="0">
                <a:latin typeface="Arial" panose="020B0604020202020204" pitchFamily="34" charset="0"/>
                <a:cs typeface="Arial" panose="020B0604020202020204" pitchFamily="34" charset="0"/>
              </a:rPr>
              <a:t>for chat-like data:</a:t>
            </a:r>
          </a:p>
          <a:p>
            <a:pPr marL="742950" lvl="1" indent="-28575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cs typeface="Arial" panose="020B0604020202020204" pitchFamily="34" charset="0"/>
              </a:rPr>
              <a:t>Overlapping sliding windows</a:t>
            </a:r>
          </a:p>
          <a:p>
            <a:pPr lvl="0" eaLnBrk="0" fontAlgn="base" hangingPunct="0">
              <a:spcBef>
                <a:spcPct val="0"/>
              </a:spcBef>
              <a:spcAft>
                <a:spcPct val="0"/>
              </a:spcAft>
            </a:pPr>
            <a:endParaRPr lang="en-US" altLang="en-US" b="1" dirty="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en-US" altLang="en-US" b="1" dirty="0" smtClean="0">
                <a:latin typeface="Arial" panose="020B0604020202020204" pitchFamily="34" charset="0"/>
                <a:cs typeface="Arial" panose="020B0604020202020204" pitchFamily="34" charset="0"/>
              </a:rPr>
              <a:t>Best </a:t>
            </a:r>
            <a:r>
              <a:rPr lang="en-US" altLang="en-US" b="1" dirty="0">
                <a:latin typeface="Arial" panose="020B0604020202020204" pitchFamily="34" charset="0"/>
                <a:cs typeface="Arial" panose="020B0604020202020204" pitchFamily="34" charset="0"/>
              </a:rPr>
              <a:t>for enterprise knowledge bases:</a:t>
            </a:r>
          </a:p>
          <a:p>
            <a:pPr marL="742950" lvl="1" indent="-285750" eaLnBrk="0" fontAlgn="base" hangingPunct="0">
              <a:spcBef>
                <a:spcPct val="0"/>
              </a:spcBef>
              <a:spcAft>
                <a:spcPct val="0"/>
              </a:spcAft>
              <a:buFont typeface="Arial" panose="020B0604020202020204" pitchFamily="34" charset="0"/>
              <a:buChar char="•"/>
            </a:pPr>
            <a:r>
              <a:rPr lang="en-US" altLang="en-US" dirty="0" err="1">
                <a:latin typeface="Arial" panose="020B0604020202020204" pitchFamily="34" charset="0"/>
                <a:cs typeface="Arial" panose="020B0604020202020204" pitchFamily="34" charset="0"/>
              </a:rPr>
              <a:t>GraphRAG</a:t>
            </a:r>
            <a:r>
              <a:rPr lang="en-US" altLang="en-US" dirty="0">
                <a:latin typeface="Arial" panose="020B0604020202020204" pitchFamily="34" charset="0"/>
                <a:cs typeface="Arial" panose="020B0604020202020204" pitchFamily="34" charset="0"/>
              </a:rPr>
              <a:t> (graph-based chunking)</a:t>
            </a:r>
          </a:p>
        </p:txBody>
      </p:sp>
    </p:spTree>
    <p:extLst>
      <p:ext uri="{BB962C8B-B14F-4D97-AF65-F5344CB8AC3E}">
        <p14:creationId xmlns:p14="http://schemas.microsoft.com/office/powerpoint/2010/main" val="18808154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8672-BCCD-358E-1B1C-899E93B0C6D9}"/>
              </a:ext>
            </a:extLst>
          </p:cNvPr>
          <p:cNvSpPr>
            <a:spLocks noGrp="1"/>
          </p:cNvSpPr>
          <p:nvPr>
            <p:ph type="title"/>
          </p:nvPr>
        </p:nvSpPr>
        <p:spPr>
          <a:xfrm>
            <a:off x="762000" y="158194"/>
            <a:ext cx="10515600" cy="595418"/>
          </a:xfrm>
        </p:spPr>
        <p:txBody>
          <a:bodyPr>
            <a:normAutofit/>
          </a:bodyPr>
          <a:lstStyle/>
          <a:p>
            <a:pPr algn="ctr" fontAlgn="base"/>
            <a:r>
              <a:rPr lang="en-IN" sz="3200" b="1" dirty="0" smtClean="0">
                <a:latin typeface="Arial" panose="020B0604020202020204" pitchFamily="34" charset="0"/>
                <a:cs typeface="Arial" panose="020B0604020202020204" pitchFamily="34" charset="0"/>
              </a:rPr>
              <a:t>Document Extraction Tools</a:t>
            </a:r>
            <a:endParaRPr lang="en-IN" sz="3200" b="1" dirty="0">
              <a:latin typeface="Arial" panose="020B0604020202020204" pitchFamily="34" charset="0"/>
              <a:cs typeface="Arial" panose="020B0604020202020204" pitchFamily="34" charset="0"/>
            </a:endParaRPr>
          </a:p>
        </p:txBody>
      </p:sp>
      <p:sp>
        <p:nvSpPr>
          <p:cNvPr id="5" name="Subtitle 2">
            <a:extLst>
              <a:ext uri="{FF2B5EF4-FFF2-40B4-BE49-F238E27FC236}">
                <a16:creationId xmlns:a16="http://schemas.microsoft.com/office/drawing/2014/main" id="{C611B996-6893-C9B0-E3A0-CA5FBBA2E16F}"/>
              </a:ext>
            </a:extLst>
          </p:cNvPr>
          <p:cNvSpPr txBox="1">
            <a:spLocks/>
          </p:cNvSpPr>
          <p:nvPr/>
        </p:nvSpPr>
        <p:spPr>
          <a:xfrm>
            <a:off x="699135" y="753612"/>
            <a:ext cx="10911840" cy="71323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fontAlgn="base"/>
            <a:endParaRPr lang="en-IN" sz="1400" b="1" dirty="0">
              <a:latin typeface="Arial" panose="020B0604020202020204" pitchFamily="34" charset="0"/>
              <a:cs typeface="Arial" panose="020B0604020202020204" pitchFamily="34" charset="0"/>
            </a:endParaRPr>
          </a:p>
        </p:txBody>
      </p:sp>
      <p:sp>
        <p:nvSpPr>
          <p:cNvPr id="4"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graphicFrame>
        <p:nvGraphicFramePr>
          <p:cNvPr id="3" name="Table 2"/>
          <p:cNvGraphicFramePr>
            <a:graphicFrameLocks noGrp="1"/>
          </p:cNvGraphicFramePr>
          <p:nvPr>
            <p:extLst>
              <p:ext uri="{D42A27DB-BD31-4B8C-83A1-F6EECF244321}">
                <p14:modId xmlns:p14="http://schemas.microsoft.com/office/powerpoint/2010/main" val="3944520911"/>
              </p:ext>
            </p:extLst>
          </p:nvPr>
        </p:nvGraphicFramePr>
        <p:xfrm>
          <a:off x="637589" y="1105246"/>
          <a:ext cx="10493472" cy="4912360"/>
        </p:xfrm>
        <a:graphic>
          <a:graphicData uri="http://schemas.openxmlformats.org/drawingml/2006/table">
            <a:tbl>
              <a:tblPr firstRow="1" bandRow="1">
                <a:tableStyleId>{073A0DAA-6AF3-43AB-8588-CEC1D06C72B9}</a:tableStyleId>
              </a:tblPr>
              <a:tblGrid>
                <a:gridCol w="2237496">
                  <a:extLst>
                    <a:ext uri="{9D8B030D-6E8A-4147-A177-3AD203B41FA5}">
                      <a16:colId xmlns:a16="http://schemas.microsoft.com/office/drawing/2014/main" val="2565250339"/>
                    </a:ext>
                  </a:extLst>
                </a:gridCol>
                <a:gridCol w="3009240">
                  <a:extLst>
                    <a:ext uri="{9D8B030D-6E8A-4147-A177-3AD203B41FA5}">
                      <a16:colId xmlns:a16="http://schemas.microsoft.com/office/drawing/2014/main" val="552841662"/>
                    </a:ext>
                  </a:extLst>
                </a:gridCol>
                <a:gridCol w="2623368">
                  <a:extLst>
                    <a:ext uri="{9D8B030D-6E8A-4147-A177-3AD203B41FA5}">
                      <a16:colId xmlns:a16="http://schemas.microsoft.com/office/drawing/2014/main" val="1686575099"/>
                    </a:ext>
                  </a:extLst>
                </a:gridCol>
                <a:gridCol w="2623368">
                  <a:extLst>
                    <a:ext uri="{9D8B030D-6E8A-4147-A177-3AD203B41FA5}">
                      <a16:colId xmlns:a16="http://schemas.microsoft.com/office/drawing/2014/main" val="3743726499"/>
                    </a:ext>
                  </a:extLst>
                </a:gridCol>
              </a:tblGrid>
              <a:tr h="370840">
                <a:tc>
                  <a:txBody>
                    <a:bodyPr/>
                    <a:lstStyle/>
                    <a:p>
                      <a:r>
                        <a:rPr lang="en-IN" sz="1600" dirty="0">
                          <a:latin typeface="Arial" panose="020B0604020202020204" pitchFamily="34" charset="0"/>
                          <a:cs typeface="Arial" panose="020B0604020202020204" pitchFamily="34" charset="0"/>
                        </a:rPr>
                        <a:t>Feature / Tool</a:t>
                      </a:r>
                    </a:p>
                  </a:txBody>
                  <a:tcPr anchor="ctr"/>
                </a:tc>
                <a:tc>
                  <a:txBody>
                    <a:bodyPr/>
                    <a:lstStyle/>
                    <a:p>
                      <a:r>
                        <a:rPr lang="en-IN" sz="1600">
                          <a:latin typeface="Arial" panose="020B0604020202020204" pitchFamily="34" charset="0"/>
                          <a:cs typeface="Arial" panose="020B0604020202020204" pitchFamily="34" charset="0"/>
                        </a:rPr>
                        <a:t>PyMuPDF</a:t>
                      </a:r>
                    </a:p>
                  </a:txBody>
                  <a:tcPr anchor="ctr"/>
                </a:tc>
                <a:tc>
                  <a:txBody>
                    <a:bodyPr/>
                    <a:lstStyle/>
                    <a:p>
                      <a:r>
                        <a:rPr lang="en-IN" sz="1600">
                          <a:latin typeface="Arial" panose="020B0604020202020204" pitchFamily="34" charset="0"/>
                          <a:cs typeface="Arial" panose="020B0604020202020204" pitchFamily="34" charset="0"/>
                        </a:rPr>
                        <a:t>Docling (NVIDIA)</a:t>
                      </a:r>
                    </a:p>
                  </a:txBody>
                  <a:tcPr anchor="ctr"/>
                </a:tc>
                <a:tc>
                  <a:txBody>
                    <a:bodyPr/>
                    <a:lstStyle/>
                    <a:p>
                      <a:r>
                        <a:rPr lang="en-IN" sz="1600">
                          <a:latin typeface="Arial" panose="020B0604020202020204" pitchFamily="34" charset="0"/>
                          <a:cs typeface="Arial" panose="020B0604020202020204" pitchFamily="34" charset="0"/>
                        </a:rPr>
                        <a:t>Azure Document Intelligence</a:t>
                      </a:r>
                    </a:p>
                  </a:txBody>
                  <a:tcPr anchor="ctr"/>
                </a:tc>
                <a:extLst>
                  <a:ext uri="{0D108BD9-81ED-4DB2-BD59-A6C34878D82A}">
                    <a16:rowId xmlns:a16="http://schemas.microsoft.com/office/drawing/2014/main" val="160984955"/>
                  </a:ext>
                </a:extLst>
              </a:tr>
              <a:tr h="370840">
                <a:tc>
                  <a:txBody>
                    <a:bodyPr/>
                    <a:lstStyle/>
                    <a:p>
                      <a:r>
                        <a:rPr lang="en-IN" sz="1600">
                          <a:latin typeface="Arial" panose="020B0604020202020204" pitchFamily="34" charset="0"/>
                          <a:cs typeface="Arial" panose="020B0604020202020204" pitchFamily="34" charset="0"/>
                        </a:rPr>
                        <a:t>Type</a:t>
                      </a:r>
                    </a:p>
                  </a:txBody>
                  <a:tcPr anchor="ctr"/>
                </a:tc>
                <a:tc>
                  <a:txBody>
                    <a:bodyPr/>
                    <a:lstStyle/>
                    <a:p>
                      <a:r>
                        <a:rPr lang="en-IN" sz="1600">
                          <a:latin typeface="Arial" panose="020B0604020202020204" pitchFamily="34" charset="0"/>
                          <a:cs typeface="Arial" panose="020B0604020202020204" pitchFamily="34" charset="0"/>
                        </a:rPr>
                        <a:t>Local parser</a:t>
                      </a:r>
                    </a:p>
                  </a:txBody>
                  <a:tcPr anchor="ctr"/>
                </a:tc>
                <a:tc>
                  <a:txBody>
                    <a:bodyPr/>
                    <a:lstStyle/>
                    <a:p>
                      <a:r>
                        <a:rPr lang="en-IN" sz="1600">
                          <a:latin typeface="Arial" panose="020B0604020202020204" pitchFamily="34" charset="0"/>
                          <a:cs typeface="Arial" panose="020B0604020202020204" pitchFamily="34" charset="0"/>
                        </a:rPr>
                        <a:t>AI-powered layout + OCR</a:t>
                      </a:r>
                    </a:p>
                  </a:txBody>
                  <a:tcPr anchor="ctr"/>
                </a:tc>
                <a:tc>
                  <a:txBody>
                    <a:bodyPr/>
                    <a:lstStyle/>
                    <a:p>
                      <a:r>
                        <a:rPr lang="en-IN" sz="1600">
                          <a:latin typeface="Arial" panose="020B0604020202020204" pitchFamily="34" charset="0"/>
                          <a:cs typeface="Arial" panose="020B0604020202020204" pitchFamily="34" charset="0"/>
                        </a:rPr>
                        <a:t>Cloud OCR + Document AI</a:t>
                      </a:r>
                    </a:p>
                  </a:txBody>
                  <a:tcPr anchor="ctr"/>
                </a:tc>
                <a:extLst>
                  <a:ext uri="{0D108BD9-81ED-4DB2-BD59-A6C34878D82A}">
                    <a16:rowId xmlns:a16="http://schemas.microsoft.com/office/drawing/2014/main" val="3128558589"/>
                  </a:ext>
                </a:extLst>
              </a:tr>
              <a:tr h="370840">
                <a:tc>
                  <a:txBody>
                    <a:bodyPr/>
                    <a:lstStyle/>
                    <a:p>
                      <a:r>
                        <a:rPr lang="en-IN" sz="1600">
                          <a:latin typeface="Arial" panose="020B0604020202020204" pitchFamily="34" charset="0"/>
                          <a:cs typeface="Arial" panose="020B0604020202020204" pitchFamily="34" charset="0"/>
                        </a:rPr>
                        <a:t>Extraction</a:t>
                      </a:r>
                    </a:p>
                  </a:txBody>
                  <a:tcPr anchor="ctr"/>
                </a:tc>
                <a:tc>
                  <a:txBody>
                    <a:bodyPr/>
                    <a:lstStyle/>
                    <a:p>
                      <a:r>
                        <a:rPr lang="en-IN" sz="1600">
                          <a:latin typeface="Arial" panose="020B0604020202020204" pitchFamily="34" charset="0"/>
                          <a:cs typeface="Arial" panose="020B0604020202020204" pitchFamily="34" charset="0"/>
                        </a:rPr>
                        <a:t>Raw text + coords</a:t>
                      </a:r>
                    </a:p>
                  </a:txBody>
                  <a:tcPr anchor="ctr"/>
                </a:tc>
                <a:tc>
                  <a:txBody>
                    <a:bodyPr/>
                    <a:lstStyle/>
                    <a:p>
                      <a:r>
                        <a:rPr lang="en-IN" sz="1600">
                          <a:latin typeface="Arial" panose="020B0604020202020204" pitchFamily="34" charset="0"/>
                          <a:cs typeface="Arial" panose="020B0604020202020204" pitchFamily="34" charset="0"/>
                        </a:rPr>
                        <a:t>Structured MD/HTML/JSON</a:t>
                      </a:r>
                    </a:p>
                  </a:txBody>
                  <a:tcPr anchor="ctr"/>
                </a:tc>
                <a:tc>
                  <a:txBody>
                    <a:bodyPr/>
                    <a:lstStyle/>
                    <a:p>
                      <a:r>
                        <a:rPr lang="en-IN" sz="1600">
                          <a:latin typeface="Arial" panose="020B0604020202020204" pitchFamily="34" charset="0"/>
                          <a:cs typeface="Arial" panose="020B0604020202020204" pitchFamily="34" charset="0"/>
                        </a:rPr>
                        <a:t>Structured JSON</a:t>
                      </a:r>
                    </a:p>
                  </a:txBody>
                  <a:tcPr anchor="ctr"/>
                </a:tc>
                <a:extLst>
                  <a:ext uri="{0D108BD9-81ED-4DB2-BD59-A6C34878D82A}">
                    <a16:rowId xmlns:a16="http://schemas.microsoft.com/office/drawing/2014/main" val="2568262701"/>
                  </a:ext>
                </a:extLst>
              </a:tr>
              <a:tr h="370840">
                <a:tc>
                  <a:txBody>
                    <a:bodyPr/>
                    <a:lstStyle/>
                    <a:p>
                      <a:r>
                        <a:rPr lang="en-IN" sz="1600">
                          <a:latin typeface="Arial" panose="020B0604020202020204" pitchFamily="34" charset="0"/>
                          <a:cs typeface="Arial" panose="020B0604020202020204" pitchFamily="34" charset="0"/>
                        </a:rPr>
                        <a:t>Table extraction</a:t>
                      </a:r>
                    </a:p>
                  </a:txBody>
                  <a:tcPr anchor="ctr"/>
                </a:tc>
                <a:tc>
                  <a:txBody>
                    <a:bodyPr/>
                    <a:lstStyle/>
                    <a:p>
                      <a:r>
                        <a:rPr lang="en-IN" sz="1600">
                          <a:latin typeface="Arial" panose="020B0604020202020204" pitchFamily="34" charset="0"/>
                          <a:cs typeface="Arial" panose="020B0604020202020204" pitchFamily="34" charset="0"/>
                        </a:rPr>
                        <a:t>Manual</a:t>
                      </a:r>
                    </a:p>
                  </a:txBody>
                  <a:tcPr anchor="ctr"/>
                </a:tc>
                <a:tc>
                  <a:txBody>
                    <a:bodyPr/>
                    <a:lstStyle/>
                    <a:p>
                      <a:r>
                        <a:rPr lang="en-IN" sz="1600">
                          <a:latin typeface="Arial" panose="020B0604020202020204" pitchFamily="34" charset="0"/>
                          <a:cs typeface="Arial" panose="020B0604020202020204" pitchFamily="34" charset="0"/>
                        </a:rPr>
                        <a:t>✔ Very strong</a:t>
                      </a:r>
                    </a:p>
                  </a:txBody>
                  <a:tcPr anchor="ctr"/>
                </a:tc>
                <a:tc>
                  <a:txBody>
                    <a:bodyPr/>
                    <a:lstStyle/>
                    <a:p>
                      <a:r>
                        <a:rPr lang="en-IN" sz="1600">
                          <a:latin typeface="Arial" panose="020B0604020202020204" pitchFamily="34" charset="0"/>
                          <a:cs typeface="Arial" panose="020B0604020202020204" pitchFamily="34" charset="0"/>
                        </a:rPr>
                        <a:t>✔ Very strong</a:t>
                      </a:r>
                    </a:p>
                  </a:txBody>
                  <a:tcPr anchor="ctr"/>
                </a:tc>
                <a:extLst>
                  <a:ext uri="{0D108BD9-81ED-4DB2-BD59-A6C34878D82A}">
                    <a16:rowId xmlns:a16="http://schemas.microsoft.com/office/drawing/2014/main" val="2747003700"/>
                  </a:ext>
                </a:extLst>
              </a:tr>
              <a:tr h="370840">
                <a:tc>
                  <a:txBody>
                    <a:bodyPr/>
                    <a:lstStyle/>
                    <a:p>
                      <a:r>
                        <a:rPr lang="en-IN" sz="1600">
                          <a:latin typeface="Arial" panose="020B0604020202020204" pitchFamily="34" charset="0"/>
                          <a:cs typeface="Arial" panose="020B0604020202020204" pitchFamily="34" charset="0"/>
                        </a:rPr>
                        <a:t>OCR</a:t>
                      </a:r>
                    </a:p>
                  </a:txBody>
                  <a:tcPr anchor="ctr"/>
                </a:tc>
                <a:tc>
                  <a:txBody>
                    <a:bodyPr/>
                    <a:lstStyle/>
                    <a:p>
                      <a:r>
                        <a:rPr lang="en-IN" sz="1600">
                          <a:latin typeface="Arial" panose="020B0604020202020204" pitchFamily="34" charset="0"/>
                          <a:cs typeface="Arial" panose="020B0604020202020204" pitchFamily="34" charset="0"/>
                        </a:rPr>
                        <a:t>❌ No</a:t>
                      </a:r>
                    </a:p>
                  </a:txBody>
                  <a:tcPr anchor="ctr"/>
                </a:tc>
                <a:tc>
                  <a:txBody>
                    <a:bodyPr/>
                    <a:lstStyle/>
                    <a:p>
                      <a:r>
                        <a:rPr lang="en-IN" sz="1600">
                          <a:latin typeface="Arial" panose="020B0604020202020204" pitchFamily="34" charset="0"/>
                          <a:cs typeface="Arial" panose="020B0604020202020204" pitchFamily="34" charset="0"/>
                        </a:rPr>
                        <a:t>✔ Yes</a:t>
                      </a:r>
                    </a:p>
                  </a:txBody>
                  <a:tcPr anchor="ctr"/>
                </a:tc>
                <a:tc>
                  <a:txBody>
                    <a:bodyPr/>
                    <a:lstStyle/>
                    <a:p>
                      <a:r>
                        <a:rPr lang="en-IN" sz="1600">
                          <a:latin typeface="Arial" panose="020B0604020202020204" pitchFamily="34" charset="0"/>
                          <a:cs typeface="Arial" panose="020B0604020202020204" pitchFamily="34" charset="0"/>
                        </a:rPr>
                        <a:t>✔ Yes</a:t>
                      </a:r>
                    </a:p>
                  </a:txBody>
                  <a:tcPr anchor="ctr"/>
                </a:tc>
                <a:extLst>
                  <a:ext uri="{0D108BD9-81ED-4DB2-BD59-A6C34878D82A}">
                    <a16:rowId xmlns:a16="http://schemas.microsoft.com/office/drawing/2014/main" val="956179796"/>
                  </a:ext>
                </a:extLst>
              </a:tr>
              <a:tr h="370840">
                <a:tc>
                  <a:txBody>
                    <a:bodyPr/>
                    <a:lstStyle/>
                    <a:p>
                      <a:r>
                        <a:rPr lang="en-IN" sz="1600">
                          <a:latin typeface="Arial" panose="020B0604020202020204" pitchFamily="34" charset="0"/>
                          <a:cs typeface="Arial" panose="020B0604020202020204" pitchFamily="34" charset="0"/>
                        </a:rPr>
                        <a:t>Layout detection</a:t>
                      </a:r>
                    </a:p>
                  </a:txBody>
                  <a:tcPr anchor="ctr"/>
                </a:tc>
                <a:tc>
                  <a:txBody>
                    <a:bodyPr/>
                    <a:lstStyle/>
                    <a:p>
                      <a:r>
                        <a:rPr lang="en-IN" sz="1600">
                          <a:latin typeface="Arial" panose="020B0604020202020204" pitchFamily="34" charset="0"/>
                          <a:cs typeface="Arial" panose="020B0604020202020204" pitchFamily="34" charset="0"/>
                        </a:rPr>
                        <a:t>❌ Basic</a:t>
                      </a:r>
                    </a:p>
                  </a:txBody>
                  <a:tcPr anchor="ctr"/>
                </a:tc>
                <a:tc>
                  <a:txBody>
                    <a:bodyPr/>
                    <a:lstStyle/>
                    <a:p>
                      <a:r>
                        <a:rPr lang="en-IN" sz="1600">
                          <a:latin typeface="Arial" panose="020B0604020202020204" pitchFamily="34" charset="0"/>
                          <a:cs typeface="Arial" panose="020B0604020202020204" pitchFamily="34" charset="0"/>
                        </a:rPr>
                        <a:t>✔ Strong AI</a:t>
                      </a:r>
                    </a:p>
                  </a:txBody>
                  <a:tcPr anchor="ctr"/>
                </a:tc>
                <a:tc>
                  <a:txBody>
                    <a:bodyPr/>
                    <a:lstStyle/>
                    <a:p>
                      <a:r>
                        <a:rPr lang="en-IN" sz="1600">
                          <a:latin typeface="Arial" panose="020B0604020202020204" pitchFamily="34" charset="0"/>
                          <a:cs typeface="Arial" panose="020B0604020202020204" pitchFamily="34" charset="0"/>
                        </a:rPr>
                        <a:t>✔ Strong AI</a:t>
                      </a:r>
                    </a:p>
                  </a:txBody>
                  <a:tcPr anchor="ctr"/>
                </a:tc>
                <a:extLst>
                  <a:ext uri="{0D108BD9-81ED-4DB2-BD59-A6C34878D82A}">
                    <a16:rowId xmlns:a16="http://schemas.microsoft.com/office/drawing/2014/main" val="1225430598"/>
                  </a:ext>
                </a:extLst>
              </a:tr>
              <a:tr h="370840">
                <a:tc>
                  <a:txBody>
                    <a:bodyPr/>
                    <a:lstStyle/>
                    <a:p>
                      <a:r>
                        <a:rPr lang="en-IN" sz="1600">
                          <a:latin typeface="Arial" panose="020B0604020202020204" pitchFamily="34" charset="0"/>
                          <a:cs typeface="Arial" panose="020B0604020202020204" pitchFamily="34" charset="0"/>
                        </a:rPr>
                        <a:t>Hierarchy reconstruction</a:t>
                      </a:r>
                    </a:p>
                  </a:txBody>
                  <a:tcPr anchor="ctr"/>
                </a:tc>
                <a:tc>
                  <a:txBody>
                    <a:bodyPr/>
                    <a:lstStyle/>
                    <a:p>
                      <a:r>
                        <a:rPr lang="en-IN" sz="1600">
                          <a:latin typeface="Arial" panose="020B0604020202020204" pitchFamily="34" charset="0"/>
                          <a:cs typeface="Arial" panose="020B0604020202020204" pitchFamily="34" charset="0"/>
                        </a:rPr>
                        <a:t>❌ No</a:t>
                      </a:r>
                    </a:p>
                  </a:txBody>
                  <a:tcPr anchor="ctr"/>
                </a:tc>
                <a:tc>
                  <a:txBody>
                    <a:bodyPr/>
                    <a:lstStyle/>
                    <a:p>
                      <a:r>
                        <a:rPr lang="en-IN" sz="1600">
                          <a:latin typeface="Arial" panose="020B0604020202020204" pitchFamily="34" charset="0"/>
                          <a:cs typeface="Arial" panose="020B0604020202020204" pitchFamily="34" charset="0"/>
                        </a:rPr>
                        <a:t>✔ Yes</a:t>
                      </a:r>
                    </a:p>
                  </a:txBody>
                  <a:tcPr anchor="ctr"/>
                </a:tc>
                <a:tc>
                  <a:txBody>
                    <a:bodyPr/>
                    <a:lstStyle/>
                    <a:p>
                      <a:r>
                        <a:rPr lang="en-IN" sz="1600">
                          <a:latin typeface="Arial" panose="020B0604020202020204" pitchFamily="34" charset="0"/>
                          <a:cs typeface="Arial" panose="020B0604020202020204" pitchFamily="34" charset="0"/>
                        </a:rPr>
                        <a:t>✔ Yes</a:t>
                      </a:r>
                    </a:p>
                  </a:txBody>
                  <a:tcPr anchor="ctr"/>
                </a:tc>
                <a:extLst>
                  <a:ext uri="{0D108BD9-81ED-4DB2-BD59-A6C34878D82A}">
                    <a16:rowId xmlns:a16="http://schemas.microsoft.com/office/drawing/2014/main" val="2740103896"/>
                  </a:ext>
                </a:extLst>
              </a:tr>
              <a:tr h="370840">
                <a:tc>
                  <a:txBody>
                    <a:bodyPr/>
                    <a:lstStyle/>
                    <a:p>
                      <a:r>
                        <a:rPr lang="en-IN" sz="1600">
                          <a:latin typeface="Arial" panose="020B0604020202020204" pitchFamily="34" charset="0"/>
                          <a:cs typeface="Arial" panose="020B0604020202020204" pitchFamily="34" charset="0"/>
                        </a:rPr>
                        <a:t>Ideal for</a:t>
                      </a:r>
                    </a:p>
                  </a:txBody>
                  <a:tcPr anchor="ctr"/>
                </a:tc>
                <a:tc>
                  <a:txBody>
                    <a:bodyPr/>
                    <a:lstStyle/>
                    <a:p>
                      <a:r>
                        <a:rPr lang="en-IN" sz="1600">
                          <a:latin typeface="Arial" panose="020B0604020202020204" pitchFamily="34" charset="0"/>
                          <a:cs typeface="Arial" panose="020B0604020202020204" pitchFamily="34" charset="0"/>
                        </a:rPr>
                        <a:t>Clean PDFs</a:t>
                      </a:r>
                    </a:p>
                  </a:txBody>
                  <a:tcPr anchor="ctr"/>
                </a:tc>
                <a:tc>
                  <a:txBody>
                    <a:bodyPr/>
                    <a:lstStyle/>
                    <a:p>
                      <a:r>
                        <a:rPr lang="en-IN" sz="1600">
                          <a:latin typeface="Arial" panose="020B0604020202020204" pitchFamily="34" charset="0"/>
                          <a:cs typeface="Arial" panose="020B0604020202020204" pitchFamily="34" charset="0"/>
                        </a:rPr>
                        <a:t>RAG / Scientific PDFs</a:t>
                      </a:r>
                    </a:p>
                  </a:txBody>
                  <a:tcPr anchor="ctr"/>
                </a:tc>
                <a:tc>
                  <a:txBody>
                    <a:bodyPr/>
                    <a:lstStyle/>
                    <a:p>
                      <a:r>
                        <a:rPr lang="en-IN" sz="1600">
                          <a:latin typeface="Arial" panose="020B0604020202020204" pitchFamily="34" charset="0"/>
                          <a:cs typeface="Arial" panose="020B0604020202020204" pitchFamily="34" charset="0"/>
                        </a:rPr>
                        <a:t>Forms, receipts, enterprise docs</a:t>
                      </a:r>
                    </a:p>
                  </a:txBody>
                  <a:tcPr anchor="ctr"/>
                </a:tc>
                <a:extLst>
                  <a:ext uri="{0D108BD9-81ED-4DB2-BD59-A6C34878D82A}">
                    <a16:rowId xmlns:a16="http://schemas.microsoft.com/office/drawing/2014/main" val="574982297"/>
                  </a:ext>
                </a:extLst>
              </a:tr>
              <a:tr h="370840">
                <a:tc>
                  <a:txBody>
                    <a:bodyPr/>
                    <a:lstStyle/>
                    <a:p>
                      <a:r>
                        <a:rPr lang="en-IN" sz="1600">
                          <a:latin typeface="Arial" panose="020B0604020202020204" pitchFamily="34" charset="0"/>
                          <a:cs typeface="Arial" panose="020B0604020202020204" pitchFamily="34" charset="0"/>
                        </a:rPr>
                        <a:t>Speed</a:t>
                      </a:r>
                    </a:p>
                  </a:txBody>
                  <a:tcPr anchor="ctr"/>
                </a:tc>
                <a:tc>
                  <a:txBody>
                    <a:bodyPr/>
                    <a:lstStyle/>
                    <a:p>
                      <a:r>
                        <a:rPr lang="en-IN" sz="1600">
                          <a:latin typeface="Arial" panose="020B0604020202020204" pitchFamily="34" charset="0"/>
                          <a:cs typeface="Arial" panose="020B0604020202020204" pitchFamily="34" charset="0"/>
                        </a:rPr>
                        <a:t>⚡ Fast</a:t>
                      </a:r>
                    </a:p>
                  </a:txBody>
                  <a:tcPr anchor="ctr"/>
                </a:tc>
                <a:tc>
                  <a:txBody>
                    <a:bodyPr/>
                    <a:lstStyle/>
                    <a:p>
                      <a:r>
                        <a:rPr lang="en-IN" sz="1600">
                          <a:latin typeface="Arial" panose="020B0604020202020204" pitchFamily="34" charset="0"/>
                          <a:cs typeface="Arial" panose="020B0604020202020204" pitchFamily="34" charset="0"/>
                        </a:rPr>
                        <a:t>Medium</a:t>
                      </a:r>
                    </a:p>
                  </a:txBody>
                  <a:tcPr anchor="ctr"/>
                </a:tc>
                <a:tc>
                  <a:txBody>
                    <a:bodyPr/>
                    <a:lstStyle/>
                    <a:p>
                      <a:r>
                        <a:rPr lang="en-IN" sz="1600">
                          <a:latin typeface="Arial" panose="020B0604020202020204" pitchFamily="34" charset="0"/>
                          <a:cs typeface="Arial" panose="020B0604020202020204" pitchFamily="34" charset="0"/>
                        </a:rPr>
                        <a:t>Medium</a:t>
                      </a:r>
                    </a:p>
                  </a:txBody>
                  <a:tcPr anchor="ctr"/>
                </a:tc>
                <a:extLst>
                  <a:ext uri="{0D108BD9-81ED-4DB2-BD59-A6C34878D82A}">
                    <a16:rowId xmlns:a16="http://schemas.microsoft.com/office/drawing/2014/main" val="77661919"/>
                  </a:ext>
                </a:extLst>
              </a:tr>
              <a:tr h="370840">
                <a:tc>
                  <a:txBody>
                    <a:bodyPr/>
                    <a:lstStyle/>
                    <a:p>
                      <a:r>
                        <a:rPr lang="en-IN" sz="1600">
                          <a:latin typeface="Arial" panose="020B0604020202020204" pitchFamily="34" charset="0"/>
                          <a:cs typeface="Arial" panose="020B0604020202020204" pitchFamily="34" charset="0"/>
                        </a:rPr>
                        <a:t>Cost</a:t>
                      </a:r>
                    </a:p>
                  </a:txBody>
                  <a:tcPr anchor="ctr"/>
                </a:tc>
                <a:tc>
                  <a:txBody>
                    <a:bodyPr/>
                    <a:lstStyle/>
                    <a:p>
                      <a:r>
                        <a:rPr lang="en-IN" sz="1600">
                          <a:latin typeface="Arial" panose="020B0604020202020204" pitchFamily="34" charset="0"/>
                          <a:cs typeface="Arial" panose="020B0604020202020204" pitchFamily="34" charset="0"/>
                        </a:rPr>
                        <a:t>Free</a:t>
                      </a:r>
                    </a:p>
                  </a:txBody>
                  <a:tcPr anchor="ctr"/>
                </a:tc>
                <a:tc>
                  <a:txBody>
                    <a:bodyPr/>
                    <a:lstStyle/>
                    <a:p>
                      <a:r>
                        <a:rPr lang="en-IN" sz="1600">
                          <a:latin typeface="Arial" panose="020B0604020202020204" pitchFamily="34" charset="0"/>
                          <a:cs typeface="Arial" panose="020B0604020202020204" pitchFamily="34" charset="0"/>
                        </a:rPr>
                        <a:t>Free</a:t>
                      </a:r>
                    </a:p>
                  </a:txBody>
                  <a:tcPr anchor="ctr"/>
                </a:tc>
                <a:tc>
                  <a:txBody>
                    <a:bodyPr/>
                    <a:lstStyle/>
                    <a:p>
                      <a:r>
                        <a:rPr lang="en-IN" sz="1600">
                          <a:latin typeface="Arial" panose="020B0604020202020204" pitchFamily="34" charset="0"/>
                          <a:cs typeface="Arial" panose="020B0604020202020204" pitchFamily="34" charset="0"/>
                        </a:rPr>
                        <a:t>Paid (usage-based)</a:t>
                      </a:r>
                    </a:p>
                  </a:txBody>
                  <a:tcPr anchor="ctr"/>
                </a:tc>
                <a:extLst>
                  <a:ext uri="{0D108BD9-81ED-4DB2-BD59-A6C34878D82A}">
                    <a16:rowId xmlns:a16="http://schemas.microsoft.com/office/drawing/2014/main" val="2118915206"/>
                  </a:ext>
                </a:extLst>
              </a:tr>
              <a:tr h="370840">
                <a:tc>
                  <a:txBody>
                    <a:bodyPr/>
                    <a:lstStyle/>
                    <a:p>
                      <a:r>
                        <a:rPr lang="en-IN" sz="1600">
                          <a:latin typeface="Arial" panose="020B0604020202020204" pitchFamily="34" charset="0"/>
                          <a:cs typeface="Arial" panose="020B0604020202020204" pitchFamily="34" charset="0"/>
                        </a:rPr>
                        <a:t>Customizable</a:t>
                      </a:r>
                    </a:p>
                  </a:txBody>
                  <a:tcPr anchor="ctr"/>
                </a:tc>
                <a:tc>
                  <a:txBody>
                    <a:bodyPr/>
                    <a:lstStyle/>
                    <a:p>
                      <a:r>
                        <a:rPr lang="en-IN" sz="1600">
                          <a:latin typeface="Arial" panose="020B0604020202020204" pitchFamily="34" charset="0"/>
                          <a:cs typeface="Arial" panose="020B0604020202020204" pitchFamily="34" charset="0"/>
                        </a:rPr>
                        <a:t>High</a:t>
                      </a:r>
                    </a:p>
                  </a:txBody>
                  <a:tcPr anchor="ctr"/>
                </a:tc>
                <a:tc>
                  <a:txBody>
                    <a:bodyPr/>
                    <a:lstStyle/>
                    <a:p>
                      <a:r>
                        <a:rPr lang="en-IN" sz="1600">
                          <a:latin typeface="Arial" panose="020B0604020202020204" pitchFamily="34" charset="0"/>
                          <a:cs typeface="Arial" panose="020B0604020202020204" pitchFamily="34" charset="0"/>
                        </a:rPr>
                        <a:t>Very high</a:t>
                      </a:r>
                    </a:p>
                  </a:txBody>
                  <a:tcPr anchor="ctr"/>
                </a:tc>
                <a:tc>
                  <a:txBody>
                    <a:bodyPr/>
                    <a:lstStyle/>
                    <a:p>
                      <a:r>
                        <a:rPr lang="en-IN" sz="1600" dirty="0">
                          <a:latin typeface="Arial" panose="020B0604020202020204" pitchFamily="34" charset="0"/>
                          <a:cs typeface="Arial" panose="020B0604020202020204" pitchFamily="34" charset="0"/>
                        </a:rPr>
                        <a:t>Medium</a:t>
                      </a:r>
                    </a:p>
                  </a:txBody>
                  <a:tcPr anchor="ctr"/>
                </a:tc>
                <a:extLst>
                  <a:ext uri="{0D108BD9-81ED-4DB2-BD59-A6C34878D82A}">
                    <a16:rowId xmlns:a16="http://schemas.microsoft.com/office/drawing/2014/main" val="189677089"/>
                  </a:ext>
                </a:extLst>
              </a:tr>
            </a:tbl>
          </a:graphicData>
        </a:graphic>
      </p:graphicFrame>
    </p:spTree>
    <p:extLst>
      <p:ext uri="{BB962C8B-B14F-4D97-AF65-F5344CB8AC3E}">
        <p14:creationId xmlns:p14="http://schemas.microsoft.com/office/powerpoint/2010/main" val="403834512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ADCAF8-8823-4E89-8612-21029831A4B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8CA07B2-0819-4B62-9425-7A52BBDD707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grpSp>
        <p:nvGrpSpPr>
          <p:cNvPr id="13" name="Group 12">
            <a:extLst>
              <a:ext uri="{FF2B5EF4-FFF2-40B4-BE49-F238E27FC236}">
                <a16:creationId xmlns:a16="http://schemas.microsoft.com/office/drawing/2014/main" id="{DA02BEE4-A5D4-40AF-882D-49D34B086FFF}"/>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p:grpSpPr>
        <p:sp>
          <p:nvSpPr>
            <p:cNvPr id="14" name="Freeform: Shape 13">
              <a:extLst>
                <a:ext uri="{FF2B5EF4-FFF2-40B4-BE49-F238E27FC236}">
                  <a16:creationId xmlns:a16="http://schemas.microsoft.com/office/drawing/2014/main" id="{0F5843EB-154F-4459-8954-BB1DF64BBD13}"/>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75905135-55D9-431B-8D5A-4C5C92B1FED7}"/>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Shape 5">
              <a:extLst>
                <a:ext uri="{FF2B5EF4-FFF2-40B4-BE49-F238E27FC236}">
                  <a16:creationId xmlns:a16="http://schemas.microsoft.com/office/drawing/2014/main" id="{9B732812-A0BB-4324-B390-DFEF26C109E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01FEC055-6F76-4E20-BC93-76C2F58EAF38}"/>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Shape 7">
              <a:extLst>
                <a:ext uri="{FF2B5EF4-FFF2-40B4-BE49-F238E27FC236}">
                  <a16:creationId xmlns:a16="http://schemas.microsoft.com/office/drawing/2014/main" id="{D74CD21D-122E-4F3D-82AF-F4A37C278AF1}"/>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9">
              <a:extLst>
                <a:ext uri="{FF2B5EF4-FFF2-40B4-BE49-F238E27FC236}">
                  <a16:creationId xmlns:a16="http://schemas.microsoft.com/office/drawing/2014/main" id="{5A7FF51F-3820-41BE-8690-7E758ECFA7CF}"/>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gradFill>
              <a:gsLst>
                <a:gs pos="813">
                  <a:schemeClr val="bg1">
                    <a:alpha val="41000"/>
                  </a:schemeClr>
                </a:gs>
                <a:gs pos="20000">
                  <a:schemeClr val="accent5">
                    <a:lumMod val="85000"/>
                    <a:alpha val="56000"/>
                  </a:schemeClr>
                </a:gs>
                <a:gs pos="44000">
                  <a:schemeClr val="accent6">
                    <a:lumMod val="40000"/>
                    <a:lumOff val="60000"/>
                    <a:alpha val="57000"/>
                  </a:schemeClr>
                </a:gs>
                <a:gs pos="100000">
                  <a:schemeClr val="bg1">
                    <a:alpha val="59000"/>
                  </a:schemeClr>
                </a:gs>
                <a:gs pos="74000">
                  <a:schemeClr val="accent1">
                    <a:lumMod val="91000"/>
                    <a:lumOff val="9000"/>
                    <a:alpha val="34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85EAD889-EA4D-485F-BA9C-F6473A43299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4" name="Title 3">
            <a:extLst>
              <a:ext uri="{FF2B5EF4-FFF2-40B4-BE49-F238E27FC236}">
                <a16:creationId xmlns:a16="http://schemas.microsoft.com/office/drawing/2014/main" id="{A438EA56-8646-05A2-36D5-9122791CBC31}"/>
              </a:ext>
            </a:extLst>
          </p:cNvPr>
          <p:cNvSpPr>
            <a:spLocks noGrp="1"/>
          </p:cNvSpPr>
          <p:nvPr>
            <p:ph type="ctrTitle"/>
          </p:nvPr>
        </p:nvSpPr>
        <p:spPr>
          <a:xfrm>
            <a:off x="3045368" y="2043663"/>
            <a:ext cx="6105194" cy="2031055"/>
          </a:xfrm>
        </p:spPr>
        <p:txBody>
          <a:bodyPr>
            <a:normAutofit/>
          </a:bodyPr>
          <a:lstStyle/>
          <a:p>
            <a:r>
              <a:rPr lang="en-US" sz="6600" b="1" dirty="0">
                <a:solidFill>
                  <a:schemeClr val="tx2"/>
                </a:solidFill>
              </a:rPr>
              <a:t>Thank you</a:t>
            </a:r>
            <a:endParaRPr lang="en-IN" sz="6600" b="1" dirty="0">
              <a:solidFill>
                <a:schemeClr val="tx2"/>
              </a:solidFill>
            </a:endParaRPr>
          </a:p>
        </p:txBody>
      </p:sp>
      <p:pic>
        <p:nvPicPr>
          <p:cNvPr id="16" name="Picture 15" descr="A blue and green logo&#10;&#10;Description automatically generated">
            <a:extLst>
              <a:ext uri="{FF2B5EF4-FFF2-40B4-BE49-F238E27FC236}">
                <a16:creationId xmlns:a16="http://schemas.microsoft.com/office/drawing/2014/main" id="{18C91886-4610-0E6C-8B52-92F6E3631F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67415" y="75515"/>
            <a:ext cx="610970" cy="610970"/>
          </a:xfrm>
          <a:prstGeom prst="rect">
            <a:avLst/>
          </a:prstGeom>
        </p:spPr>
      </p:pic>
    </p:spTree>
    <p:extLst>
      <p:ext uri="{BB962C8B-B14F-4D97-AF65-F5344CB8AC3E}">
        <p14:creationId xmlns:p14="http://schemas.microsoft.com/office/powerpoint/2010/main" val="260471423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864</Words>
  <Application>Microsoft Office PowerPoint</Application>
  <PresentationFormat>Widescreen</PresentationFormat>
  <Paragraphs>181</Paragraphs>
  <Slides>13</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Aptos Display</vt:lpstr>
      <vt:lpstr>Arial</vt:lpstr>
      <vt:lpstr>Wingdings</vt:lpstr>
      <vt:lpstr>Office Theme</vt:lpstr>
      <vt:lpstr>RAG – Retrieval Augmented Generation</vt:lpstr>
      <vt:lpstr>RAG – Retrieval Augmented Generation</vt:lpstr>
      <vt:lpstr>RAG – Retrieval Augmented Generation</vt:lpstr>
      <vt:lpstr>RAG – Retrieval Augmented Generation</vt:lpstr>
      <vt:lpstr>RAG – Retrieval Augmented Generation</vt:lpstr>
      <vt:lpstr>Chunking Strategies in RAG</vt:lpstr>
      <vt:lpstr>Chunking Strategies in RAG</vt:lpstr>
      <vt:lpstr>Chunking Strategies in RAG</vt:lpstr>
      <vt:lpstr>Chunking Strategies in RAG</vt:lpstr>
      <vt:lpstr>Chunking Strategies in RAG</vt:lpstr>
      <vt:lpstr>Recommended Best Practice</vt:lpstr>
      <vt:lpstr>Document Extraction Tools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Programming</dc:title>
  <dc:creator/>
  <cp:lastModifiedBy/>
  <cp:revision>1184</cp:revision>
  <dcterms:created xsi:type="dcterms:W3CDTF">2024-09-04T04:29:20Z</dcterms:created>
  <dcterms:modified xsi:type="dcterms:W3CDTF">2025-11-19T14:36:45Z</dcterms:modified>
</cp:coreProperties>
</file>