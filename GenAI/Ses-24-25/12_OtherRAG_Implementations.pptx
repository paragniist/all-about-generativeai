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9"/>
  </p:notesMasterIdLst>
  <p:sldIdLst>
    <p:sldId id="274" r:id="rId2"/>
    <p:sldId id="505" r:id="rId3"/>
    <p:sldId id="512" r:id="rId4"/>
    <p:sldId id="513" r:id="rId5"/>
    <p:sldId id="514" r:id="rId6"/>
    <p:sldId id="515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06" autoAdjust="0"/>
    <p:restoredTop sz="95274" autoAdjust="0"/>
  </p:normalViewPr>
  <p:slideViewPr>
    <p:cSldViewPr snapToGrid="0">
      <p:cViewPr varScale="1">
        <p:scale>
          <a:sx n="87" d="100"/>
          <a:sy n="87" d="100"/>
        </p:scale>
        <p:origin x="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250" y="1014884"/>
            <a:ext cx="6105194" cy="3283103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 </a:t>
            </a:r>
            <a:r>
              <a:rPr lang="en-US" sz="66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Implementaions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626418" y="4759020"/>
            <a:ext cx="4445785" cy="589558"/>
            <a:chOff x="3614024" y="4908823"/>
            <a:chExt cx="4445785" cy="589558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7646" y="4908823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Corrective RAG (CRAG)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99135" y="938175"/>
            <a:ext cx="10132988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CRAG was designed because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vector search sometimes gives irrelevant hits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even if the user query is clear.</a:t>
            </a:r>
            <a:b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CRAG adds a </a:t>
            </a: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corrector model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that: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Filters out irrelevant retrieved chunks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Re-ranks the relevant ones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Optionally routes to keyword search or a different retriever</a:t>
            </a: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 Workflow</a:t>
            </a:r>
          </a:p>
          <a:p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User Query: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“Explain the formula for interest rate in the finance policy document.”</a:t>
            </a:r>
          </a:p>
          <a:p>
            <a:endParaRPr lang="en-IN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Vector Retriever Outputs (Messy):</a:t>
            </a:r>
            <a:endParaRPr lang="en-I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Chunk 1: “Company holidays 2023” (irrelevant)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Chunk 2: “Interest rate formula …” (relevant)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Chunk 3: “Finance team org chart” (irrelevant)</a:t>
            </a:r>
          </a:p>
          <a:p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Corrective Model Output:</a:t>
            </a:r>
            <a:endParaRPr lang="en-I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Removes chunk 1 &amp; 3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Re-ranks chunk 2 as top candidate</a:t>
            </a:r>
          </a:p>
          <a:p>
            <a:endParaRPr lang="en-IN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LLM Answer: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Uses clean and accurate context.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2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Self-RAG with Reflection (Self-Evaluating RAG)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0" y="982229"/>
            <a:ext cx="10132988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LLM validates its own output using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reflection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self-correction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loops.</a:t>
            </a: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 different from CRAG because here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LLM examines its own answer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not retrieval.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 Flow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Query: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“What does Section 4 of the policy document say?”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Draft Answer: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“Section 4 is about Employee Benefits.”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Reflection Step: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LLM reviews the retrieved text → notices Section 4 is actually “Quality Standards”.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Corrected Answer: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“Correction: Section 4 describes Quality Standards…”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56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Hybrid RAG (Semantic + Keyword 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Search)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23546" y="1110231"/>
            <a:ext cx="10132988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Combine semantic search (vectors) + keyword search (BM25/Elastic)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Because vectors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lose exact-match precision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and BM25 misses semantic meaning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Query: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“What is the compensation limit under clause 11.2?”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Vector search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→ finds chunks about “compensation policies”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Keyword search (BM25)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→ finds the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exact clause 11.2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text containing numbers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Hybrid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result: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LLM gets both: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Semantically similar data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Exact-number precise clause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29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RAG Implementations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462985"/>
              </p:ext>
            </p:extLst>
          </p:nvPr>
        </p:nvGraphicFramePr>
        <p:xfrm>
          <a:off x="793580" y="1372880"/>
          <a:ext cx="10452440" cy="2931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13110">
                  <a:extLst>
                    <a:ext uri="{9D8B030D-6E8A-4147-A177-3AD203B41FA5}">
                      <a16:colId xmlns:a16="http://schemas.microsoft.com/office/drawing/2014/main" val="2632203421"/>
                    </a:ext>
                  </a:extLst>
                </a:gridCol>
                <a:gridCol w="2613110">
                  <a:extLst>
                    <a:ext uri="{9D8B030D-6E8A-4147-A177-3AD203B41FA5}">
                      <a16:colId xmlns:a16="http://schemas.microsoft.com/office/drawing/2014/main" val="1377730504"/>
                    </a:ext>
                  </a:extLst>
                </a:gridCol>
                <a:gridCol w="2613110">
                  <a:extLst>
                    <a:ext uri="{9D8B030D-6E8A-4147-A177-3AD203B41FA5}">
                      <a16:colId xmlns:a16="http://schemas.microsoft.com/office/drawing/2014/main" val="372780512"/>
                    </a:ext>
                  </a:extLst>
                </a:gridCol>
                <a:gridCol w="2613110">
                  <a:extLst>
                    <a:ext uri="{9D8B030D-6E8A-4147-A177-3AD203B41FA5}">
                      <a16:colId xmlns:a16="http://schemas.microsoft.com/office/drawing/2014/main" val="304004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3691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Corrective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 retrieval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Filters irrelevant chunks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Policies, PDFs with noise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953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Self-RAG w/ Reflection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 LLM answer hallucination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Self-correcting answers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Q&amp;A needing high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67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Graph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Structured querying &amp; reasoning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Uses relationships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 charts, legal docs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053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Hybrid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 semantic + keyword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Exact + semantic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Clauses, numbers, terms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33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75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Unified RAG Pipeline 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(Hybrid +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CRAG +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Self-RAG)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53306" y="1048724"/>
            <a:ext cx="1013298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Layer 1 → Hybrid Retrieval (Semantic + Keyword)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Layer 2 → CRAG (Corrective Filtering +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Reranking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Layer 3 → Self-RAG (Answer Refinement + Hallucination Removal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4866" y="2062268"/>
            <a:ext cx="1565031" cy="9495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User Query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59623" y="3130061"/>
            <a:ext cx="2540977" cy="10814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Hybrid Retriever 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Vector Search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BM25 Keyword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Search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2390" y="4273066"/>
            <a:ext cx="2497016" cy="10814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CRAG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LLM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Relevance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LLM Re-ranking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Route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Missing Answers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833950" y="5442440"/>
            <a:ext cx="2458914" cy="10814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Self-RAG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Draft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Answer          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Reflection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Critique    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Corrected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Answer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Elbow Connector 14"/>
          <p:cNvCxnSpPr>
            <a:stCxn id="3" idx="2"/>
            <a:endCxn id="11" idx="1"/>
          </p:cNvCxnSpPr>
          <p:nvPr/>
        </p:nvCxnSpPr>
        <p:spPr>
          <a:xfrm rot="16200000" flipH="1">
            <a:off x="1464027" y="2875191"/>
            <a:ext cx="658951" cy="9322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11" idx="2"/>
            <a:endCxn id="12" idx="1"/>
          </p:cNvCxnSpPr>
          <p:nvPr/>
        </p:nvCxnSpPr>
        <p:spPr>
          <a:xfrm rot="16200000" flipH="1">
            <a:off x="3985112" y="3756515"/>
            <a:ext cx="602278" cy="15122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2" idx="2"/>
            <a:endCxn id="13" idx="1"/>
          </p:cNvCxnSpPr>
          <p:nvPr/>
        </p:nvCxnSpPr>
        <p:spPr>
          <a:xfrm rot="16200000" flipH="1">
            <a:off x="6748101" y="4897317"/>
            <a:ext cx="628647" cy="15430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3" idx="3"/>
          </p:cNvCxnSpPr>
          <p:nvPr/>
        </p:nvCxnSpPr>
        <p:spPr>
          <a:xfrm>
            <a:off x="10292864" y="5983167"/>
            <a:ext cx="6008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936631" y="4908258"/>
            <a:ext cx="16177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andidate chunks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782194" y="5983167"/>
            <a:ext cx="17572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High-quality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31557" y="6024933"/>
            <a:ext cx="12920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Final Answer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4010" y="3785040"/>
            <a:ext cx="16065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Query embedding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54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Widescreen</PresentationFormat>
  <Paragraphs>92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RAG Implementaions</vt:lpstr>
      <vt:lpstr>Corrective RAG (CRAG)</vt:lpstr>
      <vt:lpstr>Self-RAG with Reflection (Self-Evaluating RAG)</vt:lpstr>
      <vt:lpstr>Hybrid RAG (Semantic + Keyword Search)</vt:lpstr>
      <vt:lpstr>RAG Implementations</vt:lpstr>
      <vt:lpstr>Unified RAG Pipeline (Hybrid + CRAG + Self-RAG)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2025-11-24T03:04:13Z</dcterms:modified>
</cp:coreProperties>
</file>