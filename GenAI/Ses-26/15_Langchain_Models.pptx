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1"/>
  </p:notesMasterIdLst>
  <p:sldIdLst>
    <p:sldId id="274" r:id="rId2"/>
    <p:sldId id="505" r:id="rId3"/>
    <p:sldId id="512" r:id="rId4"/>
    <p:sldId id="522" r:id="rId5"/>
    <p:sldId id="523" r:id="rId6"/>
    <p:sldId id="524" r:id="rId7"/>
    <p:sldId id="525" r:id="rId8"/>
    <p:sldId id="526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0HItghaSvE5eHsZb5weJ9w==" hashData="BoQOqkvidmGk1j3tAAkWyLrWfmmiZbhdOM4LiouzRHv5YU7Y0H2FUqTU2PWlcw/mpOiqD1h3VQuDsMtRXwqlL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06" autoAdjust="0"/>
    <p:restoredTop sz="95274" autoAdjust="0"/>
  </p:normalViewPr>
  <p:slideViewPr>
    <p:cSldViewPr snapToGrid="0">
      <p:cViewPr varScale="1">
        <p:scale>
          <a:sx n="87" d="100"/>
          <a:sy n="87" d="100"/>
        </p:scale>
        <p:origin x="3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5ECAA-268E-4C0D-9FC7-17C53698496D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4D035-8484-4F58-9D29-A39A493CE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56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991F-E995-897B-29EE-7B505AB66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67F7B-139D-FBEE-5DC8-2E47E96F6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AFDF-4EB4-2154-D568-E99CEAE5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859FE-B4A5-F459-6D01-CA55616D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9D83-4AD0-F06F-1BFD-7335E67B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5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64DD-1124-594C-D6C3-30AC77D8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56EB-D5B0-F889-4D83-707F88584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B960-C94C-3229-A8BF-3F24767F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C9D0-5AF0-DB1E-FCC8-DF40FBA8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28B43-188B-BE7E-1FAD-B28D9A1D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0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9EB8-B517-7328-045D-4B42F4BE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749FE-223B-0565-51D9-E7E53B55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461B-39F7-04FD-57A8-48AD930A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0593-5333-C224-E1B2-B9C4B7D4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ADE0-4449-0BD6-D966-CBE20849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1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2BC8-D36F-6117-FAEA-86021EC6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5CDAA-66A4-B827-7699-008FFE7F0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FF1F8-BAE7-DDAA-F6CA-97D830A92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F4065-84FE-70CE-9B5B-A521F70E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FADE3-3E99-1A24-242B-3D30AA30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D6DFB-8246-E19B-62C9-847771CA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6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FF33-E1F9-C9DF-28CF-2D93FA98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1D9D4-7C67-8F4B-F2C9-B50F979E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47A6A-A844-7785-EC67-177F6B94B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B2FA6-D7BB-E706-A3E8-01420028A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8A30B-A453-4BFC-A2CB-5A150DDC4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DCAD0-84E3-47EE-3D70-9F876F0B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32BE6-EB1D-4DA5-DB48-B58D962A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746C8-70CA-3360-6BC6-A40F5F23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39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445D-64B1-38C3-5E24-38598BEB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786F1-B775-4C52-E819-3543529F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73C8A-E876-90D6-B15F-115238CF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A1262-279B-4A6C-5CC3-C6A8887A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27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09089-4275-1048-CEE7-0A08D71C9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4FCE-FC51-100D-7EB4-2F6914D2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BE78A-DA65-3C14-808A-55415599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75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034B-8224-5F4C-8974-BA0376FE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BB6E-D8F6-DC0B-FCAC-E415397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3FDD0-87F9-F157-8C07-205CD29C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131F2-E21E-1789-5933-56F48882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1DBC4-505F-2A13-B335-1FE99DB3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1DE6-DFF0-9B32-8951-71B5CAE2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9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93B5-339E-870A-6EE5-0B819E5B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6FB93-2AEC-67EB-4024-437105D2F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BA8DE-B9F6-F250-1B1E-B6DB595B1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7EB-F1EF-3651-2266-5B1F5AAF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8B12-A386-0FB5-44B5-2D776735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B1C7B-6BD8-92FA-C044-366FF654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0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6908-04DA-A591-9C9B-1F097FDD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E0DE2-418D-750C-597F-38D94976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9CDEA-53E8-2C23-CC9E-AF5A3901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AD83-374B-35CE-53E8-8899EA9B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C723-68AA-7191-39BE-8F208C92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6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31BD8-F8EB-C0C4-26BA-CA01B0753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1228-3044-8025-2371-BBC89DB83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1DCB-8164-1EF0-D63F-0D51A08A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40341-CF13-2A66-53D2-588E571D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7D7C-CC1C-1264-2DA1-295E6D1A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76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00B29-40C6-2BA3-A1E6-F3D6B197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F8C6B-3E6D-5141-6436-161A08D0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DBB8-43B9-9730-B866-9A749FCB3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066A6-D1A9-4114-9E94-251832C699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D5448-9797-D45F-7189-84C1AE1CA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D67D6-EA6E-021B-9B76-56F901420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8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3250" y="1014884"/>
            <a:ext cx="6105194" cy="3283103"/>
          </a:xfrm>
        </p:spPr>
        <p:txBody>
          <a:bodyPr>
            <a:normAutofit/>
          </a:bodyPr>
          <a:lstStyle/>
          <a:p>
            <a:r>
              <a:rPr lang="en-US" sz="66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66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Models</a:t>
            </a:r>
            <a:endParaRPr lang="en-IN" sz="6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CC98F91-2037-6AAF-7C21-34FAB6DA435D}"/>
              </a:ext>
            </a:extLst>
          </p:cNvPr>
          <p:cNvGrpSpPr/>
          <p:nvPr/>
        </p:nvGrpSpPr>
        <p:grpSpPr>
          <a:xfrm>
            <a:off x="3626418" y="4759020"/>
            <a:ext cx="4445785" cy="589558"/>
            <a:chOff x="3614024" y="4908823"/>
            <a:chExt cx="4445785" cy="589558"/>
          </a:xfrm>
        </p:grpSpPr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D64B9545-AA74-9959-DEF7-A5E273646E5C}"/>
                </a:ext>
              </a:extLst>
            </p:cNvPr>
            <p:cNvSpPr txBox="1">
              <a:spLocks/>
            </p:cNvSpPr>
            <p:nvPr/>
          </p:nvSpPr>
          <p:spPr>
            <a:xfrm>
              <a:off x="3614024" y="4908823"/>
              <a:ext cx="4445785" cy="58955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200" dirty="0" smtClean="0"/>
                <a:t>By</a:t>
              </a:r>
              <a:r>
                <a:rPr lang="en-US" sz="3200" b="1" dirty="0" smtClean="0">
                  <a:solidFill>
                    <a:srgbClr val="00B0F0"/>
                  </a:solidFill>
                </a:rPr>
                <a:t> </a:t>
              </a:r>
              <a:endParaRPr lang="en-US" sz="3200" b="1" dirty="0">
                <a:solidFill>
                  <a:srgbClr val="00B050"/>
                </a:solidFill>
              </a:endParaRPr>
            </a:p>
          </p:txBody>
        </p:sp>
        <p:pic>
          <p:nvPicPr>
            <p:cNvPr id="19" name="Picture 18" descr="A blue and green logo&#10;&#10;Description automatically generated">
              <a:extLst>
                <a:ext uri="{FF2B5EF4-FFF2-40B4-BE49-F238E27FC236}">
                  <a16:creationId xmlns:a16="http://schemas.microsoft.com/office/drawing/2014/main" id="{93B8DE8A-D399-DD1D-681B-D87204E48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7646" y="4908823"/>
              <a:ext cx="589558" cy="589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67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- model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4560" y="1013516"/>
            <a:ext cx="955137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has 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multiple model wrappers</a:t>
            </a: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LLM 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Models – Text generation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Chat Models and Multimodal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Embedding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Rerank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Models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853016"/>
              </p:ext>
            </p:extLst>
          </p:nvPr>
        </p:nvGraphicFramePr>
        <p:xfrm>
          <a:off x="599342" y="2658415"/>
          <a:ext cx="10840915" cy="3840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6320">
                  <a:extLst>
                    <a:ext uri="{9D8B030D-6E8A-4147-A177-3AD203B41FA5}">
                      <a16:colId xmlns:a16="http://schemas.microsoft.com/office/drawing/2014/main" val="3036737681"/>
                    </a:ext>
                  </a:extLst>
                </a:gridCol>
                <a:gridCol w="1389184">
                  <a:extLst>
                    <a:ext uri="{9D8B030D-6E8A-4147-A177-3AD203B41FA5}">
                      <a16:colId xmlns:a16="http://schemas.microsoft.com/office/drawing/2014/main" val="1783849817"/>
                    </a:ext>
                  </a:extLst>
                </a:gridCol>
                <a:gridCol w="3499045">
                  <a:extLst>
                    <a:ext uri="{9D8B030D-6E8A-4147-A177-3AD203B41FA5}">
                      <a16:colId xmlns:a16="http://schemas.microsoft.com/office/drawing/2014/main" val="895765350"/>
                    </a:ext>
                  </a:extLst>
                </a:gridCol>
                <a:gridCol w="2168183">
                  <a:extLst>
                    <a:ext uri="{9D8B030D-6E8A-4147-A177-3AD203B41FA5}">
                      <a16:colId xmlns:a16="http://schemas.microsoft.com/office/drawing/2014/main" val="2853294001"/>
                    </a:ext>
                  </a:extLst>
                </a:gridCol>
                <a:gridCol w="2168183">
                  <a:extLst>
                    <a:ext uri="{9D8B030D-6E8A-4147-A177-3AD203B41FA5}">
                      <a16:colId xmlns:a16="http://schemas.microsoft.com/office/drawing/2014/main" val="3713582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API Expects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LangChain Wrapper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Used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116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Chat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messages[] (role-based messages)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ChatOpenAI, ChatAnthropic, ChatGroq, ChatGoogleGenerativeAI, ChatHuggingFace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Conversational LLMs, multi-turn chat, RAG answer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GPT-4o, GPT-4o-mini, Llama 3.x (instruct/chat), Gemini 2.0 Flash, Claude 3.7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996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 Models (Text Completion)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 text prompt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OpenAI (legacy), HuggingFacePipeline, HuggingFaceEndpoint, generic LLM wrappers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Plain text completion, one-shot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text-davinci-003, babbage-002, meta-llama/Llama-3 (base)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6980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Embedding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 text OR batch text → vector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OpenAIEmbeddings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HuggingFaceEmbeddings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GoogleGenerativeAIEmbeddings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HuggingFaceInstructEmbeddings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Vectorization, retrieval, semantic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text-embedding-3-large, all-MiniLM-L6-v2, bge-large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8708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Rerank Models (Cross-Encoder)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Query + document (or doc list) → scores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CohereRerank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HuggingFaceCrossEncoderReranker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(or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HuggingFaceReranker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),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JinaRerank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Re-scoring retrieved docs to improve top-N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Cohere Rerank v3, BGE reranker, jina-reranker-v2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019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Multimodal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Mixed inputs (text + image/video/audio)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ChatOpenAI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(vision/audio capable models),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ChatGoogleGenerativeAI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ChatAnthropic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ChatHuggingFace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Vision QA, image grounding, multimodal reasoning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GPT-4o (vision), Gemini 2.0 Flash (multimodal), Claude (vision variants)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8049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2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LLM Vs Chat Models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699135" y="1110231"/>
            <a:ext cx="10911840" cy="521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LLM Text Generation Models (Base Models</a:t>
            </a:r>
            <a:r>
              <a:rPr lang="en-US" altLang="en-US" sz="12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aw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text prompt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(no roles/messages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→ text completion</a:t>
            </a:r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. Does support only </a:t>
            </a:r>
            <a:r>
              <a:rPr lang="en-US" alt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openAI</a:t>
            </a:r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Huggingface</a:t>
            </a:r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Gemini models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n-US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currently only available via the Chat wrapper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ChatGoogleGenerativeAI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text-generation mode is </a:t>
            </a:r>
            <a:r>
              <a:rPr lang="en-US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not supported as a base LLM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r>
              <a:rPr lang="en-US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Legacy </a:t>
            </a:r>
            <a:r>
              <a:rPr lang="en-US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OpenAI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text-davinci-003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HF base models (Llama3 base, Falcon base, GPT-J base) via pipelines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Custom local Transformers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when: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✔ Not instruction tuned</a:t>
            </a:r>
            <a:b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✔ Pure generation tasks</a:t>
            </a:r>
            <a:b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Chat Models:</a:t>
            </a:r>
            <a:endParaRPr lang="en-US" altLang="en-US" sz="12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lang="en-US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, role-based messages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(system, user, assistant</a:t>
            </a:r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ChatOpenAI</a:t>
            </a:r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ChatHuggingFace</a:t>
            </a:r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ChatAnthropic</a:t>
            </a:r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ChatGoogleGenerativeAI</a:t>
            </a:r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when: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✔ Agents</a:t>
            </a:r>
            <a:b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✔ RAG chat</a:t>
            </a:r>
            <a:b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✔ Multi-turn </a:t>
            </a:r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reasoning</a:t>
            </a:r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56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LLM Vs Chat Models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699135" y="999832"/>
            <a:ext cx="10911840" cy="5463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langchain_openai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ChatOpenAI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model =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ChatOpenAI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(model="gpt-4o")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response =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model.invoke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("Tell me a joke")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provider’s API accepts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messages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{"role": "user", "content": "Hello"},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{"role": "assistant", "content": "Hi!"}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***************************************************************************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langchain_openai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OpenAI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model =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OpenAI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(model="text-davinci-003")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response =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model.invoke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("Write a poem")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provider’s API accepts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single string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	{"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prompt": "Write a poem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"}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715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HuggingFace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LLM Vs Chat Models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699135" y="894788"/>
            <a:ext cx="10911840" cy="5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300" b="1" dirty="0" err="1">
                <a:latin typeface="Arial" panose="020B0604020202020204" pitchFamily="34" charset="0"/>
                <a:cs typeface="Arial" panose="020B0604020202020204" pitchFamily="34" charset="0"/>
              </a:rPr>
              <a:t>HuggingFace</a:t>
            </a:r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 Model Types: Chat vs Text </a:t>
            </a:r>
            <a:r>
              <a:rPr lang="en-IN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Generation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Text-Generation </a:t>
            </a:r>
            <a:r>
              <a:rPr lang="en-US" altLang="en-US" sz="1300" b="1" u="sng" dirty="0">
                <a:latin typeface="Arial" panose="020B0604020202020204" pitchFamily="34" charset="0"/>
                <a:cs typeface="Arial" panose="020B0604020202020204" pitchFamily="34" charset="0"/>
              </a:rPr>
              <a:t>Models (Base LLMs</a:t>
            </a:r>
            <a:r>
              <a:rPr lang="en-US" altLang="en-US" sz="13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These models take </a:t>
            </a:r>
            <a:r>
              <a:rPr lang="en-US" alt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a single text prompt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and generate continuation.</a:t>
            </a:r>
            <a:endParaRPr lang="en-US" alt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endParaRPr lang="en-US" alt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meta-llama/Llama-3-8b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mistralai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/Mistral-7B-v0.1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mistral-community/Mixtral-8x7B-v0.1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EleutherAI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/gpt-j-6B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tiiuae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/falcon-7b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google/flan-t5-base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US" alt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altLang="en-US" sz="1300" b="1" dirty="0" err="1">
                <a:latin typeface="Arial" panose="020B0604020202020204" pitchFamily="34" charset="0"/>
                <a:cs typeface="Arial" panose="020B0604020202020204" pitchFamily="34" charset="0"/>
              </a:rPr>
              <a:t>pretrained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b="1" u="sng" dirty="0">
                <a:latin typeface="Arial" panose="020B0604020202020204" pitchFamily="34" charset="0"/>
                <a:cs typeface="Arial" panose="020B0604020202020204" pitchFamily="34" charset="0"/>
              </a:rPr>
              <a:t>Chat / Instruction </a:t>
            </a:r>
            <a:r>
              <a:rPr lang="en-US" altLang="en-US" sz="13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These models are </a:t>
            </a:r>
            <a:r>
              <a:rPr lang="en-US" alt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fine-tuned for chat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, RLHF, or instruction-following.</a:t>
            </a:r>
            <a:endParaRPr lang="en-US" alt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endParaRPr lang="en-US" alt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meta-llama/Llama-3-8b-Instruct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meta-llama/Llama-3-8b-chat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mistralai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/Mistral-7B-Instruct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mistralai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/Mixtral-8x7B-Instruct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Qwen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/Qwen2-7B-Instruct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google/gemma-2-9b-it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HuggingFaceH4/zephyr-7b-alpha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tiiuae</a:t>
            </a:r>
            <a:r>
              <a:rPr lang="en-US" altLang="en-US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/falcon-7b-instruct</a:t>
            </a:r>
            <a:endParaRPr lang="en-US" alt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462346" y="5095046"/>
            <a:ext cx="4815254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 name often ends with: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Instruct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-chat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-it (instruction-tuned)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-instruct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81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HuggingFace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Local Vs Inference API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99135" y="1349030"/>
            <a:ext cx="97725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ChatHuggingFace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I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HuggingFaceEndpoint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= HF Inference API</a:t>
            </a:r>
          </a:p>
          <a:p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ChatHuggingFace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I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HuggingFacePipeline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= HF Local deployment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284284" y="1032684"/>
            <a:ext cx="24558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9135" y="2531910"/>
            <a:ext cx="531480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langchain_huggingface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HuggingFaceEndpoint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ChatHuggingFace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HuggingFaceEndpoint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pPr lvl="3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repo_id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TinyLlama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/TinyLlama-1.1B-Chat-v1.0",</a:t>
            </a:r>
          </a:p>
          <a:p>
            <a:pPr lvl="3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task="text-generation",</a:t>
            </a:r>
          </a:p>
          <a:p>
            <a:pPr lvl="3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huggingfacehub_api_token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="YOUR_TOKEN"</a:t>
            </a:r>
          </a:p>
          <a:p>
            <a:pPr lvl="3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ChatHuggingFace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response 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model.invoke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("Explain RAG in two sentences.")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59062" y="2529223"/>
            <a:ext cx="521383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from transformers import pipeline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langchain_huggingface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HuggingFacePipeline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ChatHuggingFace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pipe = pipeline("text-generation", model="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TinyLlama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/TinyLlama-1.1B-Chat-v1.0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", temperature=0.5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max_new_tokens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=100)</a:t>
            </a:r>
          </a:p>
          <a:p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HuggingFacePipeline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(pipeline=pipe)</a:t>
            </a:r>
          </a:p>
          <a:p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ChatHuggingFace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response 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model.invoke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("Explain RAG in two sentences.")</a:t>
            </a:r>
          </a:p>
        </p:txBody>
      </p:sp>
    </p:spTree>
    <p:extLst>
      <p:ext uri="{BB962C8B-B14F-4D97-AF65-F5344CB8AC3E}">
        <p14:creationId xmlns:p14="http://schemas.microsoft.com/office/powerpoint/2010/main" val="79175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Embedding Models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99135" y="1349030"/>
            <a:ext cx="9772503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Produce vectors from text, docs, images, audio.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Wrappers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HuggingFaceEmbeddings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OpenAIEmbeddings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GoogleGenerativeAIEmbeddings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OllamaEmbeddings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for: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✔ RAG retrieval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✔ Semantic search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✔ Chunk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comparison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Ex: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emb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HuggingFaceEmbeddings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model_name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="BAAI/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bge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-base-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langchain_openai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OpenAIEmbeddings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emb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OpenAIEmbeddings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(model="text-embedding-3-large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284284" y="1032684"/>
            <a:ext cx="24558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827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Reranker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99135" y="753612"/>
            <a:ext cx="9772503" cy="5893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Rerankers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improve retrieval quality by </a:t>
            </a: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re-scoring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the top-k retrieved documents using a </a:t>
            </a: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cross-encoder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  <a:r>
              <a:rPr lang="en-US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b="1" dirty="0" err="1">
                <a:latin typeface="Arial" panose="020B0604020202020204" pitchFamily="34" charset="0"/>
                <a:cs typeface="Arial" panose="020B0604020202020204" pitchFamily="34" charset="0"/>
              </a:rPr>
              <a:t>HuggingFace</a:t>
            </a:r>
            <a:r>
              <a:rPr lang="en-US" alt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300" b="1" dirty="0" err="1">
                <a:latin typeface="Arial" panose="020B0604020202020204" pitchFamily="34" charset="0"/>
                <a:cs typeface="Arial" panose="020B0604020202020204" pitchFamily="34" charset="0"/>
              </a:rPr>
              <a:t>Reranker</a:t>
            </a:r>
            <a:r>
              <a:rPr lang="en-US" alt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 (local or API)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Popular models: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cross-encoder/ms-marco-MiniLM-L-6-v2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BAAI/</a:t>
            </a:r>
            <a:r>
              <a:rPr lang="en-US" alt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bge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reranker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-base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jina-ai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/jina-reranker-v2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Code:</a:t>
            </a:r>
            <a:endParaRPr lang="en-US" alt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langchain_community.document_transformers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HuggingFaceCrossEncoderReranker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reranker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HuggingFaceCrossEncoderReranker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model_name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="BAAI/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bge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reranker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-base"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filtered_docs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reranker.compress_documents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   query="What is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?",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   documents=docs,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Cohere </a:t>
            </a:r>
            <a:r>
              <a:rPr lang="en-US" altLang="en-US" sz="13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Reranker</a:t>
            </a:r>
            <a:r>
              <a:rPr lang="en-US" altLang="en-US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alt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langchain_cohere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alt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CohereRerank</a:t>
            </a:r>
            <a:endParaRPr lang="en-US" alt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reranker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CohereRerank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(model="rerank-english-v3.0")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results = </a:t>
            </a:r>
            <a:r>
              <a:rPr lang="en-US" alt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reranker.compress_documents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   query="What is RAG?",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   documents=docs,  # list of Document objects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284284" y="1032684"/>
            <a:ext cx="24558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63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tx2"/>
                </a:solidFill>
              </a:rPr>
              <a:t>Thank you</a:t>
            </a:r>
            <a:endParaRPr lang="en-IN" sz="6600" b="1" dirty="0">
              <a:solidFill>
                <a:schemeClr val="tx2"/>
              </a:solidFill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1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</Words>
  <Application>Microsoft Office PowerPoint</Application>
  <PresentationFormat>Widescreen</PresentationFormat>
  <Paragraphs>194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LangChain - Models</vt:lpstr>
      <vt:lpstr>LangChain - model</vt:lpstr>
      <vt:lpstr>LLM Vs Chat Models</vt:lpstr>
      <vt:lpstr>LLM Vs Chat Models</vt:lpstr>
      <vt:lpstr>HuggingFace LLM Vs Chat Models</vt:lpstr>
      <vt:lpstr>HuggingFace Local Vs Inference API</vt:lpstr>
      <vt:lpstr>Embedding Models</vt:lpstr>
      <vt:lpstr>Reranker Models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/>
  <cp:lastModifiedBy/>
  <cp:revision>1184</cp:revision>
  <dcterms:created xsi:type="dcterms:W3CDTF">2024-09-04T04:29:20Z</dcterms:created>
  <dcterms:modified xsi:type="dcterms:W3CDTF">2025-11-30T19:00:46Z</dcterms:modified>
</cp:coreProperties>
</file>