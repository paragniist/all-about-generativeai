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74" r:id="rId2"/>
    <p:sldId id="505" r:id="rId3"/>
    <p:sldId id="519" r:id="rId4"/>
    <p:sldId id="506" r:id="rId5"/>
    <p:sldId id="516" r:id="rId6"/>
    <p:sldId id="518" r:id="rId7"/>
    <p:sldId id="514" r:id="rId8"/>
    <p:sldId id="515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OutputParsers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OutputParsers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Structured Output</a:t>
            </a:r>
            <a:r>
              <a:rPr lang="en-US" altLang="en-US" sz="1600" dirty="0">
                <a:latin typeface="Arial" panose="020B0604020202020204" pitchFamily="34" charset="0"/>
              </a:rPr>
              <a:t> → when the model supports native </a:t>
            </a:r>
            <a:r>
              <a:rPr lang="en-US" altLang="en-US" sz="1600" dirty="0" smtClean="0">
                <a:latin typeface="Arial" panose="020B0604020202020204" pitchFamily="34" charset="0"/>
              </a:rPr>
              <a:t>function(tool) </a:t>
            </a:r>
            <a:r>
              <a:rPr lang="en-US" altLang="en-US" sz="1600" dirty="0">
                <a:latin typeface="Arial" panose="020B0604020202020204" pitchFamily="34" charset="0"/>
              </a:rPr>
              <a:t>calling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</a:rPr>
              <a:t>Output </a:t>
            </a:r>
            <a:r>
              <a:rPr lang="en-US" altLang="en-US" sz="1600" b="1" dirty="0">
                <a:latin typeface="Arial" panose="020B0604020202020204" pitchFamily="34" charset="0"/>
              </a:rPr>
              <a:t>Parsers</a:t>
            </a:r>
            <a:r>
              <a:rPr lang="en-US" altLang="en-US" sz="1600" dirty="0">
                <a:latin typeface="Arial" panose="020B0604020202020204" pitchFamily="34" charset="0"/>
              </a:rPr>
              <a:t> → when the model does NOT support native structured output or you want </a:t>
            </a:r>
            <a:r>
              <a:rPr lang="en-US" altLang="en-US" sz="1600" dirty="0" smtClean="0">
                <a:latin typeface="Arial" panose="020B0604020202020204" pitchFamily="34" charset="0"/>
              </a:rPr>
              <a:t>manual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3883" y="1681227"/>
            <a:ext cx="44254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with_structured_output</a:t>
            </a:r>
            <a:r>
              <a:rPr lang="en-IN" sz="12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converts your schema into JSON Schema and sends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it inside the API 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request to model as tool call section.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34560" y="2327558"/>
            <a:ext cx="39770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"model": "gemini-2.5-flash",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"messages": [...],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"tools": [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"type": "function",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"function":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"name":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MySchema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"parameters":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"type": "object",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"properties":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"movie": {"type": "string"},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"sentiment":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"type": "string",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enum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["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"]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}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},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"required": ["movie", "sentiment"]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}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],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tool_choice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"required"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884" y="3061708"/>
            <a:ext cx="37425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"model": "gemini-2.5-flash",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"messages": [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"role": "user",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"content": "Return JSON like this: {...}"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]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7033" y="2217029"/>
            <a:ext cx="4390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output parser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schema is just text inside the 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to model rather as tool call section.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06614" y="5978742"/>
            <a:ext cx="3900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→ </a:t>
            </a:r>
            <a:r>
              <a:rPr lang="en-I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tool_call</a:t>
            </a:r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JSON → </a:t>
            </a:r>
            <a:r>
              <a:rPr lang="en-I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482628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→ Text → Extract JSON → </a:t>
            </a:r>
            <a:r>
              <a:rPr lang="en-I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json.loads</a:t>
            </a:r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→ </a:t>
            </a:r>
            <a:r>
              <a:rPr lang="en-I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Object</a:t>
            </a: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OutputParsers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20415"/>
              </p:ext>
            </p:extLst>
          </p:nvPr>
        </p:nvGraphicFramePr>
        <p:xfrm>
          <a:off x="1017464" y="1466850"/>
          <a:ext cx="10004671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69007">
                  <a:extLst>
                    <a:ext uri="{9D8B030D-6E8A-4147-A177-3AD203B41FA5}">
                      <a16:colId xmlns:a16="http://schemas.microsoft.com/office/drawing/2014/main" val="1882131782"/>
                    </a:ext>
                  </a:extLst>
                </a:gridCol>
                <a:gridCol w="2372326">
                  <a:extLst>
                    <a:ext uri="{9D8B030D-6E8A-4147-A177-3AD203B41FA5}">
                      <a16:colId xmlns:a16="http://schemas.microsoft.com/office/drawing/2014/main" val="3033391073"/>
                    </a:ext>
                  </a:extLst>
                </a:gridCol>
                <a:gridCol w="4063338">
                  <a:extLst>
                    <a:ext uri="{9D8B030D-6E8A-4147-A177-3AD203B41FA5}">
                      <a16:colId xmlns:a16="http://schemas.microsoft.com/office/drawing/2014/main" val="800925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get_format_instructions?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77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StrOutputParser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raw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Never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JSONOutputParser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⚠️ Optional/Recommended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12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StructuredOutputParser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fixed-keys 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Yes, </a:t>
                      </a:r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Removed from latest versions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665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PydanticOutputParser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Strict Python 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Yes, only this to used for Strict schema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208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84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60584" y="951969"/>
            <a:ext cx="97184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simplest parser in </a:t>
            </a:r>
            <a:r>
              <a:rPr lang="en-US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does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not enforce JSON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not enforce structure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does not need format instructions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simply returns the model’s output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string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langchain_core.output_parsers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parser 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6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JSONOutputParser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60584" y="951969"/>
            <a:ext cx="9718432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Simplest parser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— ensures the LLM returns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valid JSON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You only need a basic JSON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 strict schema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Just want JSON → Python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Ex:</a:t>
            </a:r>
          </a:p>
          <a:p>
            <a:r>
              <a:rPr lang="en-IN" sz="1400" dirty="0" smtClean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 </a:t>
            </a:r>
            <a:r>
              <a:rPr lang="en-IN" sz="1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14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JsonOutputParser</a:t>
            </a:r>
            <a:r>
              <a:rPr lang="en-IN" sz="1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= </a:t>
            </a:r>
            <a:r>
              <a:rPr lang="en-IN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template='Give me 5 facts about {topic} \n {</a:t>
            </a:r>
            <a:r>
              <a:rPr lang="en-IN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format_instruction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}',</a:t>
            </a:r>
          </a:p>
          <a:p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IN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input_variables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=['topic'],</a:t>
            </a:r>
          </a:p>
          <a:p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IN" sz="1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partial_variables</a:t>
            </a:r>
            <a:r>
              <a:rPr lang="en-IN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IN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format_instruction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</a:t>
            </a:r>
            <a:r>
              <a:rPr lang="en-IN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parser.get_format_instructions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()}</a:t>
            </a:r>
          </a:p>
          <a:p>
            <a:r>
              <a:rPr lang="en-IN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= template | </a:t>
            </a:r>
            <a:r>
              <a:rPr lang="en-IN"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IN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IN" sz="14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  <a:endParaRPr lang="en-IN" sz="1400" b="1" dirty="0" smtClean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Step1 :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Template does below to prompt before sending it to model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Adds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formatting instructions like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 Below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appended to the prompt.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“Return a valid JSON object. Do not include anything else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mandatory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use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get_format_instructions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() You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can manually tell the model “Return JSON only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Step2 :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Model gives JSON string not JSON object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Step3: </a:t>
            </a:r>
            <a:r>
              <a:rPr lang="en-US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JSONouputparser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“Internally parses the JSON string (similar to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json.loads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()) after extracting it from the model output.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5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get_format_instructions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60584" y="951969"/>
            <a:ext cx="97184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get_format_instructions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method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injects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exact formatting rules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into the prompt.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forces the model to follow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schema, Without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it, parsers will fail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JSONOutputParser’s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version is trivial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StructuredOutputParser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PydanticOutputParser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meaningful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schemas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Usage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template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template="Give info about {topic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} \n 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format_instructions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}",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partial_variables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={"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format_instructions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parser.get_format_instructions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()},</a:t>
            </a:r>
          </a:p>
          <a:p>
            <a:pPr lvl="2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is it called partial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LangChain’s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you have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kinds of variables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input_variables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(dynamic values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partial_variables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(static or pre-filled values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Give me 5 facts about {topic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} \n 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format_instruction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After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applying partial variables: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Give me 5 facts about {topic} &lt;the JSON or schema instructions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 per parser used&gt;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Still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one placeholder left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{topic} → filled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later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at runtime of chain or invoke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StructuredOutputParser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2327" y="951969"/>
            <a:ext cx="1022545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Used when you need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strict JSON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available in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1.1.0 and repurposed through </a:t>
            </a:r>
            <a:r>
              <a:rPr lang="en-US" sz="1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PydanticOutputParser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clear fields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field has descriptions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predictable structure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How it works: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define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ResponseSchema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objects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defines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individual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of JSON schema with name and description for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StructuredOutputParser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schemas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[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ResponseSchema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(name="summary", description="Short summary"),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ResponseSchema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(name="sentiment", description="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parser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StructuredOutputParser.from_response_schemas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(schemas)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get_format_instructions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() in the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generates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detailed JSON 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e.g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.: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output should be a JSON object with: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summary: string – Short summary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sentiment: string – Sentiment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31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PydanticOutputParser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2328" y="951969"/>
            <a:ext cx="520900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Used for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strongest, type-safe, class-based schemas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strict validation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Python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dataclasses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typed fields (list[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Literal, Optional, etc.)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Review(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BaseModel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lvl="1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summary: 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endParaRPr 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sentiment: Literal["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"]</a:t>
            </a:r>
          </a:p>
          <a:p>
            <a:pPr lvl="1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pros: Optional[list[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]] = None</a:t>
            </a:r>
          </a:p>
          <a:p>
            <a:pPr lvl="1"/>
            <a:endParaRPr 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ydantic_parser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PydanticOutputParser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pydantic_object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=Review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endParaRPr 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= template | model | 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pydantic_parser</a:t>
            </a:r>
            <a:endParaRPr lang="en-US" sz="1400" dirty="0" smtClean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7254" y="4534888"/>
            <a:ext cx="108316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Step 1 – Prompt Preparation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Template adds: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JSON schema instructions (auto-generated 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Step 2 – Model Returns JSON String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Model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returns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text containing JSON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not a Python object.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Step 3 – Parser Processing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Parser: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Extracts JSON from model text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Converts JSON string → Python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(similar to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json.loads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Returns validated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3219" y="2460074"/>
            <a:ext cx="555966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template = </a:t>
            </a:r>
            <a:r>
              <a:rPr lang="en-IN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PromptTemplate</a:t>
            </a:r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    template='Generate the name, age and city of a fictional {place} person \n {</a:t>
            </a:r>
            <a:r>
              <a:rPr lang="en-IN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format_instruction</a:t>
            </a:r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}',</a:t>
            </a:r>
          </a:p>
          <a:p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input_variables</a:t>
            </a:r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=['place'],</a:t>
            </a:r>
          </a:p>
          <a:p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partial_variables</a:t>
            </a:r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={'</a:t>
            </a:r>
            <a:r>
              <a:rPr lang="en-IN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format_instruction</a:t>
            </a:r>
            <a:r>
              <a:rPr lang="en-IN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':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pydantic_parser</a:t>
            </a:r>
            <a:r>
              <a:rPr lang="en-IN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get_format_instructions</a:t>
            </a:r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()}</a:t>
            </a:r>
          </a:p>
          <a:p>
            <a:r>
              <a:rPr lang="en-IN" sz="1400" dirty="0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00B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39952" y="4076562"/>
            <a:ext cx="45749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get_format_instructions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Generates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auto JSON schema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Automatic schema creation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Automatic type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Automatic errors if invalid JSON</a:t>
            </a:r>
          </a:p>
        </p:txBody>
      </p:sp>
    </p:spTree>
    <p:extLst>
      <p:ext uri="{BB962C8B-B14F-4D97-AF65-F5344CB8AC3E}">
        <p14:creationId xmlns:p14="http://schemas.microsoft.com/office/powerpoint/2010/main" val="24328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Widescreen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Wingdings</vt:lpstr>
      <vt:lpstr>Office Theme</vt:lpstr>
      <vt:lpstr>LangChain -OutputParsers</vt:lpstr>
      <vt:lpstr>LangChain - OutputParsers</vt:lpstr>
      <vt:lpstr>LangChain - OutputParsers</vt:lpstr>
      <vt:lpstr>StrOutputParser</vt:lpstr>
      <vt:lpstr>JSONOutputParser</vt:lpstr>
      <vt:lpstr>get_format_instructions()</vt:lpstr>
      <vt:lpstr>StructuredOutputParser</vt:lpstr>
      <vt:lpstr>PydanticOutputParser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2026-02-24T18:00:47Z</dcterms:modified>
</cp:coreProperties>
</file>