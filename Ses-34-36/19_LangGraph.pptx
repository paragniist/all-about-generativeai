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16"/>
  </p:notesMasterIdLst>
  <p:sldIdLst>
    <p:sldId id="274" r:id="rId2"/>
    <p:sldId id="505" r:id="rId3"/>
    <p:sldId id="528" r:id="rId4"/>
    <p:sldId id="529" r:id="rId5"/>
    <p:sldId id="530" r:id="rId6"/>
    <p:sldId id="531" r:id="rId7"/>
    <p:sldId id="532" r:id="rId8"/>
    <p:sldId id="533" r:id="rId9"/>
    <p:sldId id="534" r:id="rId10"/>
    <p:sldId id="535" r:id="rId11"/>
    <p:sldId id="536" r:id="rId12"/>
    <p:sldId id="538" r:id="rId13"/>
    <p:sldId id="537" r:id="rId14"/>
    <p:sldId id="273"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0HItghaSvE5eHsZb5weJ9w==" hashData="BoQOqkvidmGk1j3tAAkWyLrWfmmiZbhdOM4LiouzRHv5YU7Y0H2FUqTU2PWlcw/mpOiqD1h3VQuDsMtRXwqlLw=="/>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06" autoAdjust="0"/>
    <p:restoredTop sz="95274" autoAdjust="0"/>
  </p:normalViewPr>
  <p:slideViewPr>
    <p:cSldViewPr snapToGrid="0">
      <p:cViewPr varScale="1">
        <p:scale>
          <a:sx n="84" d="100"/>
          <a:sy n="84" d="100"/>
        </p:scale>
        <p:origin x="432" y="1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65ECAA-268E-4C0D-9FC7-17C53698496D}" type="datetimeFigureOut">
              <a:rPr lang="en-IN" smtClean="0"/>
              <a:t>22-12-2025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84D035-8484-4F58-9D29-A39A493CE121}" type="slidenum">
              <a:rPr lang="en-IN" smtClean="0"/>
              <a:t>‹#›</a:t>
            </a:fld>
            <a:endParaRPr lang="en-IN"/>
          </a:p>
        </p:txBody>
      </p:sp>
    </p:spTree>
    <p:extLst>
      <p:ext uri="{BB962C8B-B14F-4D97-AF65-F5344CB8AC3E}">
        <p14:creationId xmlns:p14="http://schemas.microsoft.com/office/powerpoint/2010/main" val="35305665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7991F-E995-897B-29EE-7B505AB6646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EB67F7B-139D-FBEE-5DC8-2E47E96F6C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474AFDF-4EB4-2154-D568-E99CEAE5BC26}"/>
              </a:ext>
            </a:extLst>
          </p:cNvPr>
          <p:cNvSpPr>
            <a:spLocks noGrp="1"/>
          </p:cNvSpPr>
          <p:nvPr>
            <p:ph type="dt" sz="half" idx="10"/>
          </p:nvPr>
        </p:nvSpPr>
        <p:spPr/>
        <p:txBody>
          <a:bodyPr/>
          <a:lstStyle/>
          <a:p>
            <a:fld id="{032066A6-D1A9-4114-9E94-251832C69923}" type="datetimeFigureOut">
              <a:rPr lang="en-IN" smtClean="0"/>
              <a:t>22-12-2025</a:t>
            </a:fld>
            <a:endParaRPr lang="en-IN"/>
          </a:p>
        </p:txBody>
      </p:sp>
      <p:sp>
        <p:nvSpPr>
          <p:cNvPr id="5" name="Footer Placeholder 4">
            <a:extLst>
              <a:ext uri="{FF2B5EF4-FFF2-40B4-BE49-F238E27FC236}">
                <a16:creationId xmlns:a16="http://schemas.microsoft.com/office/drawing/2014/main" id="{861859FE-B4A5-F459-6D01-CA55616D4A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2A9D83-4AD0-F06F-1BFD-7335E67B485F}"/>
              </a:ext>
            </a:extLst>
          </p:cNvPr>
          <p:cNvSpPr>
            <a:spLocks noGrp="1"/>
          </p:cNvSpPr>
          <p:nvPr>
            <p:ph type="sldNum" sz="quarter" idx="12"/>
          </p:nvPr>
        </p:nvSpPr>
        <p:spPr/>
        <p:txBody>
          <a:bodyPr/>
          <a:lstStyle/>
          <a:p>
            <a:fld id="{DF0E4596-51ED-496E-8BF6-E6E70F95E67B}" type="slidenum">
              <a:rPr lang="en-IN" smtClean="0"/>
              <a:t>‹#›</a:t>
            </a:fld>
            <a:endParaRPr lang="en-IN"/>
          </a:p>
        </p:txBody>
      </p:sp>
      <p:pic>
        <p:nvPicPr>
          <p:cNvPr id="7" name="Picture 6" descr="A blue and green logo&#10;&#10;Description automatically generated">
            <a:extLst>
              <a:ext uri="{FF2B5EF4-FFF2-40B4-BE49-F238E27FC236}">
                <a16:creationId xmlns:a16="http://schemas.microsoft.com/office/drawing/2014/main" id="{18C91886-4610-0E6C-8B52-92F6E3631F4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494629" y="75515"/>
            <a:ext cx="610970" cy="610970"/>
          </a:xfrm>
          <a:prstGeom prst="rect">
            <a:avLst/>
          </a:prstGeom>
        </p:spPr>
      </p:pic>
    </p:spTree>
    <p:extLst>
      <p:ext uri="{BB962C8B-B14F-4D97-AF65-F5344CB8AC3E}">
        <p14:creationId xmlns:p14="http://schemas.microsoft.com/office/powerpoint/2010/main" val="38352581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E64DD-1124-594C-D6C3-30AC77D8248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13956EB-D5B0-F889-4D83-707F8858400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DDB960-C94C-3229-A8BF-3F24767FBEB3}"/>
              </a:ext>
            </a:extLst>
          </p:cNvPr>
          <p:cNvSpPr>
            <a:spLocks noGrp="1"/>
          </p:cNvSpPr>
          <p:nvPr>
            <p:ph type="dt" sz="half" idx="10"/>
          </p:nvPr>
        </p:nvSpPr>
        <p:spPr/>
        <p:txBody>
          <a:bodyPr/>
          <a:lstStyle/>
          <a:p>
            <a:fld id="{032066A6-D1A9-4114-9E94-251832C69923}" type="datetimeFigureOut">
              <a:rPr lang="en-IN" smtClean="0"/>
              <a:t>22-12-2025</a:t>
            </a:fld>
            <a:endParaRPr lang="en-IN"/>
          </a:p>
        </p:txBody>
      </p:sp>
      <p:sp>
        <p:nvSpPr>
          <p:cNvPr id="5" name="Footer Placeholder 4">
            <a:extLst>
              <a:ext uri="{FF2B5EF4-FFF2-40B4-BE49-F238E27FC236}">
                <a16:creationId xmlns:a16="http://schemas.microsoft.com/office/drawing/2014/main" id="{73EBC9D0-5AF0-DB1E-FCC8-DF40FBA8064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128B43-188B-BE7E-1FAD-B28D9A1D4A43}"/>
              </a:ext>
            </a:extLst>
          </p:cNvPr>
          <p:cNvSpPr>
            <a:spLocks noGrp="1"/>
          </p:cNvSpPr>
          <p:nvPr>
            <p:ph type="sldNum" sz="quarter" idx="12"/>
          </p:nvPr>
        </p:nvSpPr>
        <p:spPr/>
        <p:txBody>
          <a:bodyPr/>
          <a:lstStyle/>
          <a:p>
            <a:fld id="{DF0E4596-51ED-496E-8BF6-E6E70F95E67B}" type="slidenum">
              <a:rPr lang="en-IN" smtClean="0"/>
              <a:t>‹#›</a:t>
            </a:fld>
            <a:endParaRPr lang="en-IN"/>
          </a:p>
        </p:txBody>
      </p:sp>
      <p:pic>
        <p:nvPicPr>
          <p:cNvPr id="7" name="Picture 6" descr="A blue and green logo&#10;&#10;Description automatically generated">
            <a:extLst>
              <a:ext uri="{FF2B5EF4-FFF2-40B4-BE49-F238E27FC236}">
                <a16:creationId xmlns:a16="http://schemas.microsoft.com/office/drawing/2014/main" id="{18C91886-4610-0E6C-8B52-92F6E3631F4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494629" y="75515"/>
            <a:ext cx="610970" cy="610970"/>
          </a:xfrm>
          <a:prstGeom prst="rect">
            <a:avLst/>
          </a:prstGeom>
        </p:spPr>
      </p:pic>
    </p:spTree>
    <p:extLst>
      <p:ext uri="{BB962C8B-B14F-4D97-AF65-F5344CB8AC3E}">
        <p14:creationId xmlns:p14="http://schemas.microsoft.com/office/powerpoint/2010/main" val="17603070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E9EB8-B517-7328-045D-4B42F4BE5B5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68749FE-223B-0565-51D9-E7E53B5578D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F43461B-39F7-04FD-57A8-48AD930AEB8B}"/>
              </a:ext>
            </a:extLst>
          </p:cNvPr>
          <p:cNvSpPr>
            <a:spLocks noGrp="1"/>
          </p:cNvSpPr>
          <p:nvPr>
            <p:ph type="dt" sz="half" idx="10"/>
          </p:nvPr>
        </p:nvSpPr>
        <p:spPr/>
        <p:txBody>
          <a:bodyPr/>
          <a:lstStyle/>
          <a:p>
            <a:fld id="{032066A6-D1A9-4114-9E94-251832C69923}" type="datetimeFigureOut">
              <a:rPr lang="en-IN" smtClean="0"/>
              <a:t>22-12-2025</a:t>
            </a:fld>
            <a:endParaRPr lang="en-IN"/>
          </a:p>
        </p:txBody>
      </p:sp>
      <p:sp>
        <p:nvSpPr>
          <p:cNvPr id="5" name="Footer Placeholder 4">
            <a:extLst>
              <a:ext uri="{FF2B5EF4-FFF2-40B4-BE49-F238E27FC236}">
                <a16:creationId xmlns:a16="http://schemas.microsoft.com/office/drawing/2014/main" id="{534C0593-5333-C224-E1B2-B9C4B7D4AF3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74ADE0-4449-0BD6-D966-CBE208496DC7}"/>
              </a:ext>
            </a:extLst>
          </p:cNvPr>
          <p:cNvSpPr>
            <a:spLocks noGrp="1"/>
          </p:cNvSpPr>
          <p:nvPr>
            <p:ph type="sldNum" sz="quarter" idx="12"/>
          </p:nvPr>
        </p:nvSpPr>
        <p:spPr/>
        <p:txBody>
          <a:bodyPr/>
          <a:lstStyle/>
          <a:p>
            <a:fld id="{DF0E4596-51ED-496E-8BF6-E6E70F95E67B}" type="slidenum">
              <a:rPr lang="en-IN" smtClean="0"/>
              <a:t>‹#›</a:t>
            </a:fld>
            <a:endParaRPr lang="en-IN"/>
          </a:p>
        </p:txBody>
      </p:sp>
    </p:spTree>
    <p:extLst>
      <p:ext uri="{BB962C8B-B14F-4D97-AF65-F5344CB8AC3E}">
        <p14:creationId xmlns:p14="http://schemas.microsoft.com/office/powerpoint/2010/main" val="40991128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62BC8-D36F-6117-FAEA-86021EC6D95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015CDAA-66A4-B827-7699-008FFE7F0DE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C5FF1F8-BAE7-DDAA-F6CA-97D830A922D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23F4065-84FE-70CE-9B5B-A521F70EBE8B}"/>
              </a:ext>
            </a:extLst>
          </p:cNvPr>
          <p:cNvSpPr>
            <a:spLocks noGrp="1"/>
          </p:cNvSpPr>
          <p:nvPr>
            <p:ph type="dt" sz="half" idx="10"/>
          </p:nvPr>
        </p:nvSpPr>
        <p:spPr/>
        <p:txBody>
          <a:bodyPr/>
          <a:lstStyle/>
          <a:p>
            <a:fld id="{032066A6-D1A9-4114-9E94-251832C69923}" type="datetimeFigureOut">
              <a:rPr lang="en-IN" smtClean="0"/>
              <a:t>22-12-2025</a:t>
            </a:fld>
            <a:endParaRPr lang="en-IN"/>
          </a:p>
        </p:txBody>
      </p:sp>
      <p:sp>
        <p:nvSpPr>
          <p:cNvPr id="6" name="Footer Placeholder 5">
            <a:extLst>
              <a:ext uri="{FF2B5EF4-FFF2-40B4-BE49-F238E27FC236}">
                <a16:creationId xmlns:a16="http://schemas.microsoft.com/office/drawing/2014/main" id="{3F4FADE3-3E99-1A24-242B-3D30AA30C68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1BD6DFB-8246-E19B-62C9-847771CAA060}"/>
              </a:ext>
            </a:extLst>
          </p:cNvPr>
          <p:cNvSpPr>
            <a:spLocks noGrp="1"/>
          </p:cNvSpPr>
          <p:nvPr>
            <p:ph type="sldNum" sz="quarter" idx="12"/>
          </p:nvPr>
        </p:nvSpPr>
        <p:spPr/>
        <p:txBody>
          <a:bodyPr/>
          <a:lstStyle/>
          <a:p>
            <a:fld id="{DF0E4596-51ED-496E-8BF6-E6E70F95E67B}" type="slidenum">
              <a:rPr lang="en-IN" smtClean="0"/>
              <a:t>‹#›</a:t>
            </a:fld>
            <a:endParaRPr lang="en-IN"/>
          </a:p>
        </p:txBody>
      </p:sp>
      <p:pic>
        <p:nvPicPr>
          <p:cNvPr id="8" name="Picture 7" descr="A blue and green logo&#10;&#10;Description automatically generated">
            <a:extLst>
              <a:ext uri="{FF2B5EF4-FFF2-40B4-BE49-F238E27FC236}">
                <a16:creationId xmlns:a16="http://schemas.microsoft.com/office/drawing/2014/main" id="{18C91886-4610-0E6C-8B52-92F6E3631F4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494629" y="75515"/>
            <a:ext cx="610970" cy="610970"/>
          </a:xfrm>
          <a:prstGeom prst="rect">
            <a:avLst/>
          </a:prstGeom>
        </p:spPr>
      </p:pic>
    </p:spTree>
    <p:extLst>
      <p:ext uri="{BB962C8B-B14F-4D97-AF65-F5344CB8AC3E}">
        <p14:creationId xmlns:p14="http://schemas.microsoft.com/office/powerpoint/2010/main" val="3742462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9FF33-E1F9-C9DF-28CF-2D93FA9894E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D61D9D4-7C67-8F4B-F2C9-B50F979E921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5E47A6A-A844-7785-EC67-177F6B94B31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C9B2FA6-D7BB-E706-A3E8-01420028AAC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F08A30B-A453-4BFC-A2CB-5A150DDC4F3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B7DCAD0-84E3-47EE-3D70-9F876F0B8F67}"/>
              </a:ext>
            </a:extLst>
          </p:cNvPr>
          <p:cNvSpPr>
            <a:spLocks noGrp="1"/>
          </p:cNvSpPr>
          <p:nvPr>
            <p:ph type="dt" sz="half" idx="10"/>
          </p:nvPr>
        </p:nvSpPr>
        <p:spPr/>
        <p:txBody>
          <a:bodyPr/>
          <a:lstStyle/>
          <a:p>
            <a:fld id="{032066A6-D1A9-4114-9E94-251832C69923}" type="datetimeFigureOut">
              <a:rPr lang="en-IN" smtClean="0"/>
              <a:t>22-12-2025</a:t>
            </a:fld>
            <a:endParaRPr lang="en-IN"/>
          </a:p>
        </p:txBody>
      </p:sp>
      <p:sp>
        <p:nvSpPr>
          <p:cNvPr id="8" name="Footer Placeholder 7">
            <a:extLst>
              <a:ext uri="{FF2B5EF4-FFF2-40B4-BE49-F238E27FC236}">
                <a16:creationId xmlns:a16="http://schemas.microsoft.com/office/drawing/2014/main" id="{CC432BE6-EB1D-4DA5-DB48-B58D962A5B5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82746C8-70CA-3360-6BC6-A40F5F23940B}"/>
              </a:ext>
            </a:extLst>
          </p:cNvPr>
          <p:cNvSpPr>
            <a:spLocks noGrp="1"/>
          </p:cNvSpPr>
          <p:nvPr>
            <p:ph type="sldNum" sz="quarter" idx="12"/>
          </p:nvPr>
        </p:nvSpPr>
        <p:spPr/>
        <p:txBody>
          <a:bodyPr/>
          <a:lstStyle/>
          <a:p>
            <a:fld id="{DF0E4596-51ED-496E-8BF6-E6E70F95E67B}" type="slidenum">
              <a:rPr lang="en-IN" smtClean="0"/>
              <a:t>‹#›</a:t>
            </a:fld>
            <a:endParaRPr lang="en-IN"/>
          </a:p>
        </p:txBody>
      </p:sp>
    </p:spTree>
    <p:extLst>
      <p:ext uri="{BB962C8B-B14F-4D97-AF65-F5344CB8AC3E}">
        <p14:creationId xmlns:p14="http://schemas.microsoft.com/office/powerpoint/2010/main" val="12803951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3445D-64B1-38C3-5E24-38598BEBE5A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FE786F1-B775-4C52-E819-3543529F970D}"/>
              </a:ext>
            </a:extLst>
          </p:cNvPr>
          <p:cNvSpPr>
            <a:spLocks noGrp="1"/>
          </p:cNvSpPr>
          <p:nvPr>
            <p:ph type="dt" sz="half" idx="10"/>
          </p:nvPr>
        </p:nvSpPr>
        <p:spPr/>
        <p:txBody>
          <a:bodyPr/>
          <a:lstStyle/>
          <a:p>
            <a:fld id="{032066A6-D1A9-4114-9E94-251832C69923}" type="datetimeFigureOut">
              <a:rPr lang="en-IN" smtClean="0"/>
              <a:t>22-12-2025</a:t>
            </a:fld>
            <a:endParaRPr lang="en-IN"/>
          </a:p>
        </p:txBody>
      </p:sp>
      <p:sp>
        <p:nvSpPr>
          <p:cNvPr id="4" name="Footer Placeholder 3">
            <a:extLst>
              <a:ext uri="{FF2B5EF4-FFF2-40B4-BE49-F238E27FC236}">
                <a16:creationId xmlns:a16="http://schemas.microsoft.com/office/drawing/2014/main" id="{8C173C8A-E876-90D6-B15F-115238CF9F1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A0A1262-279B-4A6C-5CC3-C6A8887A5F9E}"/>
              </a:ext>
            </a:extLst>
          </p:cNvPr>
          <p:cNvSpPr>
            <a:spLocks noGrp="1"/>
          </p:cNvSpPr>
          <p:nvPr>
            <p:ph type="sldNum" sz="quarter" idx="12"/>
          </p:nvPr>
        </p:nvSpPr>
        <p:spPr/>
        <p:txBody>
          <a:bodyPr/>
          <a:lstStyle/>
          <a:p>
            <a:fld id="{DF0E4596-51ED-496E-8BF6-E6E70F95E67B}" type="slidenum">
              <a:rPr lang="en-IN" smtClean="0"/>
              <a:t>‹#›</a:t>
            </a:fld>
            <a:endParaRPr lang="en-IN"/>
          </a:p>
        </p:txBody>
      </p:sp>
    </p:spTree>
    <p:extLst>
      <p:ext uri="{BB962C8B-B14F-4D97-AF65-F5344CB8AC3E}">
        <p14:creationId xmlns:p14="http://schemas.microsoft.com/office/powerpoint/2010/main" val="40212704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8D09089-4275-1048-CEE7-0A08D71C9260}"/>
              </a:ext>
            </a:extLst>
          </p:cNvPr>
          <p:cNvSpPr>
            <a:spLocks noGrp="1"/>
          </p:cNvSpPr>
          <p:nvPr>
            <p:ph type="dt" sz="half" idx="10"/>
          </p:nvPr>
        </p:nvSpPr>
        <p:spPr/>
        <p:txBody>
          <a:bodyPr/>
          <a:lstStyle/>
          <a:p>
            <a:fld id="{032066A6-D1A9-4114-9E94-251832C69923}" type="datetimeFigureOut">
              <a:rPr lang="en-IN" smtClean="0"/>
              <a:t>22-12-2025</a:t>
            </a:fld>
            <a:endParaRPr lang="en-IN"/>
          </a:p>
        </p:txBody>
      </p:sp>
      <p:sp>
        <p:nvSpPr>
          <p:cNvPr id="3" name="Footer Placeholder 2">
            <a:extLst>
              <a:ext uri="{FF2B5EF4-FFF2-40B4-BE49-F238E27FC236}">
                <a16:creationId xmlns:a16="http://schemas.microsoft.com/office/drawing/2014/main" id="{65724FCE-FC51-100D-7EB4-2F6914D23C7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DBBE78A-DA65-3C14-808A-55415599CC2D}"/>
              </a:ext>
            </a:extLst>
          </p:cNvPr>
          <p:cNvSpPr>
            <a:spLocks noGrp="1"/>
          </p:cNvSpPr>
          <p:nvPr>
            <p:ph type="sldNum" sz="quarter" idx="12"/>
          </p:nvPr>
        </p:nvSpPr>
        <p:spPr/>
        <p:txBody>
          <a:bodyPr/>
          <a:lstStyle/>
          <a:p>
            <a:fld id="{DF0E4596-51ED-496E-8BF6-E6E70F95E67B}" type="slidenum">
              <a:rPr lang="en-IN" smtClean="0"/>
              <a:t>‹#›</a:t>
            </a:fld>
            <a:endParaRPr lang="en-IN"/>
          </a:p>
        </p:txBody>
      </p:sp>
    </p:spTree>
    <p:extLst>
      <p:ext uri="{BB962C8B-B14F-4D97-AF65-F5344CB8AC3E}">
        <p14:creationId xmlns:p14="http://schemas.microsoft.com/office/powerpoint/2010/main" val="38767532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B034B-8224-5F4C-8974-BA0376FEB2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D78BB6E-D8F6-DC0B-FCAC-E41539735EF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183FDD0-87F9-F157-8C07-205CD29C13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D131F2-E21E-1789-5933-56F48882B23E}"/>
              </a:ext>
            </a:extLst>
          </p:cNvPr>
          <p:cNvSpPr>
            <a:spLocks noGrp="1"/>
          </p:cNvSpPr>
          <p:nvPr>
            <p:ph type="dt" sz="half" idx="10"/>
          </p:nvPr>
        </p:nvSpPr>
        <p:spPr/>
        <p:txBody>
          <a:bodyPr/>
          <a:lstStyle/>
          <a:p>
            <a:fld id="{032066A6-D1A9-4114-9E94-251832C69923}" type="datetimeFigureOut">
              <a:rPr lang="en-IN" smtClean="0"/>
              <a:t>22-12-2025</a:t>
            </a:fld>
            <a:endParaRPr lang="en-IN"/>
          </a:p>
        </p:txBody>
      </p:sp>
      <p:sp>
        <p:nvSpPr>
          <p:cNvPr id="6" name="Footer Placeholder 5">
            <a:extLst>
              <a:ext uri="{FF2B5EF4-FFF2-40B4-BE49-F238E27FC236}">
                <a16:creationId xmlns:a16="http://schemas.microsoft.com/office/drawing/2014/main" id="{49F1DBC4-505F-2A13-B335-1FE99DB35A7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58D1DE6-DFF0-9B32-8951-71B5CAE27C77}"/>
              </a:ext>
            </a:extLst>
          </p:cNvPr>
          <p:cNvSpPr>
            <a:spLocks noGrp="1"/>
          </p:cNvSpPr>
          <p:nvPr>
            <p:ph type="sldNum" sz="quarter" idx="12"/>
          </p:nvPr>
        </p:nvSpPr>
        <p:spPr/>
        <p:txBody>
          <a:bodyPr/>
          <a:lstStyle/>
          <a:p>
            <a:fld id="{DF0E4596-51ED-496E-8BF6-E6E70F95E67B}" type="slidenum">
              <a:rPr lang="en-IN" smtClean="0"/>
              <a:t>‹#›</a:t>
            </a:fld>
            <a:endParaRPr lang="en-IN"/>
          </a:p>
        </p:txBody>
      </p:sp>
    </p:spTree>
    <p:extLst>
      <p:ext uri="{BB962C8B-B14F-4D97-AF65-F5344CB8AC3E}">
        <p14:creationId xmlns:p14="http://schemas.microsoft.com/office/powerpoint/2010/main" val="21904920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293B5-339E-870A-6EE5-0B819E5BA1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256FB93-2AEC-67EB-4024-437105D2FB3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DCBA8DE-B9F6-F250-1B1E-B6DB595B1F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74E7EB-F1EF-3651-2266-5B1F5AAFAB5E}"/>
              </a:ext>
            </a:extLst>
          </p:cNvPr>
          <p:cNvSpPr>
            <a:spLocks noGrp="1"/>
          </p:cNvSpPr>
          <p:nvPr>
            <p:ph type="dt" sz="half" idx="10"/>
          </p:nvPr>
        </p:nvSpPr>
        <p:spPr/>
        <p:txBody>
          <a:bodyPr/>
          <a:lstStyle/>
          <a:p>
            <a:fld id="{032066A6-D1A9-4114-9E94-251832C69923}" type="datetimeFigureOut">
              <a:rPr lang="en-IN" smtClean="0"/>
              <a:t>22-12-2025</a:t>
            </a:fld>
            <a:endParaRPr lang="en-IN"/>
          </a:p>
        </p:txBody>
      </p:sp>
      <p:sp>
        <p:nvSpPr>
          <p:cNvPr id="6" name="Footer Placeholder 5">
            <a:extLst>
              <a:ext uri="{FF2B5EF4-FFF2-40B4-BE49-F238E27FC236}">
                <a16:creationId xmlns:a16="http://schemas.microsoft.com/office/drawing/2014/main" id="{D1CF8B12-A386-0FB5-44B5-2D776735778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89B1C7B-6BD8-92FA-C044-366FF654F631}"/>
              </a:ext>
            </a:extLst>
          </p:cNvPr>
          <p:cNvSpPr>
            <a:spLocks noGrp="1"/>
          </p:cNvSpPr>
          <p:nvPr>
            <p:ph type="sldNum" sz="quarter" idx="12"/>
          </p:nvPr>
        </p:nvSpPr>
        <p:spPr/>
        <p:txBody>
          <a:bodyPr/>
          <a:lstStyle/>
          <a:p>
            <a:fld id="{DF0E4596-51ED-496E-8BF6-E6E70F95E67B}" type="slidenum">
              <a:rPr lang="en-IN" smtClean="0"/>
              <a:t>‹#›</a:t>
            </a:fld>
            <a:endParaRPr lang="en-IN"/>
          </a:p>
        </p:txBody>
      </p:sp>
    </p:spTree>
    <p:extLst>
      <p:ext uri="{BB962C8B-B14F-4D97-AF65-F5344CB8AC3E}">
        <p14:creationId xmlns:p14="http://schemas.microsoft.com/office/powerpoint/2010/main" val="32710012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36908-04DA-A591-9C9B-1F097FDDA1B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8AE0DE2-418D-750C-597F-38D94976F6A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119CDEA-53E8-2C23-CC9E-AF5A3901B621}"/>
              </a:ext>
            </a:extLst>
          </p:cNvPr>
          <p:cNvSpPr>
            <a:spLocks noGrp="1"/>
          </p:cNvSpPr>
          <p:nvPr>
            <p:ph type="dt" sz="half" idx="10"/>
          </p:nvPr>
        </p:nvSpPr>
        <p:spPr/>
        <p:txBody>
          <a:bodyPr/>
          <a:lstStyle/>
          <a:p>
            <a:fld id="{032066A6-D1A9-4114-9E94-251832C69923}" type="datetimeFigureOut">
              <a:rPr lang="en-IN" smtClean="0"/>
              <a:t>22-12-2025</a:t>
            </a:fld>
            <a:endParaRPr lang="en-IN"/>
          </a:p>
        </p:txBody>
      </p:sp>
      <p:sp>
        <p:nvSpPr>
          <p:cNvPr id="5" name="Footer Placeholder 4">
            <a:extLst>
              <a:ext uri="{FF2B5EF4-FFF2-40B4-BE49-F238E27FC236}">
                <a16:creationId xmlns:a16="http://schemas.microsoft.com/office/drawing/2014/main" id="{0A2CAD83-374B-35CE-53E8-8899EA9B3A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BEC723-68AA-7191-39BE-8F208C92AE99}"/>
              </a:ext>
            </a:extLst>
          </p:cNvPr>
          <p:cNvSpPr>
            <a:spLocks noGrp="1"/>
          </p:cNvSpPr>
          <p:nvPr>
            <p:ph type="sldNum" sz="quarter" idx="12"/>
          </p:nvPr>
        </p:nvSpPr>
        <p:spPr/>
        <p:txBody>
          <a:bodyPr/>
          <a:lstStyle/>
          <a:p>
            <a:fld id="{DF0E4596-51ED-496E-8BF6-E6E70F95E67B}" type="slidenum">
              <a:rPr lang="en-IN" smtClean="0"/>
              <a:t>‹#›</a:t>
            </a:fld>
            <a:endParaRPr lang="en-IN"/>
          </a:p>
        </p:txBody>
      </p:sp>
    </p:spTree>
    <p:extLst>
      <p:ext uri="{BB962C8B-B14F-4D97-AF65-F5344CB8AC3E}">
        <p14:creationId xmlns:p14="http://schemas.microsoft.com/office/powerpoint/2010/main" val="27249649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1231BD8-F8EB-C0C4-26BA-CA01B0753EE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1ED1228-3044-8025-2371-BBC89DB83E8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FBA1DCB-8164-1EF0-D63F-0D51A08A3B99}"/>
              </a:ext>
            </a:extLst>
          </p:cNvPr>
          <p:cNvSpPr>
            <a:spLocks noGrp="1"/>
          </p:cNvSpPr>
          <p:nvPr>
            <p:ph type="dt" sz="half" idx="10"/>
          </p:nvPr>
        </p:nvSpPr>
        <p:spPr/>
        <p:txBody>
          <a:bodyPr/>
          <a:lstStyle/>
          <a:p>
            <a:fld id="{032066A6-D1A9-4114-9E94-251832C69923}" type="datetimeFigureOut">
              <a:rPr lang="en-IN" smtClean="0"/>
              <a:t>22-12-2025</a:t>
            </a:fld>
            <a:endParaRPr lang="en-IN"/>
          </a:p>
        </p:txBody>
      </p:sp>
      <p:sp>
        <p:nvSpPr>
          <p:cNvPr id="5" name="Footer Placeholder 4">
            <a:extLst>
              <a:ext uri="{FF2B5EF4-FFF2-40B4-BE49-F238E27FC236}">
                <a16:creationId xmlns:a16="http://schemas.microsoft.com/office/drawing/2014/main" id="{92840341-CF13-2A66-53D2-588E571DD1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F617D7C-CC1C-1264-2DA1-295E6D1AD66D}"/>
              </a:ext>
            </a:extLst>
          </p:cNvPr>
          <p:cNvSpPr>
            <a:spLocks noGrp="1"/>
          </p:cNvSpPr>
          <p:nvPr>
            <p:ph type="sldNum" sz="quarter" idx="12"/>
          </p:nvPr>
        </p:nvSpPr>
        <p:spPr/>
        <p:txBody>
          <a:bodyPr/>
          <a:lstStyle/>
          <a:p>
            <a:fld id="{DF0E4596-51ED-496E-8BF6-E6E70F95E67B}" type="slidenum">
              <a:rPr lang="en-IN" smtClean="0"/>
              <a:t>‹#›</a:t>
            </a:fld>
            <a:endParaRPr lang="en-IN"/>
          </a:p>
        </p:txBody>
      </p:sp>
    </p:spTree>
    <p:extLst>
      <p:ext uri="{BB962C8B-B14F-4D97-AF65-F5344CB8AC3E}">
        <p14:creationId xmlns:p14="http://schemas.microsoft.com/office/powerpoint/2010/main" val="538761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700B29-40C6-2BA3-A1E6-F3D6B197A5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CFF8C6B-3E6D-5141-6436-161A08D0D9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AF8DBB8-43B9-9730-B866-9A749FCB34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32066A6-D1A9-4114-9E94-251832C69923}" type="datetimeFigureOut">
              <a:rPr lang="en-IN" smtClean="0"/>
              <a:t>22-12-2025</a:t>
            </a:fld>
            <a:endParaRPr lang="en-IN"/>
          </a:p>
        </p:txBody>
      </p:sp>
      <p:sp>
        <p:nvSpPr>
          <p:cNvPr id="5" name="Footer Placeholder 4">
            <a:extLst>
              <a:ext uri="{FF2B5EF4-FFF2-40B4-BE49-F238E27FC236}">
                <a16:creationId xmlns:a16="http://schemas.microsoft.com/office/drawing/2014/main" id="{ACDD5448-9797-D45F-7189-84C1AE1CA6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76ED67D6-EA6E-021B-9B76-56F9014206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F0E4596-51ED-496E-8BF6-E6E70F95E67B}" type="slidenum">
              <a:rPr lang="en-IN" smtClean="0"/>
              <a:t>‹#›</a:t>
            </a:fld>
            <a:endParaRPr lang="en-IN"/>
          </a:p>
        </p:txBody>
      </p:sp>
    </p:spTree>
    <p:extLst>
      <p:ext uri="{BB962C8B-B14F-4D97-AF65-F5344CB8AC3E}">
        <p14:creationId xmlns:p14="http://schemas.microsoft.com/office/powerpoint/2010/main" val="11408835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ADCAF8-8823-4E89-8612-21029831A4B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8CA07B2-0819-4B62-9425-7A52BBDD707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grpSp>
        <p:nvGrpSpPr>
          <p:cNvPr id="13" name="Group 12">
            <a:extLst>
              <a:ext uri="{FF2B5EF4-FFF2-40B4-BE49-F238E27FC236}">
                <a16:creationId xmlns:a16="http://schemas.microsoft.com/office/drawing/2014/main" id="{DA02BEE4-A5D4-40AF-882D-49D34B086FFF}"/>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p:grpSpPr>
        <p:sp>
          <p:nvSpPr>
            <p:cNvPr id="14" name="Freeform: Shape 13">
              <a:extLst>
                <a:ext uri="{FF2B5EF4-FFF2-40B4-BE49-F238E27FC236}">
                  <a16:creationId xmlns:a16="http://schemas.microsoft.com/office/drawing/2014/main" id="{0F5843EB-154F-4459-8954-BB1DF64BBD13}"/>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75905135-55D9-431B-8D5A-4C5C92B1FED7}"/>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Shape 5">
              <a:extLst>
                <a:ext uri="{FF2B5EF4-FFF2-40B4-BE49-F238E27FC236}">
                  <a16:creationId xmlns:a16="http://schemas.microsoft.com/office/drawing/2014/main" id="{9B732812-A0BB-4324-B390-DFEF26C109E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01FEC055-6F76-4E20-BC93-76C2F58EAF38}"/>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Shape 7">
              <a:extLst>
                <a:ext uri="{FF2B5EF4-FFF2-40B4-BE49-F238E27FC236}">
                  <a16:creationId xmlns:a16="http://schemas.microsoft.com/office/drawing/2014/main" id="{D74CD21D-122E-4F3D-82AF-F4A37C278AF1}"/>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9">
              <a:extLst>
                <a:ext uri="{FF2B5EF4-FFF2-40B4-BE49-F238E27FC236}">
                  <a16:creationId xmlns:a16="http://schemas.microsoft.com/office/drawing/2014/main" id="{5A7FF51F-3820-41BE-8690-7E758ECFA7CF}"/>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gradFill>
              <a:gsLst>
                <a:gs pos="813">
                  <a:schemeClr val="bg1">
                    <a:alpha val="41000"/>
                  </a:schemeClr>
                </a:gs>
                <a:gs pos="20000">
                  <a:schemeClr val="accent5">
                    <a:lumMod val="85000"/>
                    <a:alpha val="56000"/>
                  </a:schemeClr>
                </a:gs>
                <a:gs pos="44000">
                  <a:schemeClr val="accent6">
                    <a:lumMod val="40000"/>
                    <a:lumOff val="60000"/>
                    <a:alpha val="57000"/>
                  </a:schemeClr>
                </a:gs>
                <a:gs pos="100000">
                  <a:schemeClr val="bg1">
                    <a:alpha val="59000"/>
                  </a:schemeClr>
                </a:gs>
                <a:gs pos="74000">
                  <a:schemeClr val="accent1">
                    <a:lumMod val="91000"/>
                    <a:lumOff val="9000"/>
                    <a:alpha val="34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85EAD889-EA4D-485F-BA9C-F6473A43299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4" name="Title 3">
            <a:extLst>
              <a:ext uri="{FF2B5EF4-FFF2-40B4-BE49-F238E27FC236}">
                <a16:creationId xmlns:a16="http://schemas.microsoft.com/office/drawing/2014/main" id="{A438EA56-8646-05A2-36D5-9122791CBC31}"/>
              </a:ext>
            </a:extLst>
          </p:cNvPr>
          <p:cNvSpPr>
            <a:spLocks noGrp="1"/>
          </p:cNvSpPr>
          <p:nvPr>
            <p:ph type="ctrTitle"/>
          </p:nvPr>
        </p:nvSpPr>
        <p:spPr>
          <a:xfrm>
            <a:off x="3043250" y="1014884"/>
            <a:ext cx="6105194" cy="3283103"/>
          </a:xfrm>
        </p:spPr>
        <p:txBody>
          <a:bodyPr>
            <a:normAutofit/>
          </a:bodyPr>
          <a:lstStyle/>
          <a:p>
            <a:r>
              <a:rPr lang="en-US" sz="6600" dirty="0" err="1" smtClean="0">
                <a:solidFill>
                  <a:schemeClr val="tx2"/>
                </a:solidFill>
                <a:latin typeface="Arial" panose="020B0604020202020204" pitchFamily="34" charset="0"/>
                <a:cs typeface="Arial" panose="020B0604020202020204" pitchFamily="34" charset="0"/>
              </a:rPr>
              <a:t>LangGraph</a:t>
            </a:r>
            <a:endParaRPr lang="en-IN" sz="6600" dirty="0">
              <a:solidFill>
                <a:schemeClr val="tx2"/>
              </a:solidFill>
              <a:latin typeface="Arial" panose="020B0604020202020204" pitchFamily="34" charset="0"/>
              <a:cs typeface="Arial" panose="020B0604020202020204" pitchFamily="34" charset="0"/>
            </a:endParaRPr>
          </a:p>
        </p:txBody>
      </p:sp>
      <p:pic>
        <p:nvPicPr>
          <p:cNvPr id="16" name="Picture 15" descr="A blue and green logo&#10;&#10;Description automatically generated">
            <a:extLst>
              <a:ext uri="{FF2B5EF4-FFF2-40B4-BE49-F238E27FC236}">
                <a16:creationId xmlns:a16="http://schemas.microsoft.com/office/drawing/2014/main" id="{18C91886-4610-0E6C-8B52-92F6E3631F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67415" y="75515"/>
            <a:ext cx="610970" cy="610970"/>
          </a:xfrm>
          <a:prstGeom prst="rect">
            <a:avLst/>
          </a:prstGeom>
        </p:spPr>
      </p:pic>
      <p:grpSp>
        <p:nvGrpSpPr>
          <p:cNvPr id="17" name="Group 16">
            <a:extLst>
              <a:ext uri="{FF2B5EF4-FFF2-40B4-BE49-F238E27FC236}">
                <a16:creationId xmlns:a16="http://schemas.microsoft.com/office/drawing/2014/main" id="{0CC98F91-2037-6AAF-7C21-34FAB6DA435D}"/>
              </a:ext>
            </a:extLst>
          </p:cNvPr>
          <p:cNvGrpSpPr/>
          <p:nvPr/>
        </p:nvGrpSpPr>
        <p:grpSpPr>
          <a:xfrm>
            <a:off x="3626418" y="4759020"/>
            <a:ext cx="4445785" cy="589558"/>
            <a:chOff x="3614024" y="4908823"/>
            <a:chExt cx="4445785" cy="589558"/>
          </a:xfrm>
        </p:grpSpPr>
        <p:sp>
          <p:nvSpPr>
            <p:cNvPr id="18" name="Title 1">
              <a:extLst>
                <a:ext uri="{FF2B5EF4-FFF2-40B4-BE49-F238E27FC236}">
                  <a16:creationId xmlns:a16="http://schemas.microsoft.com/office/drawing/2014/main" id="{D64B9545-AA74-9959-DEF7-A5E273646E5C}"/>
                </a:ext>
              </a:extLst>
            </p:cNvPr>
            <p:cNvSpPr txBox="1">
              <a:spLocks/>
            </p:cNvSpPr>
            <p:nvPr/>
          </p:nvSpPr>
          <p:spPr>
            <a:xfrm>
              <a:off x="3614024" y="4908823"/>
              <a:ext cx="4445785" cy="58955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smtClean="0"/>
                <a:t>By</a:t>
              </a:r>
              <a:r>
                <a:rPr lang="en-US" sz="3200" b="1" dirty="0" smtClean="0">
                  <a:solidFill>
                    <a:srgbClr val="00B0F0"/>
                  </a:solidFill>
                </a:rPr>
                <a:t> </a:t>
              </a:r>
              <a:endParaRPr lang="en-US" sz="3200" b="1" dirty="0">
                <a:solidFill>
                  <a:srgbClr val="00B050"/>
                </a:solidFill>
              </a:endParaRPr>
            </a:p>
          </p:txBody>
        </p:sp>
        <p:pic>
          <p:nvPicPr>
            <p:cNvPr id="19" name="Picture 18" descr="A blue and green logo&#10;&#10;Description automatically generated">
              <a:extLst>
                <a:ext uri="{FF2B5EF4-FFF2-40B4-BE49-F238E27FC236}">
                  <a16:creationId xmlns:a16="http://schemas.microsoft.com/office/drawing/2014/main" id="{93B8DE8A-D399-DD1D-681B-D87204E487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67646" y="4908823"/>
              <a:ext cx="589558" cy="589558"/>
            </a:xfrm>
            <a:prstGeom prst="rect">
              <a:avLst/>
            </a:prstGeom>
          </p:spPr>
        </p:pic>
      </p:grpSp>
    </p:spTree>
    <p:extLst>
      <p:ext uri="{BB962C8B-B14F-4D97-AF65-F5344CB8AC3E}">
        <p14:creationId xmlns:p14="http://schemas.microsoft.com/office/powerpoint/2010/main" val="272867516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8672-BCCD-358E-1B1C-899E93B0C6D9}"/>
              </a:ext>
            </a:extLst>
          </p:cNvPr>
          <p:cNvSpPr>
            <a:spLocks noGrp="1"/>
          </p:cNvSpPr>
          <p:nvPr>
            <p:ph type="title"/>
          </p:nvPr>
        </p:nvSpPr>
        <p:spPr>
          <a:xfrm>
            <a:off x="762000" y="158194"/>
            <a:ext cx="10515600" cy="595418"/>
          </a:xfrm>
        </p:spPr>
        <p:txBody>
          <a:bodyPr>
            <a:normAutofit/>
          </a:bodyPr>
          <a:lstStyle/>
          <a:p>
            <a:pPr algn="ctr" fontAlgn="base"/>
            <a:r>
              <a:rPr lang="en-IN" sz="3200" b="1" dirty="0" err="1" smtClean="0">
                <a:latin typeface="Arial" panose="020B0604020202020204" pitchFamily="34" charset="0"/>
                <a:cs typeface="Arial" panose="020B0604020202020204" pitchFamily="34" charset="0"/>
              </a:rPr>
              <a:t>LangChain</a:t>
            </a:r>
            <a:r>
              <a:rPr lang="en-IN" sz="3200" b="1" dirty="0" smtClean="0">
                <a:latin typeface="Arial" panose="020B0604020202020204" pitchFamily="34" charset="0"/>
                <a:cs typeface="Arial" panose="020B0604020202020204" pitchFamily="34" charset="0"/>
              </a:rPr>
              <a:t> Vs </a:t>
            </a:r>
            <a:r>
              <a:rPr lang="en-IN" sz="3200" b="1" dirty="0" err="1" smtClean="0">
                <a:latin typeface="Arial" panose="020B0604020202020204" pitchFamily="34" charset="0"/>
                <a:cs typeface="Arial" panose="020B0604020202020204" pitchFamily="34" charset="0"/>
              </a:rPr>
              <a:t>LangGraph</a:t>
            </a:r>
            <a:endParaRPr lang="en-IN" sz="3200" b="1" dirty="0">
              <a:latin typeface="Arial" panose="020B0604020202020204" pitchFamily="34" charset="0"/>
              <a:cs typeface="Arial" panose="020B0604020202020204" pitchFamily="34" charset="0"/>
            </a:endParaRPr>
          </a:p>
        </p:txBody>
      </p:sp>
      <p:sp>
        <p:nvSpPr>
          <p:cNvPr id="5" name="Subtitle 2">
            <a:extLst>
              <a:ext uri="{FF2B5EF4-FFF2-40B4-BE49-F238E27FC236}">
                <a16:creationId xmlns:a16="http://schemas.microsoft.com/office/drawing/2014/main" id="{C611B996-6893-C9B0-E3A0-CA5FBBA2E16F}"/>
              </a:ext>
            </a:extLst>
          </p:cNvPr>
          <p:cNvSpPr txBox="1">
            <a:spLocks/>
          </p:cNvSpPr>
          <p:nvPr/>
        </p:nvSpPr>
        <p:spPr>
          <a:xfrm>
            <a:off x="699135" y="753612"/>
            <a:ext cx="10911840" cy="71323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fontAlgn="base"/>
            <a:endParaRPr lang="en-IN" sz="1400" b="1" dirty="0">
              <a:latin typeface="Arial" panose="020B0604020202020204" pitchFamily="34" charset="0"/>
              <a:cs typeface="Arial" panose="020B0604020202020204" pitchFamily="34" charset="0"/>
            </a:endParaRPr>
          </a:p>
        </p:txBody>
      </p:sp>
      <p:sp>
        <p:nvSpPr>
          <p:cNvPr id="4"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Rectangle 5"/>
          <p:cNvSpPr/>
          <p:nvPr/>
        </p:nvSpPr>
        <p:spPr>
          <a:xfrm>
            <a:off x="1034560" y="1013516"/>
            <a:ext cx="10140463" cy="4832092"/>
          </a:xfrm>
          <a:prstGeom prst="rect">
            <a:avLst/>
          </a:prstGeom>
        </p:spPr>
        <p:txBody>
          <a:bodyPr wrap="square">
            <a:spAutoFit/>
          </a:bodyPr>
          <a:lstStyle/>
          <a:p>
            <a:pPr lvl="0" eaLnBrk="0" fontAlgn="base" hangingPunct="0">
              <a:spcBef>
                <a:spcPct val="0"/>
              </a:spcBef>
              <a:spcAft>
                <a:spcPct val="0"/>
              </a:spcAft>
            </a:pPr>
            <a:endParaRPr lang="en-US" altLang="en-US" sz="1400" b="1" dirty="0" smtClean="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en-US" altLang="en-US" sz="1400" b="1" dirty="0" smtClean="0">
                <a:latin typeface="Arial" panose="020B0604020202020204" pitchFamily="34" charset="0"/>
                <a:cs typeface="Arial" panose="020B0604020202020204" pitchFamily="34" charset="0"/>
              </a:rPr>
              <a:t>Problem </a:t>
            </a:r>
            <a:r>
              <a:rPr lang="en-US" altLang="en-US" sz="1400" b="1" dirty="0">
                <a:latin typeface="Arial" panose="020B0604020202020204" pitchFamily="34" charset="0"/>
                <a:cs typeface="Arial" panose="020B0604020202020204" pitchFamily="34" charset="0"/>
              </a:rPr>
              <a:t>with traditional </a:t>
            </a:r>
            <a:r>
              <a:rPr lang="en-US" altLang="en-US" sz="1400" b="1" dirty="0" err="1">
                <a:latin typeface="Arial" panose="020B0604020202020204" pitchFamily="34" charset="0"/>
                <a:cs typeface="Arial" panose="020B0604020202020204" pitchFamily="34" charset="0"/>
              </a:rPr>
              <a:t>LangChain</a:t>
            </a:r>
            <a:r>
              <a:rPr lang="en-US" altLang="en-US" sz="1400" b="1" dirty="0">
                <a:latin typeface="Arial" panose="020B0604020202020204" pitchFamily="34" charset="0"/>
                <a:cs typeface="Arial" panose="020B0604020202020204" pitchFamily="34" charset="0"/>
              </a:rPr>
              <a:t> agents</a:t>
            </a:r>
          </a:p>
          <a:p>
            <a:pPr lvl="0" eaLnBrk="0" fontAlgn="base" hangingPunct="0">
              <a:spcBef>
                <a:spcPct val="0"/>
              </a:spcBef>
              <a:spcAft>
                <a:spcPct val="0"/>
              </a:spcAft>
            </a:pPr>
            <a:r>
              <a:rPr lang="en-US" altLang="en-US" sz="1400" dirty="0" err="1">
                <a:latin typeface="Arial" panose="020B0604020202020204" pitchFamily="34" charset="0"/>
                <a:cs typeface="Arial" panose="020B0604020202020204" pitchFamily="34" charset="0"/>
              </a:rPr>
              <a:t>LangChain</a:t>
            </a:r>
            <a:r>
              <a:rPr lang="en-US" altLang="en-US" sz="1400" dirty="0">
                <a:latin typeface="Arial" panose="020B0604020202020204" pitchFamily="34" charset="0"/>
                <a:cs typeface="Arial" panose="020B0604020202020204" pitchFamily="34" charset="0"/>
              </a:rPr>
              <a:t> agents are:</a:t>
            </a:r>
          </a:p>
          <a:p>
            <a:pPr marL="742950" lvl="1" indent="-285750" eaLnBrk="0" fontAlgn="base" hangingPunct="0">
              <a:spcBef>
                <a:spcPct val="0"/>
              </a:spcBef>
              <a:spcAft>
                <a:spcPct val="0"/>
              </a:spcAft>
              <a:buFont typeface="Arial" panose="020B0604020202020204" pitchFamily="34" charset="0"/>
              <a:buChar char="•"/>
            </a:pPr>
            <a:r>
              <a:rPr lang="en-US" altLang="en-US" sz="1400" dirty="0">
                <a:latin typeface="Arial" panose="020B0604020202020204" pitchFamily="34" charset="0"/>
                <a:cs typeface="Arial" panose="020B0604020202020204" pitchFamily="34" charset="0"/>
              </a:rPr>
              <a:t>Easy to use</a:t>
            </a:r>
          </a:p>
          <a:p>
            <a:pPr marL="742950" lvl="1" indent="-285750" eaLnBrk="0" fontAlgn="base" hangingPunct="0">
              <a:spcBef>
                <a:spcPct val="0"/>
              </a:spcBef>
              <a:spcAft>
                <a:spcPct val="0"/>
              </a:spcAft>
              <a:buFont typeface="Arial" panose="020B0604020202020204" pitchFamily="34" charset="0"/>
              <a:buChar char="•"/>
            </a:pPr>
            <a:r>
              <a:rPr lang="en-US" altLang="en-US" sz="1400" dirty="0">
                <a:latin typeface="Arial" panose="020B0604020202020204" pitchFamily="34" charset="0"/>
                <a:cs typeface="Arial" panose="020B0604020202020204" pitchFamily="34" charset="0"/>
              </a:rPr>
              <a:t>Fast to prototype</a:t>
            </a:r>
          </a:p>
          <a:p>
            <a:pPr marL="742950" lvl="1" indent="-285750" eaLnBrk="0" fontAlgn="base" hangingPunct="0">
              <a:spcBef>
                <a:spcPct val="0"/>
              </a:spcBef>
              <a:spcAft>
                <a:spcPct val="0"/>
              </a:spcAft>
              <a:buFont typeface="Arial" panose="020B0604020202020204" pitchFamily="34" charset="0"/>
              <a:buChar char="•"/>
            </a:pPr>
            <a:r>
              <a:rPr lang="en-US" altLang="en-US" sz="1400" dirty="0">
                <a:latin typeface="Arial" panose="020B0604020202020204" pitchFamily="34" charset="0"/>
                <a:cs typeface="Arial" panose="020B0604020202020204" pitchFamily="34" charset="0"/>
              </a:rPr>
              <a:t>Great for demos</a:t>
            </a:r>
          </a:p>
          <a:p>
            <a:pPr lvl="0" eaLnBrk="0" fontAlgn="base" hangingPunct="0">
              <a:spcBef>
                <a:spcPct val="0"/>
              </a:spcBef>
              <a:spcAft>
                <a:spcPct val="0"/>
              </a:spcAft>
            </a:pPr>
            <a:r>
              <a:rPr lang="en-US" altLang="en-US" sz="1400" dirty="0">
                <a:latin typeface="Arial" panose="020B0604020202020204" pitchFamily="34" charset="0"/>
                <a:cs typeface="Arial" panose="020B0604020202020204" pitchFamily="34" charset="0"/>
              </a:rPr>
              <a:t>But they are </a:t>
            </a:r>
            <a:r>
              <a:rPr lang="en-US" altLang="en-US" sz="1400" b="1" dirty="0">
                <a:latin typeface="Arial" panose="020B0604020202020204" pitchFamily="34" charset="0"/>
                <a:cs typeface="Arial" panose="020B0604020202020204" pitchFamily="34" charset="0"/>
              </a:rPr>
              <a:t>hard to control</a:t>
            </a:r>
            <a:r>
              <a:rPr lang="en-US" altLang="en-US" sz="1400" dirty="0">
                <a:latin typeface="Arial" panose="020B0604020202020204" pitchFamily="34" charset="0"/>
                <a:cs typeface="Arial" panose="020B0604020202020204" pitchFamily="34" charset="0"/>
              </a:rPr>
              <a:t>:</a:t>
            </a:r>
          </a:p>
          <a:p>
            <a:pPr marL="742950" lvl="1" indent="-285750" eaLnBrk="0" fontAlgn="base" hangingPunct="0">
              <a:spcBef>
                <a:spcPct val="0"/>
              </a:spcBef>
              <a:spcAft>
                <a:spcPct val="0"/>
              </a:spcAft>
              <a:buFont typeface="Arial" panose="020B0604020202020204" pitchFamily="34" charset="0"/>
              <a:buChar char="•"/>
            </a:pPr>
            <a:r>
              <a:rPr lang="en-US" altLang="en-US" sz="1400" dirty="0">
                <a:latin typeface="Arial" panose="020B0604020202020204" pitchFamily="34" charset="0"/>
                <a:cs typeface="Arial" panose="020B0604020202020204" pitchFamily="34" charset="0"/>
              </a:rPr>
              <a:t>You cannot see or modify the internal loop</a:t>
            </a:r>
          </a:p>
          <a:p>
            <a:pPr marL="742950" lvl="1" indent="-285750" eaLnBrk="0" fontAlgn="base" hangingPunct="0">
              <a:spcBef>
                <a:spcPct val="0"/>
              </a:spcBef>
              <a:spcAft>
                <a:spcPct val="0"/>
              </a:spcAft>
              <a:buFont typeface="Arial" panose="020B0604020202020204" pitchFamily="34" charset="0"/>
              <a:buChar char="•"/>
            </a:pPr>
            <a:r>
              <a:rPr lang="en-US" altLang="en-US" sz="1400" dirty="0">
                <a:latin typeface="Arial" panose="020B0604020202020204" pitchFamily="34" charset="0"/>
                <a:cs typeface="Arial" panose="020B0604020202020204" pitchFamily="34" charset="0"/>
              </a:rPr>
              <a:t>No explicit state transitions</a:t>
            </a:r>
          </a:p>
          <a:p>
            <a:pPr marL="742950" lvl="1" indent="-285750" eaLnBrk="0" fontAlgn="base" hangingPunct="0">
              <a:spcBef>
                <a:spcPct val="0"/>
              </a:spcBef>
              <a:spcAft>
                <a:spcPct val="0"/>
              </a:spcAft>
              <a:buFont typeface="Arial" panose="020B0604020202020204" pitchFamily="34" charset="0"/>
              <a:buChar char="•"/>
            </a:pPr>
            <a:r>
              <a:rPr lang="en-US" altLang="en-US" sz="1400" dirty="0">
                <a:latin typeface="Arial" panose="020B0604020202020204" pitchFamily="34" charset="0"/>
                <a:cs typeface="Arial" panose="020B0604020202020204" pitchFamily="34" charset="0"/>
              </a:rPr>
              <a:t>Hard to add retries, fallbacks, or approvals</a:t>
            </a:r>
          </a:p>
          <a:p>
            <a:pPr marL="742950" lvl="1" indent="-285750" eaLnBrk="0" fontAlgn="base" hangingPunct="0">
              <a:spcBef>
                <a:spcPct val="0"/>
              </a:spcBef>
              <a:spcAft>
                <a:spcPct val="0"/>
              </a:spcAft>
              <a:buFont typeface="Arial" panose="020B0604020202020204" pitchFamily="34" charset="0"/>
              <a:buChar char="•"/>
            </a:pPr>
            <a:r>
              <a:rPr lang="en-US" altLang="en-US" sz="1400" dirty="0">
                <a:latin typeface="Arial" panose="020B0604020202020204" pitchFamily="34" charset="0"/>
                <a:cs typeface="Arial" panose="020B0604020202020204" pitchFamily="34" charset="0"/>
              </a:rPr>
              <a:t>Difficult to debug long-running agents</a:t>
            </a:r>
          </a:p>
          <a:p>
            <a:pPr lvl="0" eaLnBrk="0" fontAlgn="base" hangingPunct="0">
              <a:spcBef>
                <a:spcPct val="0"/>
              </a:spcBef>
              <a:spcAft>
                <a:spcPct val="0"/>
              </a:spcAft>
            </a:pPr>
            <a:endParaRPr lang="en-US" altLang="en-US" sz="1400" b="1" dirty="0" smtClean="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en-US" altLang="en-US" sz="1400" b="1" dirty="0" err="1" smtClean="0">
                <a:latin typeface="Arial" panose="020B0604020202020204" pitchFamily="34" charset="0"/>
                <a:cs typeface="Arial" panose="020B0604020202020204" pitchFamily="34" charset="0"/>
              </a:rPr>
              <a:t>LangGraph</a:t>
            </a:r>
            <a:r>
              <a:rPr lang="en-US" altLang="en-US" sz="1400" b="1" dirty="0" smtClean="0">
                <a:latin typeface="Arial" panose="020B0604020202020204" pitchFamily="34" charset="0"/>
                <a:cs typeface="Arial" panose="020B0604020202020204" pitchFamily="34" charset="0"/>
              </a:rPr>
              <a:t> </a:t>
            </a:r>
            <a:r>
              <a:rPr lang="en-US" altLang="en-US" sz="1400" b="1" dirty="0">
                <a:latin typeface="Arial" panose="020B0604020202020204" pitchFamily="34" charset="0"/>
                <a:cs typeface="Arial" panose="020B0604020202020204" pitchFamily="34" charset="0"/>
              </a:rPr>
              <a:t>solves this</a:t>
            </a:r>
          </a:p>
          <a:p>
            <a:pPr lvl="0" eaLnBrk="0" fontAlgn="base" hangingPunct="0">
              <a:spcBef>
                <a:spcPct val="0"/>
              </a:spcBef>
              <a:spcAft>
                <a:spcPct val="0"/>
              </a:spcAft>
            </a:pPr>
            <a:endParaRPr lang="en-US" altLang="en-US" sz="1400" dirty="0" smtClean="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en-US" altLang="en-US" sz="1400" dirty="0" err="1" smtClean="0">
                <a:latin typeface="Arial" panose="020B0604020202020204" pitchFamily="34" charset="0"/>
                <a:cs typeface="Arial" panose="020B0604020202020204" pitchFamily="34" charset="0"/>
              </a:rPr>
              <a:t>LangGraph</a:t>
            </a:r>
            <a:r>
              <a:rPr lang="en-US" altLang="en-US" sz="1400" dirty="0" smtClean="0">
                <a:latin typeface="Arial" panose="020B0604020202020204" pitchFamily="34" charset="0"/>
                <a:cs typeface="Arial" panose="020B0604020202020204" pitchFamily="34" charset="0"/>
              </a:rPr>
              <a:t> </a:t>
            </a:r>
            <a:r>
              <a:rPr lang="en-US" altLang="en-US" sz="1400" dirty="0">
                <a:latin typeface="Arial" panose="020B0604020202020204" pitchFamily="34" charset="0"/>
                <a:cs typeface="Arial" panose="020B0604020202020204" pitchFamily="34" charset="0"/>
              </a:rPr>
              <a:t>introduces:</a:t>
            </a:r>
          </a:p>
          <a:p>
            <a:pPr marL="742950" lvl="1" indent="-285750" eaLnBrk="0" fontAlgn="base" hangingPunct="0">
              <a:spcBef>
                <a:spcPct val="0"/>
              </a:spcBef>
              <a:spcAft>
                <a:spcPct val="0"/>
              </a:spcAft>
              <a:buFont typeface="Arial" panose="020B0604020202020204" pitchFamily="34" charset="0"/>
              <a:buChar char="•"/>
            </a:pPr>
            <a:r>
              <a:rPr lang="en-US" altLang="en-US" sz="1400" dirty="0">
                <a:latin typeface="Arial" panose="020B0604020202020204" pitchFamily="34" charset="0"/>
                <a:cs typeface="Arial" panose="020B0604020202020204" pitchFamily="34" charset="0"/>
              </a:rPr>
              <a:t>Explicit control flow</a:t>
            </a:r>
          </a:p>
          <a:p>
            <a:pPr marL="742950" lvl="1" indent="-285750" eaLnBrk="0" fontAlgn="base" hangingPunct="0">
              <a:spcBef>
                <a:spcPct val="0"/>
              </a:spcBef>
              <a:spcAft>
                <a:spcPct val="0"/>
              </a:spcAft>
              <a:buFont typeface="Arial" panose="020B0604020202020204" pitchFamily="34" charset="0"/>
              <a:buChar char="•"/>
            </a:pPr>
            <a:r>
              <a:rPr lang="en-US" altLang="en-US" sz="1400" dirty="0">
                <a:latin typeface="Arial" panose="020B0604020202020204" pitchFamily="34" charset="0"/>
                <a:cs typeface="Arial" panose="020B0604020202020204" pitchFamily="34" charset="0"/>
              </a:rPr>
              <a:t>State machines for agents</a:t>
            </a:r>
          </a:p>
          <a:p>
            <a:pPr marL="742950" lvl="1" indent="-285750" eaLnBrk="0" fontAlgn="base" hangingPunct="0">
              <a:spcBef>
                <a:spcPct val="0"/>
              </a:spcBef>
              <a:spcAft>
                <a:spcPct val="0"/>
              </a:spcAft>
              <a:buFont typeface="Arial" panose="020B0604020202020204" pitchFamily="34" charset="0"/>
              <a:buChar char="•"/>
            </a:pPr>
            <a:r>
              <a:rPr lang="en-US" altLang="en-US" sz="1400" dirty="0">
                <a:latin typeface="Arial" panose="020B0604020202020204" pitchFamily="34" charset="0"/>
                <a:cs typeface="Arial" panose="020B0604020202020204" pitchFamily="34" charset="0"/>
              </a:rPr>
              <a:t>Deterministic execution</a:t>
            </a:r>
          </a:p>
          <a:p>
            <a:pPr marL="742950" lvl="1" indent="-285750" eaLnBrk="0" fontAlgn="base" hangingPunct="0">
              <a:spcBef>
                <a:spcPct val="0"/>
              </a:spcBef>
              <a:spcAft>
                <a:spcPct val="0"/>
              </a:spcAft>
              <a:buFont typeface="Arial" panose="020B0604020202020204" pitchFamily="34" charset="0"/>
              <a:buChar char="•"/>
            </a:pPr>
            <a:r>
              <a:rPr lang="en-US" altLang="en-US" sz="1400" dirty="0">
                <a:latin typeface="Arial" panose="020B0604020202020204" pitchFamily="34" charset="0"/>
                <a:cs typeface="Arial" panose="020B0604020202020204" pitchFamily="34" charset="0"/>
              </a:rPr>
              <a:t>Production reliability</a:t>
            </a:r>
          </a:p>
          <a:p>
            <a:pPr lvl="0" eaLnBrk="0" fontAlgn="base" hangingPunct="0">
              <a:spcBef>
                <a:spcPct val="0"/>
              </a:spcBef>
              <a:spcAft>
                <a:spcPct val="0"/>
              </a:spcAft>
            </a:pPr>
            <a:endParaRPr lang="en-US" altLang="en-US" sz="1400" b="1" dirty="0" smtClean="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en-US" altLang="en-US" sz="1400" b="1" dirty="0" smtClean="0">
                <a:latin typeface="Arial" panose="020B0604020202020204" pitchFamily="34" charset="0"/>
                <a:cs typeface="Arial" panose="020B0604020202020204" pitchFamily="34" charset="0"/>
              </a:rPr>
              <a:t>Key </a:t>
            </a:r>
            <a:r>
              <a:rPr lang="en-US" altLang="en-US" sz="1400" b="1" dirty="0">
                <a:latin typeface="Arial" panose="020B0604020202020204" pitchFamily="34" charset="0"/>
                <a:cs typeface="Arial" panose="020B0604020202020204" pitchFamily="34" charset="0"/>
              </a:rPr>
              <a:t>idea:</a:t>
            </a:r>
            <a:r>
              <a:rPr lang="en-US" altLang="en-US" sz="1400" dirty="0">
                <a:latin typeface="Arial" panose="020B0604020202020204" pitchFamily="34" charset="0"/>
                <a:cs typeface="Arial" panose="020B0604020202020204" pitchFamily="34" charset="0"/>
              </a:rPr>
              <a:t> </a:t>
            </a:r>
            <a:r>
              <a:rPr lang="en-US" altLang="en-US" sz="1400" dirty="0" err="1">
                <a:latin typeface="Arial" panose="020B0604020202020204" pitchFamily="34" charset="0"/>
                <a:cs typeface="Arial" panose="020B0604020202020204" pitchFamily="34" charset="0"/>
              </a:rPr>
              <a:t>LangGraph</a:t>
            </a:r>
            <a:r>
              <a:rPr lang="en-US" altLang="en-US" sz="1400" dirty="0">
                <a:latin typeface="Arial" panose="020B0604020202020204" pitchFamily="34" charset="0"/>
                <a:cs typeface="Arial" panose="020B0604020202020204" pitchFamily="34" charset="0"/>
              </a:rPr>
              <a:t> turns agents into graphs.</a:t>
            </a:r>
          </a:p>
          <a:p>
            <a:pPr marL="285750" indent="-285750">
              <a:buFont typeface="Arial" panose="020B0604020202020204" pitchFamily="34" charset="0"/>
              <a:buChar char="•"/>
            </a:pPr>
            <a:endParaRPr lang="en-IN" sz="1400" dirty="0">
              <a:latin typeface="Arial" panose="020B0604020202020204" pitchFamily="34" charset="0"/>
              <a:cs typeface="Arial" panose="020B0604020202020204" pitchFamily="34" charset="0"/>
            </a:endParaRPr>
          </a:p>
        </p:txBody>
      </p:sp>
      <p:sp>
        <p:nvSpPr>
          <p:cNvPr id="8" name="Rectangle 7"/>
          <p:cNvSpPr/>
          <p:nvPr/>
        </p:nvSpPr>
        <p:spPr>
          <a:xfrm>
            <a:off x="6808175" y="2198455"/>
            <a:ext cx="4469425" cy="2462213"/>
          </a:xfrm>
          <a:prstGeom prst="rect">
            <a:avLst/>
          </a:prstGeom>
        </p:spPr>
        <p:txBody>
          <a:bodyPr wrap="square">
            <a:spAutoFit/>
          </a:bodyPr>
          <a:lstStyle/>
          <a:p>
            <a:r>
              <a:rPr lang="en-IN" sz="1400" b="1" dirty="0">
                <a:latin typeface="Arial" panose="020B0604020202020204" pitchFamily="34" charset="0"/>
                <a:cs typeface="Arial" panose="020B0604020202020204" pitchFamily="34" charset="0"/>
              </a:rPr>
              <a:t>Conceptual Shift: Chain → Graph</a:t>
            </a:r>
          </a:p>
          <a:p>
            <a:endParaRPr lang="en-IN" sz="1400" b="1" dirty="0" smtClean="0">
              <a:latin typeface="Arial" panose="020B0604020202020204" pitchFamily="34" charset="0"/>
              <a:cs typeface="Arial" panose="020B0604020202020204" pitchFamily="34" charset="0"/>
            </a:endParaRPr>
          </a:p>
          <a:p>
            <a:r>
              <a:rPr lang="en-IN" sz="1400" b="1" dirty="0" err="1" smtClean="0">
                <a:latin typeface="Arial" panose="020B0604020202020204" pitchFamily="34" charset="0"/>
                <a:cs typeface="Arial" panose="020B0604020202020204" pitchFamily="34" charset="0"/>
              </a:rPr>
              <a:t>LangChain</a:t>
            </a:r>
            <a:r>
              <a:rPr lang="en-IN" sz="1400" b="1" dirty="0" smtClean="0">
                <a:latin typeface="Arial" panose="020B0604020202020204" pitchFamily="34" charset="0"/>
                <a:cs typeface="Arial" panose="020B0604020202020204" pitchFamily="34" charset="0"/>
              </a:rPr>
              <a:t> </a:t>
            </a:r>
            <a:r>
              <a:rPr lang="en-IN" sz="1400" b="1" dirty="0">
                <a:latin typeface="Arial" panose="020B0604020202020204" pitchFamily="34" charset="0"/>
                <a:cs typeface="Arial" panose="020B0604020202020204" pitchFamily="34" charset="0"/>
              </a:rPr>
              <a:t>mental model</a:t>
            </a:r>
          </a:p>
          <a:p>
            <a:r>
              <a:rPr lang="en-IN" sz="1400" dirty="0">
                <a:latin typeface="Arial" panose="020B0604020202020204" pitchFamily="34" charset="0"/>
                <a:cs typeface="Arial" panose="020B0604020202020204" pitchFamily="34" charset="0"/>
              </a:rPr>
              <a:t>Prompt → LLM → Tool → LLM → Output</a:t>
            </a:r>
          </a:p>
          <a:p>
            <a:pPr marL="742950" lvl="1" indent="-285750">
              <a:buFont typeface="Arial" panose="020B0604020202020204" pitchFamily="34" charset="0"/>
              <a:buChar char="•"/>
            </a:pPr>
            <a:r>
              <a:rPr lang="en-IN" sz="1400" dirty="0">
                <a:latin typeface="Arial" panose="020B0604020202020204" pitchFamily="34" charset="0"/>
                <a:cs typeface="Arial" panose="020B0604020202020204" pitchFamily="34" charset="0"/>
              </a:rPr>
              <a:t>Implicit loop</a:t>
            </a:r>
          </a:p>
          <a:p>
            <a:pPr marL="742950" lvl="1" indent="-285750">
              <a:buFont typeface="Arial" panose="020B0604020202020204" pitchFamily="34" charset="0"/>
              <a:buChar char="•"/>
            </a:pPr>
            <a:r>
              <a:rPr lang="en-IN" sz="1400" dirty="0">
                <a:latin typeface="Arial" panose="020B0604020202020204" pitchFamily="34" charset="0"/>
                <a:cs typeface="Arial" panose="020B0604020202020204" pitchFamily="34" charset="0"/>
              </a:rPr>
              <a:t>Hidden logic</a:t>
            </a:r>
          </a:p>
          <a:p>
            <a:endParaRPr lang="en-IN" sz="1400" b="1" dirty="0" smtClean="0">
              <a:latin typeface="Arial" panose="020B0604020202020204" pitchFamily="34" charset="0"/>
              <a:cs typeface="Arial" panose="020B0604020202020204" pitchFamily="34" charset="0"/>
            </a:endParaRPr>
          </a:p>
          <a:p>
            <a:r>
              <a:rPr lang="en-IN" sz="1400" b="1" dirty="0" err="1" smtClean="0">
                <a:latin typeface="Arial" panose="020B0604020202020204" pitchFamily="34" charset="0"/>
                <a:cs typeface="Arial" panose="020B0604020202020204" pitchFamily="34" charset="0"/>
              </a:rPr>
              <a:t>LangGraph</a:t>
            </a:r>
            <a:r>
              <a:rPr lang="en-IN" sz="1400" b="1" dirty="0" smtClean="0">
                <a:latin typeface="Arial" panose="020B0604020202020204" pitchFamily="34" charset="0"/>
                <a:cs typeface="Arial" panose="020B0604020202020204" pitchFamily="34" charset="0"/>
              </a:rPr>
              <a:t> </a:t>
            </a:r>
            <a:r>
              <a:rPr lang="en-IN" sz="1400" b="1" dirty="0">
                <a:latin typeface="Arial" panose="020B0604020202020204" pitchFamily="34" charset="0"/>
                <a:cs typeface="Arial" panose="020B0604020202020204" pitchFamily="34" charset="0"/>
              </a:rPr>
              <a:t>mental model</a:t>
            </a:r>
          </a:p>
          <a:p>
            <a:r>
              <a:rPr lang="en-IN" sz="1400" dirty="0">
                <a:latin typeface="Arial" panose="020B0604020202020204" pitchFamily="34" charset="0"/>
                <a:cs typeface="Arial" panose="020B0604020202020204" pitchFamily="34" charset="0"/>
              </a:rPr>
              <a:t>Node → Edge → Node → Conditional Edge → Node</a:t>
            </a:r>
          </a:p>
          <a:p>
            <a:pPr marL="742950" lvl="1" indent="-285750">
              <a:buFont typeface="Arial" panose="020B0604020202020204" pitchFamily="34" charset="0"/>
              <a:buChar char="•"/>
            </a:pPr>
            <a:r>
              <a:rPr lang="en-IN" sz="1400" dirty="0">
                <a:latin typeface="Arial" panose="020B0604020202020204" pitchFamily="34" charset="0"/>
                <a:cs typeface="Arial" panose="020B0604020202020204" pitchFamily="34" charset="0"/>
              </a:rPr>
              <a:t>Explicit execution</a:t>
            </a:r>
          </a:p>
          <a:p>
            <a:pPr marL="742950" lvl="1" indent="-285750">
              <a:buFont typeface="Arial" panose="020B0604020202020204" pitchFamily="34" charset="0"/>
              <a:buChar char="•"/>
            </a:pPr>
            <a:r>
              <a:rPr lang="en-IN" sz="1400" dirty="0">
                <a:latin typeface="Arial" panose="020B0604020202020204" pitchFamily="34" charset="0"/>
                <a:cs typeface="Arial" panose="020B0604020202020204" pitchFamily="34" charset="0"/>
              </a:rPr>
              <a:t>You define every transition</a:t>
            </a:r>
          </a:p>
        </p:txBody>
      </p:sp>
    </p:spTree>
    <p:extLst>
      <p:ext uri="{BB962C8B-B14F-4D97-AF65-F5344CB8AC3E}">
        <p14:creationId xmlns:p14="http://schemas.microsoft.com/office/powerpoint/2010/main" val="22742532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8672-BCCD-358E-1B1C-899E93B0C6D9}"/>
              </a:ext>
            </a:extLst>
          </p:cNvPr>
          <p:cNvSpPr>
            <a:spLocks noGrp="1"/>
          </p:cNvSpPr>
          <p:nvPr>
            <p:ph type="title"/>
          </p:nvPr>
        </p:nvSpPr>
        <p:spPr>
          <a:xfrm>
            <a:off x="762000" y="158194"/>
            <a:ext cx="10515600" cy="595418"/>
          </a:xfrm>
        </p:spPr>
        <p:txBody>
          <a:bodyPr>
            <a:normAutofit/>
          </a:bodyPr>
          <a:lstStyle/>
          <a:p>
            <a:pPr algn="ctr" fontAlgn="base"/>
            <a:r>
              <a:rPr lang="en-US" sz="3200" b="1" dirty="0" smtClean="0">
                <a:latin typeface="Arial" panose="020B0604020202020204" pitchFamily="34" charset="0"/>
                <a:cs typeface="Arial" panose="020B0604020202020204" pitchFamily="34" charset="0"/>
              </a:rPr>
              <a:t>Building </a:t>
            </a:r>
            <a:r>
              <a:rPr lang="en-US" sz="3200" b="1" dirty="0">
                <a:latin typeface="Arial" panose="020B0604020202020204" pitchFamily="34" charset="0"/>
                <a:cs typeface="Arial" panose="020B0604020202020204" pitchFamily="34" charset="0"/>
              </a:rPr>
              <a:t>Blocks of </a:t>
            </a:r>
            <a:r>
              <a:rPr lang="en-US" sz="3200" b="1" dirty="0" err="1">
                <a:latin typeface="Arial" panose="020B0604020202020204" pitchFamily="34" charset="0"/>
                <a:cs typeface="Arial" panose="020B0604020202020204" pitchFamily="34" charset="0"/>
              </a:rPr>
              <a:t>LangGraph</a:t>
            </a:r>
            <a:endParaRPr lang="en-IN" sz="3200" b="1" dirty="0">
              <a:latin typeface="Arial" panose="020B0604020202020204" pitchFamily="34" charset="0"/>
              <a:cs typeface="Arial" panose="020B0604020202020204" pitchFamily="34" charset="0"/>
            </a:endParaRPr>
          </a:p>
        </p:txBody>
      </p:sp>
      <p:sp>
        <p:nvSpPr>
          <p:cNvPr id="5" name="Subtitle 2">
            <a:extLst>
              <a:ext uri="{FF2B5EF4-FFF2-40B4-BE49-F238E27FC236}">
                <a16:creationId xmlns:a16="http://schemas.microsoft.com/office/drawing/2014/main" id="{C611B996-6893-C9B0-E3A0-CA5FBBA2E16F}"/>
              </a:ext>
            </a:extLst>
          </p:cNvPr>
          <p:cNvSpPr txBox="1">
            <a:spLocks/>
          </p:cNvSpPr>
          <p:nvPr/>
        </p:nvSpPr>
        <p:spPr>
          <a:xfrm>
            <a:off x="699135" y="753612"/>
            <a:ext cx="10911840" cy="450418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l">
              <a:buFont typeface="Arial" panose="020B0604020202020204" pitchFamily="34" charset="0"/>
              <a:buChar char="•"/>
            </a:pPr>
            <a:endParaRPr lang="en-US" sz="1400" b="1" dirty="0" smtClean="0">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sz="1400" b="1" dirty="0" smtClean="0">
                <a:latin typeface="Arial" panose="020B0604020202020204" pitchFamily="34" charset="0"/>
                <a:cs typeface="Arial" panose="020B0604020202020204" pitchFamily="34" charset="0"/>
              </a:rPr>
              <a:t>Nodes</a:t>
            </a:r>
            <a:endParaRPr lang="en-US" sz="1400" b="1" dirty="0">
              <a:latin typeface="Arial" panose="020B0604020202020204" pitchFamily="34" charset="0"/>
              <a:cs typeface="Arial" panose="020B0604020202020204" pitchFamily="34" charset="0"/>
            </a:endParaRPr>
          </a:p>
          <a:p>
            <a:pPr marL="742950" lvl="1" indent="-285750" algn="l">
              <a:buFont typeface="Arial" panose="020B0604020202020204" pitchFamily="34" charset="0"/>
              <a:buChar char="•"/>
            </a:pPr>
            <a:r>
              <a:rPr lang="en-US" sz="1400" dirty="0" smtClean="0">
                <a:latin typeface="Arial" panose="020B0604020202020204" pitchFamily="34" charset="0"/>
                <a:cs typeface="Arial" panose="020B0604020202020204" pitchFamily="34" charset="0"/>
              </a:rPr>
              <a:t>Nodes are individual functions or operation that perform specific tasks within the graph. Each node receives input(current state) ,process it and produces and output  or and updated state.</a:t>
            </a:r>
          </a:p>
          <a:p>
            <a:pPr marL="285750" indent="-285750" algn="l">
              <a:buFont typeface="Arial" panose="020B0604020202020204" pitchFamily="34" charset="0"/>
              <a:buChar char="•"/>
            </a:pPr>
            <a:r>
              <a:rPr lang="en-US" sz="1400" b="1" dirty="0">
                <a:latin typeface="Arial" panose="020B0604020202020204" pitchFamily="34" charset="0"/>
                <a:cs typeface="Arial" panose="020B0604020202020204" pitchFamily="34" charset="0"/>
              </a:rPr>
              <a:t>Edges:</a:t>
            </a:r>
          </a:p>
          <a:p>
            <a:pPr marL="742950" lvl="1" indent="-285750" algn="l">
              <a:buFont typeface="Arial" panose="020B0604020202020204" pitchFamily="34" charset="0"/>
              <a:buChar char="•"/>
            </a:pPr>
            <a:r>
              <a:rPr lang="en-US" sz="1400" dirty="0" smtClean="0">
                <a:latin typeface="Arial" panose="020B0604020202020204" pitchFamily="34" charset="0"/>
                <a:cs typeface="Arial" panose="020B0604020202020204" pitchFamily="34" charset="0"/>
              </a:rPr>
              <a:t>Edges are the connections between nodes that determines the flow of execution. Tell which node should be executed next after the current one completes its task.</a:t>
            </a:r>
          </a:p>
          <a:p>
            <a:pPr marL="285750" indent="-285750" algn="l">
              <a:buFont typeface="Arial" panose="020B0604020202020204" pitchFamily="34" charset="0"/>
              <a:buChar char="•"/>
            </a:pPr>
            <a:r>
              <a:rPr lang="en-US" sz="1400" b="1" dirty="0" err="1">
                <a:latin typeface="Arial" panose="020B0604020202020204" pitchFamily="34" charset="0"/>
                <a:cs typeface="Arial" panose="020B0604020202020204" pitchFamily="34" charset="0"/>
              </a:rPr>
              <a:t>StateGraph</a:t>
            </a:r>
            <a:r>
              <a:rPr lang="en-US" sz="1400" b="1" dirty="0">
                <a:latin typeface="Arial" panose="020B0604020202020204" pitchFamily="34" charset="0"/>
                <a:cs typeface="Arial" panose="020B0604020202020204" pitchFamily="34" charset="0"/>
              </a:rPr>
              <a:t>:</a:t>
            </a:r>
          </a:p>
          <a:p>
            <a:pPr marL="742950" lvl="1" indent="-285750" algn="l">
              <a:buFont typeface="Arial" panose="020B0604020202020204" pitchFamily="34" charset="0"/>
              <a:buChar char="•"/>
            </a:pPr>
            <a:r>
              <a:rPr lang="en-US" sz="1400" dirty="0">
                <a:latin typeface="Arial" panose="020B0604020202020204" pitchFamily="34" charset="0"/>
                <a:cs typeface="Arial" panose="020B0604020202020204" pitchFamily="34" charset="0"/>
              </a:rPr>
              <a:t>Is a class in </a:t>
            </a:r>
            <a:r>
              <a:rPr lang="en-US" sz="1400" dirty="0" err="1">
                <a:latin typeface="Arial" panose="020B0604020202020204" pitchFamily="34" charset="0"/>
                <a:cs typeface="Arial" panose="020B0604020202020204" pitchFamily="34" charset="0"/>
              </a:rPr>
              <a:t>LangGraph</a:t>
            </a:r>
            <a:r>
              <a:rPr lang="en-US" sz="1400" dirty="0">
                <a:latin typeface="Arial" panose="020B0604020202020204" pitchFamily="34" charset="0"/>
                <a:cs typeface="Arial" panose="020B0604020202020204" pitchFamily="34" charset="0"/>
              </a:rPr>
              <a:t> used to build and compile the graph structure. It manages the nodes, edges and the overall the state, ensuring that the workflow operated in a unified way and that data flows correctly between components.</a:t>
            </a:r>
          </a:p>
          <a:p>
            <a:pPr marL="285750" indent="-285750" algn="l">
              <a:buFont typeface="Arial" panose="020B0604020202020204" pitchFamily="34" charset="0"/>
              <a:buChar char="•"/>
            </a:pPr>
            <a:r>
              <a:rPr lang="en-US" sz="1400" b="1" dirty="0">
                <a:latin typeface="Arial" panose="020B0604020202020204" pitchFamily="34" charset="0"/>
                <a:cs typeface="Arial" panose="020B0604020202020204" pitchFamily="34" charset="0"/>
              </a:rPr>
              <a:t>State:</a:t>
            </a:r>
          </a:p>
          <a:p>
            <a:pPr marL="742950" lvl="1" indent="-285750" algn="l">
              <a:buFont typeface="Arial" panose="020B0604020202020204" pitchFamily="34" charset="0"/>
              <a:buChar char="•"/>
            </a:pPr>
            <a:r>
              <a:rPr lang="en-US" sz="1400" dirty="0">
                <a:latin typeface="Arial" panose="020B0604020202020204" pitchFamily="34" charset="0"/>
                <a:cs typeface="Arial" panose="020B0604020202020204" pitchFamily="34" charset="0"/>
              </a:rPr>
              <a:t>It is a shared data structure that holds the current information or context of the entire application.</a:t>
            </a:r>
          </a:p>
          <a:p>
            <a:pPr marL="285750" indent="-285750" algn="l">
              <a:buFont typeface="Arial" panose="020B0604020202020204" pitchFamily="34" charset="0"/>
              <a:buChar char="•"/>
            </a:pPr>
            <a:r>
              <a:rPr lang="en-US" sz="1400" b="1" dirty="0" smtClean="0">
                <a:latin typeface="Arial" panose="020B0604020202020204" pitchFamily="34" charset="0"/>
                <a:cs typeface="Arial" panose="020B0604020202020204" pitchFamily="34" charset="0"/>
              </a:rPr>
              <a:t>Conditional </a:t>
            </a:r>
            <a:r>
              <a:rPr lang="en-US" sz="1400" b="1" dirty="0">
                <a:latin typeface="Arial" panose="020B0604020202020204" pitchFamily="34" charset="0"/>
                <a:cs typeface="Arial" panose="020B0604020202020204" pitchFamily="34" charset="0"/>
              </a:rPr>
              <a:t>Edges (Decision Making)</a:t>
            </a:r>
          </a:p>
          <a:p>
            <a:pPr marL="742950" lvl="1" indent="-285750" algn="l">
              <a:buFont typeface="Arial" panose="020B0604020202020204" pitchFamily="34" charset="0"/>
              <a:buChar char="•"/>
            </a:pPr>
            <a:r>
              <a:rPr lang="en-US" sz="1400" dirty="0">
                <a:latin typeface="Arial" panose="020B0604020202020204" pitchFamily="34" charset="0"/>
                <a:cs typeface="Arial" panose="020B0604020202020204" pitchFamily="34" charset="0"/>
              </a:rPr>
              <a:t>This is where agents become intelligent.</a:t>
            </a:r>
          </a:p>
          <a:p>
            <a:pPr marL="285750" indent="-285750" algn="l">
              <a:buFont typeface="Arial" panose="020B0604020202020204" pitchFamily="34" charset="0"/>
              <a:buChar char="•"/>
            </a:pPr>
            <a:r>
              <a:rPr lang="en-IN" sz="1400" b="1" dirty="0">
                <a:latin typeface="Arial" panose="020B0604020202020204" pitchFamily="34" charset="0"/>
                <a:cs typeface="Arial" panose="020B0604020202020204" pitchFamily="34" charset="0"/>
              </a:rPr>
              <a:t>Persistence &amp; </a:t>
            </a:r>
            <a:r>
              <a:rPr lang="en-IN" sz="1400" b="1" dirty="0" err="1" smtClean="0">
                <a:latin typeface="Arial" panose="020B0604020202020204" pitchFamily="34" charset="0"/>
                <a:cs typeface="Arial" panose="020B0604020202020204" pitchFamily="34" charset="0"/>
              </a:rPr>
              <a:t>Checkpointing</a:t>
            </a:r>
            <a:endParaRPr lang="en-IN" sz="1400" b="1" dirty="0" smtClean="0">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IN" sz="1400" b="1" dirty="0" smtClean="0">
                <a:latin typeface="Arial" panose="020B0604020202020204" pitchFamily="34" charset="0"/>
                <a:cs typeface="Arial" panose="020B0604020202020204" pitchFamily="34" charset="0"/>
              </a:rPr>
              <a:t>Streaming</a:t>
            </a:r>
          </a:p>
          <a:p>
            <a:pPr marL="285750" indent="-285750" algn="l">
              <a:buFont typeface="Arial" panose="020B0604020202020204" pitchFamily="34" charset="0"/>
              <a:buChar char="•"/>
            </a:pPr>
            <a:r>
              <a:rPr lang="en-IN" sz="1400" b="1" dirty="0" smtClean="0">
                <a:latin typeface="Arial" panose="020B0604020202020204" pitchFamily="34" charset="0"/>
                <a:cs typeface="Arial" panose="020B0604020202020204" pitchFamily="34" charset="0"/>
              </a:rPr>
              <a:t>Human-in-the-loop</a:t>
            </a:r>
          </a:p>
          <a:p>
            <a:pPr marL="285750" indent="-285750" algn="l">
              <a:buFont typeface="Arial" panose="020B0604020202020204" pitchFamily="34" charset="0"/>
              <a:buChar char="•"/>
            </a:pPr>
            <a:r>
              <a:rPr lang="en-IN" sz="1400" b="1" dirty="0">
                <a:latin typeface="Arial" panose="020B0604020202020204" pitchFamily="34" charset="0"/>
                <a:cs typeface="Arial" panose="020B0604020202020204" pitchFamily="34" charset="0"/>
              </a:rPr>
              <a:t>Time Travel</a:t>
            </a:r>
            <a:endParaRPr lang="en-US" sz="1400" b="1" dirty="0">
              <a:latin typeface="Arial" panose="020B0604020202020204" pitchFamily="34" charset="0"/>
              <a:cs typeface="Arial" panose="020B0604020202020204" pitchFamily="34" charset="0"/>
            </a:endParaRPr>
          </a:p>
        </p:txBody>
      </p:sp>
      <p:sp>
        <p:nvSpPr>
          <p:cNvPr id="4"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3191235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8672-BCCD-358E-1B1C-899E93B0C6D9}"/>
              </a:ext>
            </a:extLst>
          </p:cNvPr>
          <p:cNvSpPr>
            <a:spLocks noGrp="1"/>
          </p:cNvSpPr>
          <p:nvPr>
            <p:ph type="title"/>
          </p:nvPr>
        </p:nvSpPr>
        <p:spPr>
          <a:xfrm>
            <a:off x="762000" y="158194"/>
            <a:ext cx="10515600" cy="595418"/>
          </a:xfrm>
        </p:spPr>
        <p:txBody>
          <a:bodyPr>
            <a:normAutofit/>
          </a:bodyPr>
          <a:lstStyle/>
          <a:p>
            <a:pPr algn="ctr" fontAlgn="base"/>
            <a:r>
              <a:rPr lang="en-US" sz="3200" b="1" dirty="0" smtClean="0">
                <a:latin typeface="Arial" panose="020B0604020202020204" pitchFamily="34" charset="0"/>
                <a:cs typeface="Arial" panose="020B0604020202020204" pitchFamily="34" charset="0"/>
              </a:rPr>
              <a:t>Workflows </a:t>
            </a:r>
            <a:endParaRPr lang="en-IN" sz="3200" b="1" dirty="0">
              <a:latin typeface="Arial" panose="020B0604020202020204" pitchFamily="34" charset="0"/>
              <a:cs typeface="Arial" panose="020B0604020202020204" pitchFamily="34" charset="0"/>
            </a:endParaRPr>
          </a:p>
        </p:txBody>
      </p:sp>
      <p:sp>
        <p:nvSpPr>
          <p:cNvPr id="4"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pic>
        <p:nvPicPr>
          <p:cNvPr id="3" name="Picture 2"/>
          <p:cNvPicPr>
            <a:picLocks noChangeAspect="1"/>
          </p:cNvPicPr>
          <p:nvPr/>
        </p:nvPicPr>
        <p:blipFill>
          <a:blip r:embed="rId2"/>
          <a:stretch>
            <a:fillRect/>
          </a:stretch>
        </p:blipFill>
        <p:spPr>
          <a:xfrm>
            <a:off x="762001" y="1060703"/>
            <a:ext cx="11042904" cy="5195561"/>
          </a:xfrm>
          <a:prstGeom prst="rect">
            <a:avLst/>
          </a:prstGeom>
        </p:spPr>
      </p:pic>
    </p:spTree>
    <p:extLst>
      <p:ext uri="{BB962C8B-B14F-4D97-AF65-F5344CB8AC3E}">
        <p14:creationId xmlns:p14="http://schemas.microsoft.com/office/powerpoint/2010/main" val="30640806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8672-BCCD-358E-1B1C-899E93B0C6D9}"/>
              </a:ext>
            </a:extLst>
          </p:cNvPr>
          <p:cNvSpPr>
            <a:spLocks noGrp="1"/>
          </p:cNvSpPr>
          <p:nvPr>
            <p:ph type="title"/>
          </p:nvPr>
        </p:nvSpPr>
        <p:spPr>
          <a:xfrm>
            <a:off x="762000" y="158194"/>
            <a:ext cx="10515600" cy="595418"/>
          </a:xfrm>
        </p:spPr>
        <p:txBody>
          <a:bodyPr>
            <a:normAutofit/>
          </a:bodyPr>
          <a:lstStyle/>
          <a:p>
            <a:pPr algn="ctr" fontAlgn="base"/>
            <a:r>
              <a:rPr lang="en-US" sz="3200" b="1" dirty="0" smtClean="0">
                <a:latin typeface="Arial" panose="020B0604020202020204" pitchFamily="34" charset="0"/>
                <a:cs typeface="Arial" panose="020B0604020202020204" pitchFamily="34" charset="0"/>
              </a:rPr>
              <a:t>Parallelization </a:t>
            </a:r>
            <a:endParaRPr lang="en-IN" sz="3200" b="1" dirty="0">
              <a:latin typeface="Arial" panose="020B0604020202020204" pitchFamily="34" charset="0"/>
              <a:cs typeface="Arial" panose="020B0604020202020204" pitchFamily="34" charset="0"/>
            </a:endParaRPr>
          </a:p>
        </p:txBody>
      </p:sp>
      <p:sp>
        <p:nvSpPr>
          <p:cNvPr id="4"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696916" y="1374703"/>
            <a:ext cx="10065572"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smtClean="0">
                <a:ln>
                  <a:noFill/>
                </a:ln>
                <a:solidFill>
                  <a:schemeClr val="tx1"/>
                </a:solidFill>
                <a:effectLst/>
                <a:latin typeface="Arial" panose="020B0604020202020204" pitchFamily="34" charset="0"/>
              </a:rPr>
              <a:t>Parallelization</a:t>
            </a:r>
            <a:r>
              <a:rPr kumimoji="0" lang="en-US" altLang="en-US" sz="1400" b="0" i="0" u="none" strike="noStrike" cap="none" normalizeH="0" baseline="0" dirty="0" smtClean="0">
                <a:ln>
                  <a:noFill/>
                </a:ln>
                <a:solidFill>
                  <a:schemeClr val="tx1"/>
                </a:solidFill>
                <a:effectLst/>
                <a:latin typeface="Arial" panose="020B0604020202020204" pitchFamily="34" charset="0"/>
              </a:rPr>
              <a:t/>
            </a:r>
            <a:br>
              <a:rPr kumimoji="0" lang="en-US" altLang="en-US" sz="1400" b="0" i="0" u="none" strike="noStrike" cap="none" normalizeH="0" baseline="0" dirty="0" smtClean="0">
                <a:ln>
                  <a:noFill/>
                </a:ln>
                <a:solidFill>
                  <a:schemeClr val="tx1"/>
                </a:solidFill>
                <a:effectLst/>
                <a:latin typeface="Arial" panose="020B0604020202020204" pitchFamily="34" charset="0"/>
              </a:rPr>
            </a:br>
            <a:r>
              <a:rPr kumimoji="0" lang="en-US" altLang="en-US" sz="1400" b="0" i="0" u="none" strike="noStrike" cap="none" normalizeH="0" baseline="0" dirty="0" smtClean="0">
                <a:ln>
                  <a:noFill/>
                </a:ln>
                <a:solidFill>
                  <a:schemeClr val="tx1"/>
                </a:solidFill>
                <a:effectLst/>
                <a:latin typeface="Arial" panose="020B0604020202020204" pitchFamily="34" charset="0"/>
              </a:rPr>
              <a:t>Parallelization means running multiple LLM tasks </a:t>
            </a:r>
            <a:r>
              <a:rPr kumimoji="0" lang="en-US" altLang="en-US" sz="1400" b="1" i="0" u="none" strike="noStrike" cap="none" normalizeH="0" baseline="0" dirty="0" smtClean="0">
                <a:ln>
                  <a:noFill/>
                </a:ln>
                <a:solidFill>
                  <a:schemeClr val="tx1"/>
                </a:solidFill>
                <a:effectLst/>
                <a:latin typeface="Arial" panose="020B0604020202020204" pitchFamily="34" charset="0"/>
              </a:rPr>
              <a:t>at the same time</a:t>
            </a:r>
            <a:r>
              <a:rPr kumimoji="0" lang="en-US" altLang="en-US" sz="1400" b="0" i="0" u="none" strike="noStrike" cap="none" normalizeH="0" baseline="0" dirty="0" smtClean="0">
                <a:ln>
                  <a:noFill/>
                </a:ln>
                <a:solidFill>
                  <a:schemeClr val="tx1"/>
                </a:solidFill>
                <a:effectLst/>
                <a:latin typeface="Arial" panose="020B0604020202020204" pitchFamily="34" charset="0"/>
              </a:rPr>
              <a:t> instead of sequentially.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smtClean="0">
                <a:ln>
                  <a:noFill/>
                </a:ln>
                <a:solidFill>
                  <a:schemeClr val="tx1"/>
                </a:solidFill>
                <a:effectLst/>
                <a:latin typeface="Arial" panose="020B0604020202020204" pitchFamily="34" charset="0"/>
              </a:rPr>
              <a:t>Why use it?</a:t>
            </a:r>
            <a:endParaRPr kumimoji="0" lang="en-US" altLang="en-US" sz="1400" b="0" i="0" u="none" strike="noStrike" cap="none" normalizeH="0" baseline="0" dirty="0" smtClean="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none" strike="noStrike" cap="none" normalizeH="0" baseline="0" dirty="0" smtClean="0">
                <a:ln>
                  <a:noFill/>
                </a:ln>
                <a:solidFill>
                  <a:schemeClr val="tx1"/>
                </a:solidFill>
                <a:effectLst/>
                <a:latin typeface="Arial" panose="020B0604020202020204" pitchFamily="34" charset="0"/>
              </a:rPr>
              <a:t>Faster execution</a:t>
            </a:r>
            <a:r>
              <a:rPr kumimoji="0" lang="en-US" altLang="en-US" sz="1400" b="0" i="0" u="none" strike="noStrike" cap="none" normalizeH="0" baseline="0" dirty="0" smtClean="0">
                <a:ln>
                  <a:noFill/>
                </a:ln>
                <a:solidFill>
                  <a:schemeClr val="tx1"/>
                </a:solidFill>
                <a:effectLst/>
                <a:latin typeface="Arial" panose="020B0604020202020204" pitchFamily="34" charset="0"/>
              </a:rPr>
              <a:t> by splitting work into independent subtasks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none" strike="noStrike" cap="none" normalizeH="0" baseline="0" dirty="0" smtClean="0">
                <a:ln>
                  <a:noFill/>
                </a:ln>
                <a:solidFill>
                  <a:schemeClr val="tx1"/>
                </a:solidFill>
                <a:effectLst/>
                <a:latin typeface="Arial" panose="020B0604020202020204" pitchFamily="34" charset="0"/>
              </a:rPr>
              <a:t>Higher confidence</a:t>
            </a:r>
            <a:r>
              <a:rPr kumimoji="0" lang="en-US" altLang="en-US" sz="1400" b="0" i="0" u="none" strike="noStrike" cap="none" normalizeH="0" baseline="0" dirty="0" smtClean="0">
                <a:ln>
                  <a:noFill/>
                </a:ln>
                <a:solidFill>
                  <a:schemeClr val="tx1"/>
                </a:solidFill>
                <a:effectLst/>
                <a:latin typeface="Arial" panose="020B0604020202020204" pitchFamily="34" charset="0"/>
              </a:rPr>
              <a:t> by running the same task multiple times and comparing results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smtClean="0">
                <a:ln>
                  <a:noFill/>
                </a:ln>
                <a:solidFill>
                  <a:schemeClr val="tx1"/>
                </a:solidFill>
                <a:effectLst/>
                <a:latin typeface="Arial" panose="020B0604020202020204" pitchFamily="34" charset="0"/>
              </a:rPr>
              <a:t>How it’s used:</a:t>
            </a:r>
            <a:endParaRPr kumimoji="0" lang="en-US" altLang="en-US" sz="1400" b="0" i="0" u="none" strike="noStrike" cap="none" normalizeH="0" baseline="0" dirty="0" smtClean="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none" strike="noStrike" cap="none" normalizeH="0" baseline="0" dirty="0" smtClean="0">
                <a:ln>
                  <a:noFill/>
                </a:ln>
                <a:solidFill>
                  <a:schemeClr val="tx1"/>
                </a:solidFill>
                <a:effectLst/>
                <a:latin typeface="Arial" panose="020B0604020202020204" pitchFamily="34" charset="0"/>
              </a:rPr>
              <a:t>Subtask parallelism:</a:t>
            </a:r>
            <a:r>
              <a:rPr kumimoji="0" lang="en-US" altLang="en-US" sz="1400" b="0" i="0" u="none" strike="noStrike" cap="none" normalizeH="0" baseline="0" dirty="0" smtClean="0">
                <a:ln>
                  <a:noFill/>
                </a:ln>
                <a:solidFill>
                  <a:schemeClr val="tx1"/>
                </a:solidFill>
                <a:effectLst/>
                <a:latin typeface="Arial" panose="020B0604020202020204" pitchFamily="34" charset="0"/>
              </a:rPr>
              <a:t/>
            </a:r>
            <a:br>
              <a:rPr kumimoji="0" lang="en-US" altLang="en-US" sz="1400" b="0" i="0" u="none" strike="noStrike" cap="none" normalizeH="0" baseline="0" dirty="0" smtClean="0">
                <a:ln>
                  <a:noFill/>
                </a:ln>
                <a:solidFill>
                  <a:schemeClr val="tx1"/>
                </a:solidFill>
                <a:effectLst/>
                <a:latin typeface="Arial" panose="020B0604020202020204" pitchFamily="34" charset="0"/>
              </a:rPr>
            </a:br>
            <a:r>
              <a:rPr kumimoji="0" lang="en-US" altLang="en-US" sz="1400" b="0" i="0" u="none" strike="noStrike" cap="none" normalizeH="0" baseline="0" dirty="0" smtClean="0">
                <a:ln>
                  <a:noFill/>
                </a:ln>
                <a:solidFill>
                  <a:schemeClr val="tx1"/>
                </a:solidFill>
                <a:effectLst/>
                <a:latin typeface="Arial" panose="020B0604020202020204" pitchFamily="34" charset="0"/>
              </a:rPr>
              <a:t>Run different tasks simultaneously</a:t>
            </a:r>
            <a:br>
              <a:rPr kumimoji="0" lang="en-US" altLang="en-US" sz="1400" b="0" i="0" u="none" strike="noStrike" cap="none" normalizeH="0" baseline="0" dirty="0" smtClean="0">
                <a:ln>
                  <a:noFill/>
                </a:ln>
                <a:solidFill>
                  <a:schemeClr val="tx1"/>
                </a:solidFill>
                <a:effectLst/>
                <a:latin typeface="Arial" panose="020B0604020202020204" pitchFamily="34" charset="0"/>
              </a:rPr>
            </a:br>
            <a:r>
              <a:rPr kumimoji="0" lang="en-US" altLang="en-US" sz="1400" b="0" i="1" u="none" strike="noStrike" cap="none" normalizeH="0" baseline="0" dirty="0" smtClean="0">
                <a:ln>
                  <a:noFill/>
                </a:ln>
                <a:solidFill>
                  <a:schemeClr val="tx1"/>
                </a:solidFill>
                <a:effectLst/>
                <a:latin typeface="Arial" panose="020B0604020202020204" pitchFamily="34" charset="0"/>
              </a:rPr>
              <a:t>Example:</a:t>
            </a:r>
            <a:r>
              <a:rPr kumimoji="0" lang="en-US" altLang="en-US" sz="1400" b="0" i="0" u="none" strike="noStrike" cap="none" normalizeH="0" baseline="0" dirty="0" smtClean="0">
                <a:ln>
                  <a:noFill/>
                </a:ln>
                <a:solidFill>
                  <a:schemeClr val="tx1"/>
                </a:solidFill>
                <a:effectLst/>
                <a:latin typeface="Arial" panose="020B0604020202020204" pitchFamily="34" charset="0"/>
              </a:rPr>
              <a:t> One LLM extracts keywords while another checks formatting errors.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none" strike="noStrike" cap="none" normalizeH="0" baseline="0" dirty="0" smtClean="0">
                <a:ln>
                  <a:noFill/>
                </a:ln>
                <a:solidFill>
                  <a:schemeClr val="tx1"/>
                </a:solidFill>
                <a:effectLst/>
                <a:latin typeface="Arial" panose="020B0604020202020204" pitchFamily="34" charset="0"/>
              </a:rPr>
              <a:t>Redundant parallelism:</a:t>
            </a:r>
            <a:r>
              <a:rPr kumimoji="0" lang="en-US" altLang="en-US" sz="1400" b="0" i="0" u="none" strike="noStrike" cap="none" normalizeH="0" baseline="0" dirty="0" smtClean="0">
                <a:ln>
                  <a:noFill/>
                </a:ln>
                <a:solidFill>
                  <a:schemeClr val="tx1"/>
                </a:solidFill>
                <a:effectLst/>
                <a:latin typeface="Arial" panose="020B0604020202020204" pitchFamily="34" charset="0"/>
              </a:rPr>
              <a:t/>
            </a:r>
            <a:br>
              <a:rPr kumimoji="0" lang="en-US" altLang="en-US" sz="1400" b="0" i="0" u="none" strike="noStrike" cap="none" normalizeH="0" baseline="0" dirty="0" smtClean="0">
                <a:ln>
                  <a:noFill/>
                </a:ln>
                <a:solidFill>
                  <a:schemeClr val="tx1"/>
                </a:solidFill>
                <a:effectLst/>
                <a:latin typeface="Arial" panose="020B0604020202020204" pitchFamily="34" charset="0"/>
              </a:rPr>
            </a:br>
            <a:r>
              <a:rPr kumimoji="0" lang="en-US" altLang="en-US" sz="1400" b="0" i="0" u="none" strike="noStrike" cap="none" normalizeH="0" baseline="0" dirty="0" smtClean="0">
                <a:ln>
                  <a:noFill/>
                </a:ln>
                <a:solidFill>
                  <a:schemeClr val="tx1"/>
                </a:solidFill>
                <a:effectLst/>
                <a:latin typeface="Arial" panose="020B0604020202020204" pitchFamily="34" charset="0"/>
              </a:rPr>
              <a:t>Run the same task multiple times with different criteria</a:t>
            </a:r>
            <a:br>
              <a:rPr kumimoji="0" lang="en-US" altLang="en-US" sz="1400" b="0" i="0" u="none" strike="noStrike" cap="none" normalizeH="0" baseline="0" dirty="0" smtClean="0">
                <a:ln>
                  <a:noFill/>
                </a:ln>
                <a:solidFill>
                  <a:schemeClr val="tx1"/>
                </a:solidFill>
                <a:effectLst/>
                <a:latin typeface="Arial" panose="020B0604020202020204" pitchFamily="34" charset="0"/>
              </a:rPr>
            </a:br>
            <a:r>
              <a:rPr kumimoji="0" lang="en-US" altLang="en-US" sz="1400" b="0" i="1" u="none" strike="noStrike" cap="none" normalizeH="0" baseline="0" dirty="0" smtClean="0">
                <a:ln>
                  <a:noFill/>
                </a:ln>
                <a:solidFill>
                  <a:schemeClr val="tx1"/>
                </a:solidFill>
                <a:effectLst/>
                <a:latin typeface="Arial" panose="020B0604020202020204" pitchFamily="34" charset="0"/>
              </a:rPr>
              <a:t>Example:</a:t>
            </a:r>
            <a:r>
              <a:rPr kumimoji="0" lang="en-US" altLang="en-US" sz="1400" b="0" i="0" u="none" strike="noStrike" cap="none" normalizeH="0" baseline="0" dirty="0" smtClean="0">
                <a:ln>
                  <a:noFill/>
                </a:ln>
                <a:solidFill>
                  <a:schemeClr val="tx1"/>
                </a:solidFill>
                <a:effectLst/>
                <a:latin typeface="Arial" panose="020B0604020202020204" pitchFamily="34" charset="0"/>
              </a:rPr>
              <a:t> Score a document in parallel for citation count, source quality, and factual accuracy.</a:t>
            </a:r>
          </a:p>
          <a:p>
            <a:pPr marR="0" lvl="0" algn="l" defTabSz="914400" rtl="0" eaLnBrk="0" fontAlgn="base" latinLnBrk="0" hangingPunct="0">
              <a:lnSpc>
                <a:spcPct val="100000"/>
              </a:lnSpc>
              <a:spcBef>
                <a:spcPct val="0"/>
              </a:spcBef>
              <a:spcAft>
                <a:spcPct val="0"/>
              </a:spcAft>
              <a:buClrTx/>
              <a:buSzTx/>
              <a:tabLst/>
            </a:pPr>
            <a:endParaRPr kumimoji="0" lang="en-US" altLang="en-US" sz="1400" b="1" i="0" u="none" strike="noStrike" cap="none" normalizeH="0" baseline="0" dirty="0" smtClean="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smtClean="0">
                <a:ln>
                  <a:noFill/>
                </a:ln>
                <a:solidFill>
                  <a:schemeClr val="tx1"/>
                </a:solidFill>
                <a:effectLst/>
                <a:latin typeface="Arial" panose="020B0604020202020204" pitchFamily="34" charset="0"/>
              </a:rPr>
              <a:t>In one line:</a:t>
            </a:r>
            <a:r>
              <a:rPr kumimoji="0" lang="en-US" altLang="en-US" sz="1400" b="0" i="0" u="none" strike="noStrike" cap="none" normalizeH="0" baseline="0" dirty="0" smtClean="0">
                <a:ln>
                  <a:noFill/>
                </a:ln>
                <a:solidFill>
                  <a:schemeClr val="tx1"/>
                </a:solidFill>
                <a:effectLst/>
                <a:latin typeface="Arial" panose="020B0604020202020204" pitchFamily="34" charset="0"/>
              </a:rPr>
              <a:t/>
            </a:r>
            <a:br>
              <a:rPr kumimoji="0" lang="en-US" altLang="en-US" sz="1400" b="0" i="0" u="none" strike="noStrike" cap="none" normalizeH="0" baseline="0" dirty="0" smtClean="0">
                <a:ln>
                  <a:noFill/>
                </a:ln>
                <a:solidFill>
                  <a:schemeClr val="tx1"/>
                </a:solidFill>
                <a:effectLst/>
                <a:latin typeface="Arial" panose="020B0604020202020204" pitchFamily="34" charset="0"/>
              </a:rPr>
            </a:br>
            <a:r>
              <a:rPr kumimoji="0" lang="en-US" altLang="en-US" sz="1400" b="0" i="0" u="none" strike="noStrike" cap="none" normalizeH="0" baseline="0" dirty="0" smtClean="0">
                <a:ln>
                  <a:noFill/>
                </a:ln>
                <a:solidFill>
                  <a:schemeClr val="tx1"/>
                </a:solidFill>
                <a:effectLst/>
                <a:latin typeface="Arial" panose="020B0604020202020204" pitchFamily="34" charset="0"/>
              </a:rPr>
              <a:t>Parallelization improves </a:t>
            </a:r>
            <a:r>
              <a:rPr kumimoji="0" lang="en-US" altLang="en-US" sz="1400" b="1" i="0" u="none" strike="noStrike" cap="none" normalizeH="0" baseline="0" dirty="0" smtClean="0">
                <a:ln>
                  <a:noFill/>
                </a:ln>
                <a:solidFill>
                  <a:schemeClr val="tx1"/>
                </a:solidFill>
                <a:effectLst/>
                <a:latin typeface="Arial" panose="020B0604020202020204" pitchFamily="34" charset="0"/>
              </a:rPr>
              <a:t>speed</a:t>
            </a:r>
            <a:r>
              <a:rPr kumimoji="0" lang="en-US" altLang="en-US" sz="1400" b="0" i="0" u="none" strike="noStrike" cap="none" normalizeH="0" baseline="0" dirty="0" smtClean="0">
                <a:ln>
                  <a:noFill/>
                </a:ln>
                <a:solidFill>
                  <a:schemeClr val="tx1"/>
                </a:solidFill>
                <a:effectLst/>
                <a:latin typeface="Arial" panose="020B0604020202020204" pitchFamily="34" charset="0"/>
              </a:rPr>
              <a:t> and </a:t>
            </a:r>
            <a:r>
              <a:rPr kumimoji="0" lang="en-US" altLang="en-US" sz="1400" b="1" i="0" u="none" strike="noStrike" cap="none" normalizeH="0" baseline="0" dirty="0" smtClean="0">
                <a:ln>
                  <a:noFill/>
                </a:ln>
                <a:solidFill>
                  <a:schemeClr val="tx1"/>
                </a:solidFill>
                <a:effectLst/>
                <a:latin typeface="Arial" panose="020B0604020202020204" pitchFamily="34" charset="0"/>
              </a:rPr>
              <a:t>reliability</a:t>
            </a:r>
            <a:r>
              <a:rPr kumimoji="0" lang="en-US" altLang="en-US" sz="1400" b="0" i="0" u="none" strike="noStrike" cap="none" normalizeH="0" baseline="0" dirty="0" smtClean="0">
                <a:ln>
                  <a:noFill/>
                </a:ln>
                <a:solidFill>
                  <a:schemeClr val="tx1"/>
                </a:solidFill>
                <a:effectLst/>
                <a:latin typeface="Arial" panose="020B0604020202020204" pitchFamily="34" charset="0"/>
              </a:rPr>
              <a:t> by letting LLMs work concurrently.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solidFill>
                  <a:schemeClr val="tx1"/>
                </a:solidFill>
                <a:effectLst/>
                <a:latin typeface="Arial" panose="020B0604020202020204" pitchFamily="34" charset="0"/>
              </a:rPr>
              <a:t/>
            </a:r>
            <a:br>
              <a:rPr kumimoji="0" lang="en-US" altLang="en-US" sz="1400" b="0" i="0" u="none" strike="noStrike" cap="none" normalizeH="0" baseline="0" dirty="0" smtClean="0">
                <a:ln>
                  <a:noFill/>
                </a:ln>
                <a:solidFill>
                  <a:schemeClr val="tx1"/>
                </a:solidFill>
                <a:effectLst/>
                <a:latin typeface="Arial" panose="020B0604020202020204" pitchFamily="34" charset="0"/>
              </a:rPr>
            </a:br>
            <a:endParaRPr kumimoji="0" lang="en-US" altLang="en-US" sz="1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Arial" panose="020B0604020202020204" pitchFamily="34" charset="0"/>
            </a:endParaRPr>
          </a:p>
        </p:txBody>
      </p:sp>
      <p:pic>
        <p:nvPicPr>
          <p:cNvPr id="9" name="Picture 8"/>
          <p:cNvPicPr>
            <a:picLocks noChangeAspect="1"/>
          </p:cNvPicPr>
          <p:nvPr/>
        </p:nvPicPr>
        <p:blipFill>
          <a:blip r:embed="rId2"/>
          <a:stretch>
            <a:fillRect/>
          </a:stretch>
        </p:blipFill>
        <p:spPr>
          <a:xfrm>
            <a:off x="8403336" y="2066543"/>
            <a:ext cx="3572513" cy="2606963"/>
          </a:xfrm>
          <a:prstGeom prst="rect">
            <a:avLst/>
          </a:prstGeom>
        </p:spPr>
      </p:pic>
    </p:spTree>
    <p:extLst>
      <p:ext uri="{BB962C8B-B14F-4D97-AF65-F5344CB8AC3E}">
        <p14:creationId xmlns:p14="http://schemas.microsoft.com/office/powerpoint/2010/main" val="429405673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8672-BCCD-358E-1B1C-899E93B0C6D9}"/>
              </a:ext>
            </a:extLst>
          </p:cNvPr>
          <p:cNvSpPr>
            <a:spLocks noGrp="1"/>
          </p:cNvSpPr>
          <p:nvPr>
            <p:ph type="title"/>
          </p:nvPr>
        </p:nvSpPr>
        <p:spPr>
          <a:xfrm>
            <a:off x="762000" y="158194"/>
            <a:ext cx="10515600" cy="595418"/>
          </a:xfrm>
        </p:spPr>
        <p:txBody>
          <a:bodyPr>
            <a:noAutofit/>
          </a:bodyPr>
          <a:lstStyle/>
          <a:p>
            <a:pPr algn="ctr" fontAlgn="base"/>
            <a:r>
              <a:rPr lang="en-IN" sz="3200" b="1" dirty="0">
                <a:latin typeface="Arial" panose="020B0604020202020204" pitchFamily="34" charset="0"/>
                <a:cs typeface="Arial" panose="020B0604020202020204" pitchFamily="34" charset="0"/>
              </a:rPr>
              <a:t>Routing</a:t>
            </a:r>
            <a:r>
              <a:rPr lang="en-US" sz="3200" b="1" dirty="0" smtClean="0">
                <a:latin typeface="Arial" panose="020B0604020202020204" pitchFamily="34" charset="0"/>
                <a:cs typeface="Arial" panose="020B0604020202020204" pitchFamily="34" charset="0"/>
              </a:rPr>
              <a:t> </a:t>
            </a:r>
            <a:endParaRPr lang="en-IN" sz="3200" b="1" dirty="0">
              <a:latin typeface="Arial" panose="020B0604020202020204" pitchFamily="34" charset="0"/>
              <a:cs typeface="Arial" panose="020B0604020202020204" pitchFamily="34" charset="0"/>
            </a:endParaRPr>
          </a:p>
        </p:txBody>
      </p:sp>
      <p:sp>
        <p:nvSpPr>
          <p:cNvPr id="4"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696916" y="3622585"/>
            <a:ext cx="1006557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endParaRPr kumimoji="0" lang="en-US" altLang="en-US" sz="1400" b="0" i="0" u="none" strike="noStrike" cap="none" normalizeH="0" baseline="0" dirty="0" smtClean="0">
              <a:ln>
                <a:noFill/>
              </a:ln>
              <a:solidFill>
                <a:schemeClr val="tx1"/>
              </a:solidFill>
              <a:effectLst/>
              <a:latin typeface="Arial" panose="020B0604020202020204" pitchFamily="34" charset="0"/>
            </a:endParaRPr>
          </a:p>
        </p:txBody>
      </p:sp>
      <p:sp>
        <p:nvSpPr>
          <p:cNvPr id="3" name="Rectangle 1"/>
          <p:cNvSpPr>
            <a:spLocks noChangeArrowheads="1"/>
          </p:cNvSpPr>
          <p:nvPr/>
        </p:nvSpPr>
        <p:spPr bwMode="auto">
          <a:xfrm>
            <a:off x="732506" y="1214564"/>
            <a:ext cx="9994392"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solidFill>
                  <a:schemeClr val="tx1"/>
                </a:solidFill>
                <a:effectLst/>
                <a:latin typeface="Arial" panose="020B0604020202020204" pitchFamily="34" charset="0"/>
              </a:rPr>
              <a:t>Routing analyzes an input first and then </a:t>
            </a:r>
            <a:r>
              <a:rPr kumimoji="0" lang="en-US" altLang="en-US" sz="1400" b="1" i="0" u="none" strike="noStrike" cap="none" normalizeH="0" baseline="0" dirty="0" smtClean="0">
                <a:ln>
                  <a:noFill/>
                </a:ln>
                <a:solidFill>
                  <a:schemeClr val="tx1"/>
                </a:solidFill>
                <a:effectLst/>
                <a:latin typeface="Arial" panose="020B0604020202020204" pitchFamily="34" charset="0"/>
              </a:rPr>
              <a:t>directs it to the most appropriate task or flow</a:t>
            </a:r>
            <a:r>
              <a:rPr kumimoji="0" lang="en-US" altLang="en-US" sz="14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smtClean="0">
                <a:ln>
                  <a:noFill/>
                </a:ln>
                <a:solidFill>
                  <a:schemeClr val="tx1"/>
                </a:solidFill>
                <a:effectLst/>
                <a:latin typeface="Arial" panose="020B0604020202020204" pitchFamily="34" charset="0"/>
              </a:rPr>
              <a:t>Why use it?</a:t>
            </a:r>
            <a:endParaRPr kumimoji="0" lang="en-US" altLang="en-US" sz="1400" b="0" i="0" u="none" strike="noStrike" cap="none" normalizeH="0" baseline="0" dirty="0" smtClean="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smtClean="0">
                <a:ln>
                  <a:noFill/>
                </a:ln>
                <a:solidFill>
                  <a:schemeClr val="tx1"/>
                </a:solidFill>
                <a:effectLst/>
                <a:latin typeface="Arial" panose="020B0604020202020204" pitchFamily="34" charset="0"/>
              </a:rPr>
              <a:t>Handles </a:t>
            </a:r>
            <a:r>
              <a:rPr kumimoji="0" lang="en-US" altLang="en-US" sz="1400" b="1" i="0" u="none" strike="noStrike" cap="none" normalizeH="0" baseline="0" dirty="0" smtClean="0">
                <a:ln>
                  <a:noFill/>
                </a:ln>
                <a:solidFill>
                  <a:schemeClr val="tx1"/>
                </a:solidFill>
                <a:effectLst/>
                <a:latin typeface="Arial" panose="020B0604020202020204" pitchFamily="34" charset="0"/>
              </a:rPr>
              <a:t>complex, multi-intent requests</a:t>
            </a:r>
            <a:endParaRPr kumimoji="0" lang="en-US" altLang="en-US" sz="1400" b="0" i="0" u="none" strike="noStrike" cap="none" normalizeH="0" baseline="0" dirty="0" smtClean="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smtClean="0">
                <a:ln>
                  <a:noFill/>
                </a:ln>
                <a:solidFill>
                  <a:schemeClr val="tx1"/>
                </a:solidFill>
                <a:effectLst/>
                <a:latin typeface="Arial" panose="020B0604020202020204" pitchFamily="34" charset="0"/>
              </a:rPr>
              <a:t>Enables </a:t>
            </a:r>
            <a:r>
              <a:rPr kumimoji="0" lang="en-US" altLang="en-US" sz="1400" b="1" i="0" u="none" strike="noStrike" cap="none" normalizeH="0" baseline="0" dirty="0" smtClean="0">
                <a:ln>
                  <a:noFill/>
                </a:ln>
                <a:solidFill>
                  <a:schemeClr val="tx1"/>
                </a:solidFill>
                <a:effectLst/>
                <a:latin typeface="Arial" panose="020B0604020202020204" pitchFamily="34" charset="0"/>
              </a:rPr>
              <a:t>specialized logic</a:t>
            </a:r>
            <a:r>
              <a:rPr kumimoji="0" lang="en-US" altLang="en-US" sz="1400" b="0" i="0" u="none" strike="noStrike" cap="none" normalizeH="0" baseline="0" dirty="0" smtClean="0">
                <a:ln>
                  <a:noFill/>
                </a:ln>
                <a:solidFill>
                  <a:schemeClr val="tx1"/>
                </a:solidFill>
                <a:effectLst/>
                <a:latin typeface="Arial" panose="020B0604020202020204" pitchFamily="34" charset="0"/>
              </a:rPr>
              <a:t> for each category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smtClean="0">
                <a:ln>
                  <a:noFill/>
                </a:ln>
                <a:solidFill>
                  <a:schemeClr val="tx1"/>
                </a:solidFill>
                <a:effectLst/>
                <a:latin typeface="Arial" panose="020B0604020202020204" pitchFamily="34" charset="0"/>
              </a:rPr>
              <a:t>Example:</a:t>
            </a:r>
            <a:r>
              <a:rPr kumimoji="0" lang="en-US" altLang="en-US" sz="1400" b="0" i="0" u="none" strike="noStrike" cap="none" normalizeH="0" baseline="0" dirty="0" smtClean="0">
                <a:ln>
                  <a:noFill/>
                </a:ln>
                <a:solidFill>
                  <a:schemeClr val="tx1"/>
                </a:solidFill>
                <a:effectLst/>
                <a:latin typeface="Arial" panose="020B0604020202020204" pitchFamily="34" charset="0"/>
              </a:rPr>
              <a:t/>
            </a:r>
            <a:br>
              <a:rPr kumimoji="0" lang="en-US" altLang="en-US" sz="1400" b="0" i="0" u="none" strike="noStrike" cap="none" normalizeH="0" baseline="0" dirty="0" smtClean="0">
                <a:ln>
                  <a:noFill/>
                </a:ln>
                <a:solidFill>
                  <a:schemeClr val="tx1"/>
                </a:solidFill>
                <a:effectLst/>
                <a:latin typeface="Arial" panose="020B0604020202020204" pitchFamily="34" charset="0"/>
              </a:rPr>
            </a:br>
            <a:r>
              <a:rPr kumimoji="0" lang="en-US" altLang="en-US" sz="1400" b="0" i="0" u="none" strike="noStrike" cap="none" normalizeH="0" baseline="0" dirty="0" smtClean="0">
                <a:ln>
                  <a:noFill/>
                </a:ln>
                <a:solidFill>
                  <a:schemeClr val="tx1"/>
                </a:solidFill>
                <a:effectLst/>
                <a:latin typeface="Arial" panose="020B0604020202020204" pitchFamily="34" charset="0"/>
              </a:rPr>
              <a:t>A product-support workflow routes queries to different paths: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smtClean="0">
                <a:ln>
                  <a:noFill/>
                </a:ln>
                <a:solidFill>
                  <a:schemeClr val="tx1"/>
                </a:solidFill>
                <a:effectLst/>
                <a:latin typeface="Arial" panose="020B0604020202020204" pitchFamily="34" charset="0"/>
              </a:rPr>
              <a:t>Pricing → pricing handler</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smtClean="0">
                <a:ln>
                  <a:noFill/>
                </a:ln>
                <a:solidFill>
                  <a:schemeClr val="tx1"/>
                </a:solidFill>
                <a:effectLst/>
                <a:latin typeface="Arial" panose="020B0604020202020204" pitchFamily="34" charset="0"/>
              </a:rPr>
              <a:t>Refunds → refund policy flow</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smtClean="0">
                <a:ln>
                  <a:noFill/>
                </a:ln>
                <a:solidFill>
                  <a:schemeClr val="tx1"/>
                </a:solidFill>
                <a:effectLst/>
                <a:latin typeface="Arial" panose="020B0604020202020204" pitchFamily="34" charset="0"/>
              </a:rPr>
              <a:t>Returns → return processing flow</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smtClean="0">
                <a:ln>
                  <a:noFill/>
                </a:ln>
                <a:solidFill>
                  <a:schemeClr val="tx1"/>
                </a:solidFill>
                <a:effectLst/>
                <a:latin typeface="Arial" panose="020B0604020202020204" pitchFamily="34" charset="0"/>
              </a:rPr>
              <a:t>In one line:</a:t>
            </a:r>
            <a:r>
              <a:rPr kumimoji="0" lang="en-US" altLang="en-US" sz="1400" b="0" i="0" u="none" strike="noStrike" cap="none" normalizeH="0" baseline="0" dirty="0" smtClean="0">
                <a:ln>
                  <a:noFill/>
                </a:ln>
                <a:solidFill>
                  <a:schemeClr val="tx1"/>
                </a:solidFill>
                <a:effectLst/>
                <a:latin typeface="Arial" panose="020B0604020202020204" pitchFamily="34" charset="0"/>
              </a:rPr>
              <a:t/>
            </a:r>
            <a:br>
              <a:rPr kumimoji="0" lang="en-US" altLang="en-US" sz="1400" b="0" i="0" u="none" strike="noStrike" cap="none" normalizeH="0" baseline="0" dirty="0" smtClean="0">
                <a:ln>
                  <a:noFill/>
                </a:ln>
                <a:solidFill>
                  <a:schemeClr val="tx1"/>
                </a:solidFill>
                <a:effectLst/>
                <a:latin typeface="Arial" panose="020B0604020202020204" pitchFamily="34" charset="0"/>
              </a:rPr>
            </a:br>
            <a:r>
              <a:rPr kumimoji="0" lang="en-US" altLang="en-US" sz="1400" b="0" i="0" u="none" strike="noStrike" cap="none" normalizeH="0" baseline="0" dirty="0" smtClean="0">
                <a:ln>
                  <a:noFill/>
                </a:ln>
                <a:solidFill>
                  <a:schemeClr val="tx1"/>
                </a:solidFill>
                <a:effectLst/>
                <a:latin typeface="Arial" panose="020B0604020202020204" pitchFamily="34" charset="0"/>
              </a:rPr>
              <a:t>Routing sends the right input to the right workflow based on intent.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Arial" panose="020B0604020202020204" pitchFamily="34" charset="0"/>
            </a:endParaRPr>
          </a:p>
        </p:txBody>
      </p:sp>
      <p:pic>
        <p:nvPicPr>
          <p:cNvPr id="8" name="Picture 7"/>
          <p:cNvPicPr>
            <a:picLocks noChangeAspect="1"/>
          </p:cNvPicPr>
          <p:nvPr/>
        </p:nvPicPr>
        <p:blipFill>
          <a:blip r:embed="rId2"/>
          <a:stretch>
            <a:fillRect/>
          </a:stretch>
        </p:blipFill>
        <p:spPr>
          <a:xfrm>
            <a:off x="6995160" y="1928553"/>
            <a:ext cx="4843541" cy="3017782"/>
          </a:xfrm>
          <a:prstGeom prst="rect">
            <a:avLst/>
          </a:prstGeom>
        </p:spPr>
      </p:pic>
    </p:spTree>
    <p:extLst>
      <p:ext uri="{BB962C8B-B14F-4D97-AF65-F5344CB8AC3E}">
        <p14:creationId xmlns:p14="http://schemas.microsoft.com/office/powerpoint/2010/main" val="8770790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8672-BCCD-358E-1B1C-899E93B0C6D9}"/>
              </a:ext>
            </a:extLst>
          </p:cNvPr>
          <p:cNvSpPr>
            <a:spLocks noGrp="1"/>
          </p:cNvSpPr>
          <p:nvPr>
            <p:ph type="title"/>
          </p:nvPr>
        </p:nvSpPr>
        <p:spPr>
          <a:xfrm>
            <a:off x="762000" y="158194"/>
            <a:ext cx="10515600" cy="595418"/>
          </a:xfrm>
        </p:spPr>
        <p:txBody>
          <a:bodyPr>
            <a:noAutofit/>
          </a:bodyPr>
          <a:lstStyle/>
          <a:p>
            <a:pPr algn="ctr" fontAlgn="base"/>
            <a:r>
              <a:rPr lang="en-IN" sz="3200" b="1" dirty="0" smtClean="0">
                <a:latin typeface="Arial" panose="020B0604020202020204" pitchFamily="34" charset="0"/>
                <a:cs typeface="Arial" panose="020B0604020202020204" pitchFamily="34" charset="0"/>
              </a:rPr>
              <a:t>Orchestrator</a:t>
            </a:r>
            <a:r>
              <a:rPr lang="en-US" sz="3200" b="1" smtClean="0">
                <a:latin typeface="Arial" panose="020B0604020202020204" pitchFamily="34" charset="0"/>
                <a:cs typeface="Arial" panose="020B0604020202020204" pitchFamily="34" charset="0"/>
              </a:rPr>
              <a:t>- Worker</a:t>
            </a:r>
            <a:endParaRPr lang="en-IN" sz="3200" b="1" dirty="0">
              <a:latin typeface="Arial" panose="020B0604020202020204" pitchFamily="34" charset="0"/>
              <a:cs typeface="Arial" panose="020B0604020202020204" pitchFamily="34" charset="0"/>
            </a:endParaRPr>
          </a:p>
        </p:txBody>
      </p:sp>
      <p:sp>
        <p:nvSpPr>
          <p:cNvPr id="4"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696916" y="3622585"/>
            <a:ext cx="1006557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endParaRPr kumimoji="0" lang="en-US" altLang="en-US" sz="1400" b="0" i="0" u="none" strike="noStrike" cap="none" normalizeH="0" baseline="0" dirty="0" smtClean="0">
              <a:ln>
                <a:noFill/>
              </a:ln>
              <a:solidFill>
                <a:schemeClr val="tx1"/>
              </a:solidFill>
              <a:effectLst/>
              <a:latin typeface="Arial" panose="020B0604020202020204" pitchFamily="34" charset="0"/>
            </a:endParaRPr>
          </a:p>
        </p:txBody>
      </p:sp>
      <p:sp>
        <p:nvSpPr>
          <p:cNvPr id="3" name="Rectangle 1"/>
          <p:cNvSpPr>
            <a:spLocks noChangeArrowheads="1"/>
          </p:cNvSpPr>
          <p:nvPr/>
        </p:nvSpPr>
        <p:spPr bwMode="auto">
          <a:xfrm>
            <a:off x="762000" y="1314261"/>
            <a:ext cx="9994392" cy="4616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400" b="1" dirty="0">
                <a:latin typeface="Arial" panose="020B0604020202020204" pitchFamily="34" charset="0"/>
                <a:cs typeface="Arial" panose="020B0604020202020204" pitchFamily="34" charset="0"/>
              </a:rPr>
              <a:t>Orchestrator–Worker (LLM workflows)</a:t>
            </a:r>
            <a:r>
              <a:rPr lang="en-US" sz="1400" dirty="0">
                <a:latin typeface="Arial" panose="020B0604020202020204" pitchFamily="34" charset="0"/>
                <a:cs typeface="Arial" panose="020B0604020202020204" pitchFamily="34" charset="0"/>
              </a:rPr>
              <a:t/>
            </a:r>
            <a:br>
              <a:rPr lang="en-US" sz="1400" dirty="0">
                <a:latin typeface="Arial" panose="020B0604020202020204" pitchFamily="34" charset="0"/>
                <a:cs typeface="Arial" panose="020B0604020202020204" pitchFamily="34" charset="0"/>
              </a:rPr>
            </a:br>
            <a:r>
              <a:rPr lang="en-US" sz="1400" dirty="0">
                <a:latin typeface="Arial" panose="020B0604020202020204" pitchFamily="34" charset="0"/>
                <a:cs typeface="Arial" panose="020B0604020202020204" pitchFamily="34" charset="0"/>
              </a:rPr>
              <a:t>In this pattern, one LLM (the </a:t>
            </a:r>
            <a:r>
              <a:rPr lang="en-US" sz="1400" b="1" dirty="0">
                <a:latin typeface="Arial" panose="020B0604020202020204" pitchFamily="34" charset="0"/>
                <a:cs typeface="Arial" panose="020B0604020202020204" pitchFamily="34" charset="0"/>
              </a:rPr>
              <a:t>orchestrator</a:t>
            </a:r>
            <a:r>
              <a:rPr lang="en-US" sz="1400" dirty="0">
                <a:latin typeface="Arial" panose="020B0604020202020204" pitchFamily="34" charset="0"/>
                <a:cs typeface="Arial" panose="020B0604020202020204" pitchFamily="34" charset="0"/>
              </a:rPr>
              <a:t>) manages the work, while multiple </a:t>
            </a:r>
            <a:r>
              <a:rPr lang="en-US" sz="1400" b="1" dirty="0">
                <a:latin typeface="Arial" panose="020B0604020202020204" pitchFamily="34" charset="0"/>
                <a:cs typeface="Arial" panose="020B0604020202020204" pitchFamily="34" charset="0"/>
              </a:rPr>
              <a:t>workers</a:t>
            </a:r>
            <a:r>
              <a:rPr lang="en-US" sz="1400" dirty="0">
                <a:latin typeface="Arial" panose="020B0604020202020204" pitchFamily="34" charset="0"/>
                <a:cs typeface="Arial" panose="020B0604020202020204" pitchFamily="34" charset="0"/>
              </a:rPr>
              <a:t> execute subtasks.</a:t>
            </a:r>
          </a:p>
          <a:p>
            <a:endParaRPr lang="en-US" sz="1400" b="1" dirty="0" smtClean="0">
              <a:latin typeface="Arial" panose="020B0604020202020204" pitchFamily="34" charset="0"/>
              <a:cs typeface="Arial" panose="020B0604020202020204" pitchFamily="34" charset="0"/>
            </a:endParaRPr>
          </a:p>
          <a:p>
            <a:r>
              <a:rPr lang="en-US" sz="1400" b="1" dirty="0" smtClean="0">
                <a:latin typeface="Arial" panose="020B0604020202020204" pitchFamily="34" charset="0"/>
                <a:cs typeface="Arial" panose="020B0604020202020204" pitchFamily="34" charset="0"/>
              </a:rPr>
              <a:t>What </a:t>
            </a:r>
            <a:r>
              <a:rPr lang="en-US" sz="1400" b="1" dirty="0">
                <a:latin typeface="Arial" panose="020B0604020202020204" pitchFamily="34" charset="0"/>
                <a:cs typeface="Arial" panose="020B0604020202020204" pitchFamily="34" charset="0"/>
              </a:rPr>
              <a:t>the orchestrator does:</a:t>
            </a:r>
            <a:endParaRPr lang="en-US"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Breaks a complex task into subtasks</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Assigns each subtask to a worker</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Combines worker outputs into a final result</a:t>
            </a:r>
          </a:p>
          <a:p>
            <a:endParaRPr lang="en-US" sz="1400" b="1" dirty="0" smtClean="0">
              <a:latin typeface="Arial" panose="020B0604020202020204" pitchFamily="34" charset="0"/>
              <a:cs typeface="Arial" panose="020B0604020202020204" pitchFamily="34" charset="0"/>
            </a:endParaRPr>
          </a:p>
          <a:p>
            <a:r>
              <a:rPr lang="en-US" sz="1400" b="1" dirty="0" smtClean="0">
                <a:latin typeface="Arial" panose="020B0604020202020204" pitchFamily="34" charset="0"/>
                <a:cs typeface="Arial" panose="020B0604020202020204" pitchFamily="34" charset="0"/>
              </a:rPr>
              <a:t>Why </a:t>
            </a:r>
            <a:r>
              <a:rPr lang="en-US" sz="1400" b="1" dirty="0">
                <a:latin typeface="Arial" panose="020B0604020202020204" pitchFamily="34" charset="0"/>
                <a:cs typeface="Arial" panose="020B0604020202020204" pitchFamily="34" charset="0"/>
              </a:rPr>
              <a:t>use it?</a:t>
            </a:r>
            <a:endParaRPr lang="en-US"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Works well when </a:t>
            </a:r>
            <a:r>
              <a:rPr lang="en-US" sz="1400" b="1" dirty="0">
                <a:latin typeface="Arial" panose="020B0604020202020204" pitchFamily="34" charset="0"/>
                <a:cs typeface="Arial" panose="020B0604020202020204" pitchFamily="34" charset="0"/>
              </a:rPr>
              <a:t>subtasks are not known in advance</a:t>
            </a:r>
            <a:endParaRPr lang="en-US"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Handles </a:t>
            </a:r>
            <a:r>
              <a:rPr lang="en-US" sz="1400" b="1" dirty="0">
                <a:latin typeface="Arial" panose="020B0604020202020204" pitchFamily="34" charset="0"/>
                <a:cs typeface="Arial" panose="020B0604020202020204" pitchFamily="34" charset="0"/>
              </a:rPr>
              <a:t>dynamic, multi-step problems</a:t>
            </a:r>
            <a:r>
              <a:rPr lang="en-US" sz="1400" dirty="0">
                <a:latin typeface="Arial" panose="020B0604020202020204" pitchFamily="34" charset="0"/>
                <a:cs typeface="Arial" panose="020B0604020202020204" pitchFamily="34" charset="0"/>
              </a:rPr>
              <a:t> better than simple parallelization</a:t>
            </a:r>
          </a:p>
          <a:p>
            <a:endParaRPr lang="en-US" sz="1400" b="1" dirty="0" smtClean="0">
              <a:latin typeface="Arial" panose="020B0604020202020204" pitchFamily="34" charset="0"/>
              <a:cs typeface="Arial" panose="020B0604020202020204" pitchFamily="34" charset="0"/>
            </a:endParaRPr>
          </a:p>
          <a:p>
            <a:r>
              <a:rPr lang="en-US" sz="1400" b="1" dirty="0" smtClean="0">
                <a:latin typeface="Arial" panose="020B0604020202020204" pitchFamily="34" charset="0"/>
                <a:cs typeface="Arial" panose="020B0604020202020204" pitchFamily="34" charset="0"/>
              </a:rPr>
              <a:t>Example</a:t>
            </a:r>
            <a:r>
              <a:rPr lang="en-US" sz="1400" b="1" dirty="0">
                <a:latin typeface="Arial" panose="020B0604020202020204" pitchFamily="34" charset="0"/>
                <a:cs typeface="Arial" panose="020B0604020202020204" pitchFamily="34" charset="0"/>
              </a:rPr>
              <a:t>:</a:t>
            </a:r>
            <a:r>
              <a:rPr lang="en-US" sz="1400" dirty="0">
                <a:latin typeface="Arial" panose="020B0604020202020204" pitchFamily="34" charset="0"/>
                <a:cs typeface="Arial" panose="020B0604020202020204" pitchFamily="34" charset="0"/>
              </a:rPr>
              <a:t/>
            </a:r>
            <a:br>
              <a:rPr lang="en-US" sz="1400" dirty="0">
                <a:latin typeface="Arial" panose="020B0604020202020204" pitchFamily="34" charset="0"/>
                <a:cs typeface="Arial" panose="020B0604020202020204" pitchFamily="34" charset="0"/>
              </a:rPr>
            </a:br>
            <a:r>
              <a:rPr lang="en-US" sz="1400" dirty="0">
                <a:latin typeface="Arial" panose="020B0604020202020204" pitchFamily="34" charset="0"/>
                <a:cs typeface="Arial" panose="020B0604020202020204" pitchFamily="34" charset="0"/>
              </a:rPr>
              <a:t>Updating installation instructions across many Python libraries:</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Orchestrator identifies which files/libraries need changes</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Workers update each file independently</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Orchestrator reviews and merges all updates</a:t>
            </a:r>
          </a:p>
          <a:p>
            <a:endParaRPr lang="en-US" sz="1400" b="1" dirty="0" smtClean="0">
              <a:latin typeface="Arial" panose="020B0604020202020204" pitchFamily="34" charset="0"/>
              <a:cs typeface="Arial" panose="020B0604020202020204" pitchFamily="34" charset="0"/>
            </a:endParaRPr>
          </a:p>
          <a:p>
            <a:r>
              <a:rPr lang="en-US" sz="1400" b="1" dirty="0" smtClean="0">
                <a:latin typeface="Arial" panose="020B0604020202020204" pitchFamily="34" charset="0"/>
                <a:cs typeface="Arial" panose="020B0604020202020204" pitchFamily="34" charset="0"/>
              </a:rPr>
              <a:t>In </a:t>
            </a:r>
            <a:r>
              <a:rPr lang="en-US" sz="1400" b="1" dirty="0">
                <a:latin typeface="Arial" panose="020B0604020202020204" pitchFamily="34" charset="0"/>
                <a:cs typeface="Arial" panose="020B0604020202020204" pitchFamily="34" charset="0"/>
              </a:rPr>
              <a:t>one line:</a:t>
            </a:r>
            <a:r>
              <a:rPr lang="en-US" sz="1400" dirty="0">
                <a:latin typeface="Arial" panose="020B0604020202020204" pitchFamily="34" charset="0"/>
                <a:cs typeface="Arial" panose="020B0604020202020204" pitchFamily="34" charset="0"/>
              </a:rPr>
              <a:t/>
            </a:r>
            <a:br>
              <a:rPr lang="en-US" sz="1400" dirty="0">
                <a:latin typeface="Arial" panose="020B0604020202020204" pitchFamily="34" charset="0"/>
                <a:cs typeface="Arial" panose="020B0604020202020204" pitchFamily="34" charset="0"/>
              </a:rPr>
            </a:br>
            <a:r>
              <a:rPr lang="en-US" sz="1400" dirty="0">
                <a:latin typeface="Arial" panose="020B0604020202020204" pitchFamily="34" charset="0"/>
                <a:cs typeface="Arial" panose="020B0604020202020204" pitchFamily="34" charset="0"/>
              </a:rPr>
              <a:t>The orchestrator plans and coordinates, workers execute, and the orchestrator synthesizes the final output.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stretch>
            <a:fillRect/>
          </a:stretch>
        </p:blipFill>
        <p:spPr>
          <a:xfrm>
            <a:off x="7069015" y="2601416"/>
            <a:ext cx="4930090" cy="2042337"/>
          </a:xfrm>
          <a:prstGeom prst="rect">
            <a:avLst/>
          </a:prstGeom>
        </p:spPr>
      </p:pic>
    </p:spTree>
    <p:extLst>
      <p:ext uri="{BB962C8B-B14F-4D97-AF65-F5344CB8AC3E}">
        <p14:creationId xmlns:p14="http://schemas.microsoft.com/office/powerpoint/2010/main" val="149621105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8672-BCCD-358E-1B1C-899E93B0C6D9}"/>
              </a:ext>
            </a:extLst>
          </p:cNvPr>
          <p:cNvSpPr>
            <a:spLocks noGrp="1"/>
          </p:cNvSpPr>
          <p:nvPr>
            <p:ph type="title"/>
          </p:nvPr>
        </p:nvSpPr>
        <p:spPr>
          <a:xfrm>
            <a:off x="762000" y="158194"/>
            <a:ext cx="10515600" cy="595418"/>
          </a:xfrm>
        </p:spPr>
        <p:txBody>
          <a:bodyPr>
            <a:noAutofit/>
          </a:bodyPr>
          <a:lstStyle/>
          <a:p>
            <a:pPr algn="ctr" fontAlgn="base"/>
            <a:r>
              <a:rPr lang="en-IN" sz="3200" b="1" dirty="0" smtClean="0">
                <a:latin typeface="Arial" panose="020B0604020202020204" pitchFamily="34" charset="0"/>
                <a:cs typeface="Arial" panose="020B0604020202020204" pitchFamily="34" charset="0"/>
              </a:rPr>
              <a:t>Orchestrator -  Send API</a:t>
            </a:r>
            <a:r>
              <a:rPr lang="en-US" sz="3200" b="1" dirty="0" smtClean="0">
                <a:latin typeface="Arial" panose="020B0604020202020204" pitchFamily="34" charset="0"/>
                <a:cs typeface="Arial" panose="020B0604020202020204" pitchFamily="34" charset="0"/>
              </a:rPr>
              <a:t> </a:t>
            </a:r>
            <a:endParaRPr lang="en-IN" sz="3200" b="1" dirty="0">
              <a:latin typeface="Arial" panose="020B0604020202020204" pitchFamily="34" charset="0"/>
              <a:cs typeface="Arial" panose="020B0604020202020204" pitchFamily="34" charset="0"/>
            </a:endParaRPr>
          </a:p>
        </p:txBody>
      </p:sp>
      <p:sp>
        <p:nvSpPr>
          <p:cNvPr id="4"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696916" y="3622585"/>
            <a:ext cx="1006557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endParaRPr kumimoji="0" lang="en-US" altLang="en-US" sz="1400" b="0" i="0" u="none" strike="noStrike" cap="none" normalizeH="0" baseline="0" dirty="0" smtClean="0">
              <a:ln>
                <a:noFill/>
              </a:ln>
              <a:solidFill>
                <a:schemeClr val="tx1"/>
              </a:solidFill>
              <a:effectLst/>
              <a:latin typeface="Arial" panose="020B0604020202020204" pitchFamily="34" charset="0"/>
            </a:endParaRPr>
          </a:p>
        </p:txBody>
      </p:sp>
      <p:pic>
        <p:nvPicPr>
          <p:cNvPr id="5" name="Picture 4"/>
          <p:cNvPicPr>
            <a:picLocks noChangeAspect="1"/>
          </p:cNvPicPr>
          <p:nvPr/>
        </p:nvPicPr>
        <p:blipFill>
          <a:blip r:embed="rId2"/>
          <a:stretch>
            <a:fillRect/>
          </a:stretch>
        </p:blipFill>
        <p:spPr>
          <a:xfrm>
            <a:off x="3886903" y="4663195"/>
            <a:ext cx="4930090" cy="2042337"/>
          </a:xfrm>
          <a:prstGeom prst="rect">
            <a:avLst/>
          </a:prstGeom>
        </p:spPr>
      </p:pic>
      <p:sp>
        <p:nvSpPr>
          <p:cNvPr id="8" name="Rectangle 7"/>
          <p:cNvSpPr/>
          <p:nvPr/>
        </p:nvSpPr>
        <p:spPr>
          <a:xfrm>
            <a:off x="973014" y="1031182"/>
            <a:ext cx="8646473" cy="307777"/>
          </a:xfrm>
          <a:prstGeom prst="rect">
            <a:avLst/>
          </a:prstGeom>
        </p:spPr>
        <p:txBody>
          <a:bodyPr wrap="square">
            <a:spAutoFit/>
          </a:bodyPr>
          <a:lstStyle/>
          <a:p>
            <a:r>
              <a:rPr lang="en-US" sz="1400" dirty="0" err="1">
                <a:latin typeface="Arial" panose="020B0604020202020204" pitchFamily="34" charset="0"/>
                <a:cs typeface="Arial" panose="020B0604020202020204" pitchFamily="34" charset="0"/>
              </a:rPr>
              <a:t>LangGraph</a:t>
            </a:r>
            <a:r>
              <a:rPr lang="en-US" sz="1400" dirty="0">
                <a:latin typeface="Arial" panose="020B0604020202020204" pitchFamily="34" charset="0"/>
                <a:cs typeface="Arial" panose="020B0604020202020204" pitchFamily="34" charset="0"/>
              </a:rPr>
              <a:t> natively supports orchestrator–worker workflows using the </a:t>
            </a:r>
            <a:r>
              <a:rPr lang="en-US" sz="1400" b="1" dirty="0">
                <a:latin typeface="Arial" panose="020B0604020202020204" pitchFamily="34" charset="0"/>
                <a:cs typeface="Arial" panose="020B0604020202020204" pitchFamily="34" charset="0"/>
              </a:rPr>
              <a:t>Send API</a:t>
            </a:r>
            <a:r>
              <a:rPr lang="en-US" sz="1400" dirty="0">
                <a:latin typeface="Arial" panose="020B0604020202020204" pitchFamily="34" charset="0"/>
                <a:cs typeface="Arial" panose="020B0604020202020204" pitchFamily="34" charset="0"/>
              </a:rPr>
              <a:t>.</a:t>
            </a:r>
            <a:endParaRPr lang="en-IN" sz="1400" dirty="0">
              <a:latin typeface="Arial" panose="020B0604020202020204" pitchFamily="34" charset="0"/>
              <a:cs typeface="Arial" panose="020B0604020202020204" pitchFamily="34" charset="0"/>
            </a:endParaRPr>
          </a:p>
        </p:txBody>
      </p:sp>
      <p:sp>
        <p:nvSpPr>
          <p:cNvPr id="9" name="Rectangle 1"/>
          <p:cNvSpPr>
            <a:spLocks noChangeArrowheads="1"/>
          </p:cNvSpPr>
          <p:nvPr/>
        </p:nvSpPr>
        <p:spPr bwMode="auto">
          <a:xfrm>
            <a:off x="880990" y="1508808"/>
            <a:ext cx="10396610" cy="289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How it works:</a:t>
            </a:r>
            <a:endParaRPr kumimoji="0" lang="en-US" altLang="en-US" sz="1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The </a:t>
            </a:r>
            <a:r>
              <a:rPr kumimoji="0" lang="en-US" altLang="en-US" sz="14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orchestrator</a:t>
            </a:r>
            <a:r>
              <a:rPr kumimoji="0" lang="en-US" altLang="en-US" sz="1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dynamically decides what work needs to be done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Send() creates </a:t>
            </a:r>
            <a:r>
              <a:rPr kumimoji="0" lang="en-US" altLang="en-US" sz="14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worker nodes at runtime</a:t>
            </a:r>
            <a:r>
              <a:rPr kumimoji="0" lang="en-US" altLang="en-US" sz="1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and passes each worker its own input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Each worker runs with its </a:t>
            </a:r>
            <a:r>
              <a:rPr kumimoji="0" lang="en-US" altLang="en-US" sz="14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own state</a:t>
            </a:r>
            <a:endParaRPr kumimoji="0" lang="en-US" altLang="en-US" sz="1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Worker outputs are written to a </a:t>
            </a:r>
            <a:r>
              <a:rPr kumimoji="0" lang="en-US" altLang="en-US" sz="14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shared state key</a:t>
            </a:r>
            <a:endParaRPr kumimoji="0" lang="en-US" altLang="en-US" sz="1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The orchestrator accesses all worker outputs and </a:t>
            </a:r>
            <a:r>
              <a:rPr kumimoji="0" lang="en-US" altLang="en-US" sz="14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synthesizes the final result</a:t>
            </a:r>
            <a:endParaRPr kumimoji="0" lang="en-US" altLang="en-US" sz="1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Example idea:</a:t>
            </a:r>
            <a:r>
              <a:rPr kumimoji="0" lang="en-US" altLang="en-US" sz="1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a:r>
            <a:br>
              <a:rPr kumimoji="0" lang="en-US" altLang="en-US" sz="1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br>
            <a:r>
              <a:rPr kumimoji="0" lang="en-US" altLang="en-US" sz="1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Iterate over a list of sections and use Send() to dispatch each section to a worker, then merge all completed sections into one output.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In one line:</a:t>
            </a:r>
            <a:r>
              <a:rPr kumimoji="0" lang="en-US" altLang="en-US" sz="1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a:r>
            <a:br>
              <a:rPr kumimoji="0" lang="en-US" altLang="en-US" sz="1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br>
            <a:r>
              <a:rPr kumimoji="0" lang="en-US" altLang="en-US" sz="1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The Send API enables dynamic task creation, parallel workers, and centralized synthesis in orchestrator–worker workflows.</a:t>
            </a:r>
          </a:p>
        </p:txBody>
      </p:sp>
    </p:spTree>
    <p:extLst>
      <p:ext uri="{BB962C8B-B14F-4D97-AF65-F5344CB8AC3E}">
        <p14:creationId xmlns:p14="http://schemas.microsoft.com/office/powerpoint/2010/main" val="119970845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8672-BCCD-358E-1B1C-899E93B0C6D9}"/>
              </a:ext>
            </a:extLst>
          </p:cNvPr>
          <p:cNvSpPr>
            <a:spLocks noGrp="1"/>
          </p:cNvSpPr>
          <p:nvPr>
            <p:ph type="title"/>
          </p:nvPr>
        </p:nvSpPr>
        <p:spPr>
          <a:xfrm>
            <a:off x="762000" y="158194"/>
            <a:ext cx="10515600" cy="595418"/>
          </a:xfrm>
        </p:spPr>
        <p:txBody>
          <a:bodyPr>
            <a:noAutofit/>
          </a:bodyPr>
          <a:lstStyle/>
          <a:p>
            <a:pPr algn="ctr" fontAlgn="base"/>
            <a:r>
              <a:rPr lang="en-IN" sz="3200" b="1" dirty="0" smtClean="0">
                <a:latin typeface="Arial" panose="020B0604020202020204" pitchFamily="34" charset="0"/>
                <a:cs typeface="Arial" panose="020B0604020202020204" pitchFamily="34" charset="0"/>
              </a:rPr>
              <a:t>Generator - Evaluator</a:t>
            </a:r>
            <a:endParaRPr lang="en-IN" sz="3200" b="1" dirty="0">
              <a:latin typeface="Arial" panose="020B0604020202020204" pitchFamily="34" charset="0"/>
              <a:cs typeface="Arial" panose="020B0604020202020204" pitchFamily="34" charset="0"/>
            </a:endParaRPr>
          </a:p>
        </p:txBody>
      </p:sp>
      <p:sp>
        <p:nvSpPr>
          <p:cNvPr id="4"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696916" y="3622585"/>
            <a:ext cx="1006557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endParaRPr kumimoji="0" lang="en-US" altLang="en-US" sz="1400" b="0" i="0" u="none" strike="noStrike" cap="none" normalizeH="0" baseline="0" dirty="0" smtClean="0">
              <a:ln>
                <a:noFill/>
              </a:ln>
              <a:solidFill>
                <a:schemeClr val="tx1"/>
              </a:solidFill>
              <a:effectLst/>
              <a:latin typeface="Arial" panose="020B0604020202020204" pitchFamily="34" charset="0"/>
            </a:endParaRPr>
          </a:p>
        </p:txBody>
      </p:sp>
      <p:sp>
        <p:nvSpPr>
          <p:cNvPr id="9" name="Rectangle 1"/>
          <p:cNvSpPr>
            <a:spLocks noChangeArrowheads="1"/>
          </p:cNvSpPr>
          <p:nvPr/>
        </p:nvSpPr>
        <p:spPr bwMode="auto">
          <a:xfrm>
            <a:off x="762000" y="1387879"/>
            <a:ext cx="10396610"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400" b="1" dirty="0">
                <a:latin typeface="Arial" panose="020B0604020202020204" pitchFamily="34" charset="0"/>
                <a:cs typeface="Arial" panose="020B0604020202020204" pitchFamily="34" charset="0"/>
              </a:rPr>
              <a:t>Evaluator–optimizer workflow:</a:t>
            </a:r>
            <a:r>
              <a:rPr lang="en-US" sz="1400" dirty="0">
                <a:latin typeface="Arial" panose="020B0604020202020204" pitchFamily="34" charset="0"/>
                <a:cs typeface="Arial" panose="020B0604020202020204" pitchFamily="34" charset="0"/>
              </a:rPr>
              <a:t/>
            </a:r>
            <a:br>
              <a:rPr lang="en-US" sz="1400" dirty="0">
                <a:latin typeface="Arial" panose="020B0604020202020204" pitchFamily="34" charset="0"/>
                <a:cs typeface="Arial" panose="020B0604020202020204" pitchFamily="34" charset="0"/>
              </a:rPr>
            </a:br>
            <a:r>
              <a:rPr lang="en-US" sz="1400" dirty="0">
                <a:latin typeface="Arial" panose="020B0604020202020204" pitchFamily="34" charset="0"/>
                <a:cs typeface="Arial" panose="020B0604020202020204" pitchFamily="34" charset="0"/>
              </a:rPr>
              <a:t>One LLM generates a response, another evaluates it against defined criteria. If it falls short, feedback is given and the response is regenerated. This loop repeats until the output is acceptable.</a:t>
            </a:r>
          </a:p>
          <a:p>
            <a:endParaRPr lang="en-US" sz="1400" b="1" dirty="0" smtClean="0">
              <a:latin typeface="Arial" panose="020B0604020202020204" pitchFamily="34" charset="0"/>
              <a:cs typeface="Arial" panose="020B0604020202020204" pitchFamily="34" charset="0"/>
            </a:endParaRPr>
          </a:p>
          <a:p>
            <a:r>
              <a:rPr lang="en-US" sz="1400" b="1" dirty="0" smtClean="0">
                <a:latin typeface="Arial" panose="020B0604020202020204" pitchFamily="34" charset="0"/>
                <a:cs typeface="Arial" panose="020B0604020202020204" pitchFamily="34" charset="0"/>
              </a:rPr>
              <a:t>When </a:t>
            </a:r>
            <a:r>
              <a:rPr lang="en-US" sz="1400" b="1" dirty="0">
                <a:latin typeface="Arial" panose="020B0604020202020204" pitchFamily="34" charset="0"/>
                <a:cs typeface="Arial" panose="020B0604020202020204" pitchFamily="34" charset="0"/>
              </a:rPr>
              <a:t>to use:</a:t>
            </a:r>
            <a:r>
              <a:rPr lang="en-US" sz="1400" dirty="0">
                <a:latin typeface="Arial" panose="020B0604020202020204" pitchFamily="34" charset="0"/>
                <a:cs typeface="Arial" panose="020B0604020202020204" pitchFamily="34" charset="0"/>
              </a:rPr>
              <a:t/>
            </a:r>
            <a:br>
              <a:rPr lang="en-US" sz="1400" dirty="0">
                <a:latin typeface="Arial" panose="020B0604020202020204" pitchFamily="34" charset="0"/>
                <a:cs typeface="Arial" panose="020B0604020202020204" pitchFamily="34" charset="0"/>
              </a:rPr>
            </a:br>
            <a:r>
              <a:rPr lang="en-US" sz="1400" dirty="0">
                <a:latin typeface="Arial" panose="020B0604020202020204" pitchFamily="34" charset="0"/>
                <a:cs typeface="Arial" panose="020B0604020202020204" pitchFamily="34" charset="0"/>
              </a:rPr>
              <a:t>Ideal for tasks with clear success criteria that require iteration—such as refining translations, improving content quality, or meeting style and accuracy standards.</a:t>
            </a:r>
          </a:p>
        </p:txBody>
      </p:sp>
      <p:pic>
        <p:nvPicPr>
          <p:cNvPr id="3" name="Picture 2"/>
          <p:cNvPicPr>
            <a:picLocks noChangeAspect="1"/>
          </p:cNvPicPr>
          <p:nvPr/>
        </p:nvPicPr>
        <p:blipFill>
          <a:blip r:embed="rId2"/>
          <a:stretch>
            <a:fillRect/>
          </a:stretch>
        </p:blipFill>
        <p:spPr>
          <a:xfrm>
            <a:off x="2887195" y="3695482"/>
            <a:ext cx="5685013" cy="1943268"/>
          </a:xfrm>
          <a:prstGeom prst="rect">
            <a:avLst/>
          </a:prstGeom>
        </p:spPr>
      </p:pic>
    </p:spTree>
    <p:extLst>
      <p:ext uri="{BB962C8B-B14F-4D97-AF65-F5344CB8AC3E}">
        <p14:creationId xmlns:p14="http://schemas.microsoft.com/office/powerpoint/2010/main" val="67649115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8672-BCCD-358E-1B1C-899E93B0C6D9}"/>
              </a:ext>
            </a:extLst>
          </p:cNvPr>
          <p:cNvSpPr>
            <a:spLocks noGrp="1"/>
          </p:cNvSpPr>
          <p:nvPr>
            <p:ph type="title"/>
          </p:nvPr>
        </p:nvSpPr>
        <p:spPr>
          <a:xfrm>
            <a:off x="762000" y="158194"/>
            <a:ext cx="10515600" cy="595418"/>
          </a:xfrm>
        </p:spPr>
        <p:txBody>
          <a:bodyPr>
            <a:noAutofit/>
          </a:bodyPr>
          <a:lstStyle/>
          <a:p>
            <a:pPr algn="ctr" fontAlgn="base"/>
            <a:r>
              <a:rPr lang="en-IN" sz="3200" b="1" dirty="0" smtClean="0">
                <a:latin typeface="Arial" panose="020B0604020202020204" pitchFamily="34" charset="0"/>
                <a:cs typeface="Arial" panose="020B0604020202020204" pitchFamily="34" charset="0"/>
              </a:rPr>
              <a:t>Agents</a:t>
            </a:r>
            <a:endParaRPr lang="en-IN" sz="3200" b="1" dirty="0">
              <a:latin typeface="Arial" panose="020B0604020202020204" pitchFamily="34" charset="0"/>
              <a:cs typeface="Arial" panose="020B0604020202020204" pitchFamily="34" charset="0"/>
            </a:endParaRPr>
          </a:p>
        </p:txBody>
      </p:sp>
      <p:sp>
        <p:nvSpPr>
          <p:cNvPr id="4"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696916" y="3622585"/>
            <a:ext cx="1006557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endParaRPr kumimoji="0" lang="en-US" altLang="en-US" sz="1400" b="0" i="0" u="none" strike="noStrike" cap="none" normalizeH="0" baseline="0" dirty="0" smtClean="0">
              <a:ln>
                <a:noFill/>
              </a:ln>
              <a:solidFill>
                <a:schemeClr val="tx1"/>
              </a:solidFill>
              <a:effectLst/>
              <a:latin typeface="Arial" panose="020B0604020202020204" pitchFamily="34" charset="0"/>
            </a:endParaRPr>
          </a:p>
        </p:txBody>
      </p:sp>
      <p:sp>
        <p:nvSpPr>
          <p:cNvPr id="9" name="Rectangle 1"/>
          <p:cNvSpPr>
            <a:spLocks noChangeArrowheads="1"/>
          </p:cNvSpPr>
          <p:nvPr/>
        </p:nvSpPr>
        <p:spPr bwMode="auto">
          <a:xfrm>
            <a:off x="762000" y="988724"/>
            <a:ext cx="1039661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400" b="1" dirty="0">
                <a:latin typeface="Arial" panose="020B0604020202020204" pitchFamily="34" charset="0"/>
                <a:cs typeface="Arial" panose="020B0604020202020204" pitchFamily="34" charset="0"/>
              </a:rPr>
              <a:t>Agents:</a:t>
            </a:r>
            <a:r>
              <a:rPr lang="en-US" sz="1400" dirty="0">
                <a:latin typeface="Arial" panose="020B0604020202020204" pitchFamily="34" charset="0"/>
                <a:cs typeface="Arial" panose="020B0604020202020204" pitchFamily="34" charset="0"/>
              </a:rPr>
              <a:t/>
            </a:r>
            <a:br>
              <a:rPr lang="en-US" sz="1400" dirty="0">
                <a:latin typeface="Arial" panose="020B0604020202020204" pitchFamily="34" charset="0"/>
                <a:cs typeface="Arial" panose="020B0604020202020204" pitchFamily="34" charset="0"/>
              </a:rPr>
            </a:br>
            <a:r>
              <a:rPr lang="en-US" sz="1400" dirty="0">
                <a:latin typeface="Arial" panose="020B0604020202020204" pitchFamily="34" charset="0"/>
                <a:cs typeface="Arial" panose="020B0604020202020204" pitchFamily="34" charset="0"/>
              </a:rPr>
              <a:t>Agents are LLMs that autonomously use tools in feedback loops to solve unpredictable problems. </a:t>
            </a:r>
            <a:endParaRPr lang="en-US" sz="1400" dirty="0" smtClean="0">
              <a:latin typeface="Arial" panose="020B0604020202020204" pitchFamily="34" charset="0"/>
              <a:cs typeface="Arial" panose="020B0604020202020204" pitchFamily="34" charset="0"/>
            </a:endParaRPr>
          </a:p>
          <a:p>
            <a:endParaRPr lang="en-US" sz="1400" dirty="0">
              <a:latin typeface="Arial" panose="020B0604020202020204" pitchFamily="34" charset="0"/>
              <a:cs typeface="Arial" panose="020B0604020202020204" pitchFamily="34" charset="0"/>
            </a:endParaRPr>
          </a:p>
          <a:p>
            <a:r>
              <a:rPr lang="en-US" sz="1400" dirty="0" smtClean="0">
                <a:latin typeface="Arial" panose="020B0604020202020204" pitchFamily="34" charset="0"/>
                <a:cs typeface="Arial" panose="020B0604020202020204" pitchFamily="34" charset="0"/>
              </a:rPr>
              <a:t>They </a:t>
            </a:r>
            <a:r>
              <a:rPr lang="en-US" sz="1400" dirty="0">
                <a:latin typeface="Arial" panose="020B0604020202020204" pitchFamily="34" charset="0"/>
                <a:cs typeface="Arial" panose="020B0604020202020204" pitchFamily="34" charset="0"/>
              </a:rPr>
              <a:t>decide which tools to use and how to act, while operating within developer-defined tools and behavior guidelines.</a:t>
            </a:r>
          </a:p>
        </p:txBody>
      </p:sp>
      <p:pic>
        <p:nvPicPr>
          <p:cNvPr id="5" name="Picture 4"/>
          <p:cNvPicPr>
            <a:picLocks noChangeAspect="1"/>
          </p:cNvPicPr>
          <p:nvPr/>
        </p:nvPicPr>
        <p:blipFill>
          <a:blip r:embed="rId2"/>
          <a:stretch>
            <a:fillRect/>
          </a:stretch>
        </p:blipFill>
        <p:spPr>
          <a:xfrm>
            <a:off x="2358716" y="2735775"/>
            <a:ext cx="5997460" cy="2248095"/>
          </a:xfrm>
          <a:prstGeom prst="rect">
            <a:avLst/>
          </a:prstGeom>
        </p:spPr>
      </p:pic>
    </p:spTree>
    <p:extLst>
      <p:ext uri="{BB962C8B-B14F-4D97-AF65-F5344CB8AC3E}">
        <p14:creationId xmlns:p14="http://schemas.microsoft.com/office/powerpoint/2010/main" val="38704624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8672-BCCD-358E-1B1C-899E93B0C6D9}"/>
              </a:ext>
            </a:extLst>
          </p:cNvPr>
          <p:cNvSpPr>
            <a:spLocks noGrp="1"/>
          </p:cNvSpPr>
          <p:nvPr>
            <p:ph type="title"/>
          </p:nvPr>
        </p:nvSpPr>
        <p:spPr>
          <a:xfrm>
            <a:off x="762000" y="158194"/>
            <a:ext cx="10515600" cy="595418"/>
          </a:xfrm>
        </p:spPr>
        <p:txBody>
          <a:bodyPr>
            <a:noAutofit/>
          </a:bodyPr>
          <a:lstStyle/>
          <a:p>
            <a:pPr algn="ctr" fontAlgn="base"/>
            <a:r>
              <a:rPr lang="en-IN" sz="3200" b="1" dirty="0" smtClean="0">
                <a:latin typeface="Arial" panose="020B0604020202020204" pitchFamily="34" charset="0"/>
                <a:cs typeface="Arial" panose="020B0604020202020204" pitchFamily="34" charset="0"/>
              </a:rPr>
              <a:t>Persistence</a:t>
            </a:r>
            <a:endParaRPr lang="en-IN" sz="3200" b="1" dirty="0">
              <a:latin typeface="Arial" panose="020B0604020202020204" pitchFamily="34" charset="0"/>
              <a:cs typeface="Arial" panose="020B0604020202020204" pitchFamily="34" charset="0"/>
            </a:endParaRPr>
          </a:p>
        </p:txBody>
      </p:sp>
      <p:sp>
        <p:nvSpPr>
          <p:cNvPr id="4"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696916" y="3622585"/>
            <a:ext cx="1006557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endParaRPr kumimoji="0" lang="en-US" altLang="en-US" sz="1400" b="0" i="0" u="none" strike="noStrike" cap="none" normalizeH="0" baseline="0" dirty="0" smtClean="0">
              <a:ln>
                <a:noFill/>
              </a:ln>
              <a:solidFill>
                <a:schemeClr val="tx1"/>
              </a:solidFill>
              <a:effectLst/>
              <a:latin typeface="Arial" panose="020B0604020202020204" pitchFamily="34" charset="0"/>
            </a:endParaRPr>
          </a:p>
        </p:txBody>
      </p:sp>
      <p:sp>
        <p:nvSpPr>
          <p:cNvPr id="3" name="Rectangle 2"/>
          <p:cNvSpPr/>
          <p:nvPr/>
        </p:nvSpPr>
        <p:spPr>
          <a:xfrm>
            <a:off x="999392" y="1218602"/>
            <a:ext cx="9577754" cy="1815882"/>
          </a:xfrm>
          <a:prstGeom prst="rect">
            <a:avLst/>
          </a:prstGeom>
        </p:spPr>
        <p:txBody>
          <a:bodyPr wrap="square">
            <a:spAutoFit/>
          </a:bodyPr>
          <a:lstStyle/>
          <a:p>
            <a:r>
              <a:rPr lang="en-US" sz="1400" dirty="0" err="1">
                <a:solidFill>
                  <a:srgbClr val="3F4141"/>
                </a:solidFill>
                <a:latin typeface="Arial" panose="020B0604020202020204" pitchFamily="34" charset="0"/>
                <a:cs typeface="Arial" panose="020B0604020202020204" pitchFamily="34" charset="0"/>
              </a:rPr>
              <a:t>LangGraph</a:t>
            </a:r>
            <a:r>
              <a:rPr lang="en-US" sz="1400" dirty="0">
                <a:solidFill>
                  <a:srgbClr val="3F4141"/>
                </a:solidFill>
                <a:latin typeface="Arial" panose="020B0604020202020204" pitchFamily="34" charset="0"/>
                <a:cs typeface="Arial" panose="020B0604020202020204" pitchFamily="34" charset="0"/>
              </a:rPr>
              <a:t> has a built-in persistence layer, implemented through </a:t>
            </a:r>
            <a:r>
              <a:rPr lang="en-US" sz="1400" dirty="0" err="1">
                <a:solidFill>
                  <a:srgbClr val="3F4141"/>
                </a:solidFill>
                <a:latin typeface="Arial" panose="020B0604020202020204" pitchFamily="34" charset="0"/>
                <a:cs typeface="Arial" panose="020B0604020202020204" pitchFamily="34" charset="0"/>
              </a:rPr>
              <a:t>checkpointers</a:t>
            </a:r>
            <a:r>
              <a:rPr lang="en-US" sz="1400" dirty="0" smtClean="0">
                <a:solidFill>
                  <a:srgbClr val="3F4141"/>
                </a:solidFill>
                <a:latin typeface="Arial" panose="020B0604020202020204" pitchFamily="34" charset="0"/>
                <a:cs typeface="Arial" panose="020B0604020202020204" pitchFamily="34" charset="0"/>
              </a:rPr>
              <a:t>.</a:t>
            </a:r>
          </a:p>
          <a:p>
            <a:endParaRPr lang="en-US" sz="1400" dirty="0">
              <a:solidFill>
                <a:srgbClr val="3F4141"/>
              </a:solidFill>
              <a:latin typeface="Arial" panose="020B0604020202020204" pitchFamily="34" charset="0"/>
              <a:cs typeface="Arial" panose="020B0604020202020204" pitchFamily="34" charset="0"/>
            </a:endParaRPr>
          </a:p>
          <a:p>
            <a:pPr lvl="0"/>
            <a:r>
              <a:rPr lang="en-US" altLang="en-US" sz="1400" dirty="0">
                <a:solidFill>
                  <a:srgbClr val="3F4141"/>
                </a:solidFill>
                <a:latin typeface="Arial" panose="020B0604020202020204" pitchFamily="34" charset="0"/>
                <a:cs typeface="Arial" panose="020B0604020202020204" pitchFamily="34" charset="0"/>
              </a:rPr>
              <a:t>When you compile a graph with a </a:t>
            </a:r>
            <a:r>
              <a:rPr lang="en-US" altLang="en-US" sz="1400" dirty="0" err="1">
                <a:solidFill>
                  <a:srgbClr val="3F4141"/>
                </a:solidFill>
                <a:latin typeface="Arial" panose="020B0604020202020204" pitchFamily="34" charset="0"/>
                <a:cs typeface="Arial" panose="020B0604020202020204" pitchFamily="34" charset="0"/>
              </a:rPr>
              <a:t>checkpointer</a:t>
            </a:r>
            <a:r>
              <a:rPr lang="en-US" altLang="en-US" sz="1400" dirty="0">
                <a:solidFill>
                  <a:srgbClr val="3F4141"/>
                </a:solidFill>
                <a:latin typeface="Arial" panose="020B0604020202020204" pitchFamily="34" charset="0"/>
                <a:cs typeface="Arial" panose="020B0604020202020204" pitchFamily="34" charset="0"/>
              </a:rPr>
              <a:t>, </a:t>
            </a:r>
            <a:r>
              <a:rPr lang="en-US" altLang="en-US" sz="1400" dirty="0" smtClean="0">
                <a:solidFill>
                  <a:srgbClr val="3F4141"/>
                </a:solidFill>
                <a:latin typeface="Arial" panose="020B0604020202020204" pitchFamily="34" charset="0"/>
                <a:cs typeface="Arial" panose="020B0604020202020204" pitchFamily="34" charset="0"/>
              </a:rPr>
              <a:t>it saves </a:t>
            </a:r>
            <a:r>
              <a:rPr lang="en-US" altLang="en-US" sz="1400" dirty="0">
                <a:solidFill>
                  <a:srgbClr val="3F4141"/>
                </a:solidFill>
                <a:latin typeface="Arial" panose="020B0604020202020204" pitchFamily="34" charset="0"/>
                <a:cs typeface="Arial" panose="020B0604020202020204" pitchFamily="34" charset="0"/>
              </a:rPr>
              <a:t>a </a:t>
            </a:r>
            <a:r>
              <a:rPr lang="en-US" altLang="en-US" sz="1400" dirty="0">
                <a:solidFill>
                  <a:srgbClr val="111827"/>
                </a:solidFill>
                <a:latin typeface="Arial" panose="020B0604020202020204" pitchFamily="34" charset="0"/>
                <a:cs typeface="Arial" panose="020B0604020202020204" pitchFamily="34" charset="0"/>
              </a:rPr>
              <a:t>checkpoint</a:t>
            </a:r>
            <a:r>
              <a:rPr lang="en-US" altLang="en-US" sz="1400" dirty="0">
                <a:solidFill>
                  <a:srgbClr val="3F4141"/>
                </a:solidFill>
                <a:latin typeface="Arial" panose="020B0604020202020204" pitchFamily="34" charset="0"/>
                <a:cs typeface="Arial" panose="020B0604020202020204" pitchFamily="34" charset="0"/>
              </a:rPr>
              <a:t> of the graph state at every super-step. Those checkpoints are saved to a </a:t>
            </a:r>
            <a:r>
              <a:rPr lang="en-US" altLang="en-US" sz="1400" b="1" dirty="0">
                <a:solidFill>
                  <a:srgbClr val="111827"/>
                </a:solidFill>
                <a:latin typeface="Arial" panose="020B0604020202020204" pitchFamily="34" charset="0"/>
                <a:cs typeface="Arial" panose="020B0604020202020204" pitchFamily="34" charset="0"/>
              </a:rPr>
              <a:t>thread</a:t>
            </a:r>
            <a:r>
              <a:rPr lang="en-US" altLang="en-US" sz="1400" dirty="0">
                <a:solidFill>
                  <a:srgbClr val="3F4141"/>
                </a:solidFill>
                <a:latin typeface="Arial" panose="020B0604020202020204" pitchFamily="34" charset="0"/>
                <a:cs typeface="Arial" panose="020B0604020202020204" pitchFamily="34" charset="0"/>
              </a:rPr>
              <a:t>, which can be accessed after graph execution.</a:t>
            </a:r>
            <a:r>
              <a:rPr lang="en-US" altLang="en-US" sz="1400" dirty="0">
                <a:latin typeface="Arial" panose="020B0604020202020204" pitchFamily="34" charset="0"/>
                <a:cs typeface="Arial" panose="020B0604020202020204" pitchFamily="34" charset="0"/>
              </a:rPr>
              <a:t> </a:t>
            </a:r>
            <a:endParaRPr lang="en-US" altLang="en-US" sz="1400" dirty="0" smtClean="0">
              <a:latin typeface="Arial" panose="020B0604020202020204" pitchFamily="34" charset="0"/>
              <a:cs typeface="Arial" panose="020B0604020202020204" pitchFamily="34" charset="0"/>
            </a:endParaRPr>
          </a:p>
          <a:p>
            <a:pPr lvl="0"/>
            <a:endParaRPr lang="en-US" altLang="en-US" sz="1400" dirty="0">
              <a:latin typeface="Arial" panose="020B0604020202020204" pitchFamily="34" charset="0"/>
              <a:cs typeface="Arial" panose="020B0604020202020204" pitchFamily="34" charset="0"/>
            </a:endParaRPr>
          </a:p>
          <a:p>
            <a:pPr lvl="0"/>
            <a:r>
              <a:rPr lang="en-US" sz="1400" dirty="0">
                <a:latin typeface="Arial" panose="020B0604020202020204" pitchFamily="34" charset="0"/>
                <a:cs typeface="Arial" panose="020B0604020202020204" pitchFamily="34" charset="0"/>
              </a:rPr>
              <a:t>human-in-the-loop, memory, time travel, and fault-tolerance are all </a:t>
            </a:r>
            <a:r>
              <a:rPr lang="en-US" sz="1400" dirty="0" smtClean="0">
                <a:latin typeface="Arial" panose="020B0604020202020204" pitchFamily="34" charset="0"/>
                <a:cs typeface="Arial" panose="020B0604020202020204" pitchFamily="34" charset="0"/>
              </a:rPr>
              <a:t>possible through threads.</a:t>
            </a:r>
            <a:endParaRPr lang="en-US" altLang="en-US" sz="1400" dirty="0">
              <a:latin typeface="Arial" panose="020B0604020202020204" pitchFamily="34" charset="0"/>
              <a:cs typeface="Arial" panose="020B0604020202020204" pitchFamily="34" charset="0"/>
            </a:endParaRPr>
          </a:p>
          <a:p>
            <a:endParaRPr lang="en-US" sz="1400" dirty="0" smtClean="0">
              <a:solidFill>
                <a:srgbClr val="3F4141"/>
              </a:solidFill>
              <a:latin typeface="Arial" panose="020B0604020202020204" pitchFamily="34" charset="0"/>
              <a:cs typeface="Arial" panose="020B0604020202020204" pitchFamily="34" charset="0"/>
            </a:endParaRPr>
          </a:p>
          <a:p>
            <a:endParaRPr lang="en-IN" sz="1400" dirty="0">
              <a:latin typeface="Arial" panose="020B0604020202020204" pitchFamily="34" charset="0"/>
              <a:cs typeface="Arial" panose="020B0604020202020204" pitchFamily="34" charset="0"/>
            </a:endParaRPr>
          </a:p>
        </p:txBody>
      </p:sp>
      <p:pic>
        <p:nvPicPr>
          <p:cNvPr id="10" name="Picture 9"/>
          <p:cNvPicPr>
            <a:picLocks noChangeAspect="1"/>
          </p:cNvPicPr>
          <p:nvPr/>
        </p:nvPicPr>
        <p:blipFill>
          <a:blip r:embed="rId2"/>
          <a:stretch>
            <a:fillRect/>
          </a:stretch>
        </p:blipFill>
        <p:spPr>
          <a:xfrm>
            <a:off x="1837944" y="2889504"/>
            <a:ext cx="8567928" cy="3291839"/>
          </a:xfrm>
          <a:prstGeom prst="rect">
            <a:avLst/>
          </a:prstGeom>
        </p:spPr>
      </p:pic>
    </p:spTree>
    <p:extLst>
      <p:ext uri="{BB962C8B-B14F-4D97-AF65-F5344CB8AC3E}">
        <p14:creationId xmlns:p14="http://schemas.microsoft.com/office/powerpoint/2010/main" val="398037756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8672-BCCD-358E-1B1C-899E93B0C6D9}"/>
              </a:ext>
            </a:extLst>
          </p:cNvPr>
          <p:cNvSpPr>
            <a:spLocks noGrp="1"/>
          </p:cNvSpPr>
          <p:nvPr>
            <p:ph type="title"/>
          </p:nvPr>
        </p:nvSpPr>
        <p:spPr>
          <a:xfrm>
            <a:off x="762000" y="158194"/>
            <a:ext cx="10515600" cy="595418"/>
          </a:xfrm>
        </p:spPr>
        <p:txBody>
          <a:bodyPr>
            <a:noAutofit/>
          </a:bodyPr>
          <a:lstStyle/>
          <a:p>
            <a:pPr algn="ctr" fontAlgn="base"/>
            <a:r>
              <a:rPr lang="en-IN" sz="3200" b="1" dirty="0">
                <a:latin typeface="Arial" panose="020B0604020202020204" pitchFamily="34" charset="0"/>
                <a:cs typeface="Arial" panose="020B0604020202020204" pitchFamily="34" charset="0"/>
              </a:rPr>
              <a:t>Reducers</a:t>
            </a:r>
            <a:endParaRPr lang="en-IN" sz="3200" b="1" dirty="0">
              <a:latin typeface="Arial" panose="020B0604020202020204" pitchFamily="34" charset="0"/>
              <a:cs typeface="Arial" panose="020B0604020202020204" pitchFamily="34" charset="0"/>
            </a:endParaRPr>
          </a:p>
        </p:txBody>
      </p:sp>
      <p:sp>
        <p:nvSpPr>
          <p:cNvPr id="4"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696916" y="3622585"/>
            <a:ext cx="1006557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endParaRPr kumimoji="0" lang="en-US" altLang="en-US" sz="1400" b="0" i="0" u="none" strike="noStrike" cap="none" normalizeH="0" baseline="0" dirty="0" smtClean="0">
              <a:ln>
                <a:noFill/>
              </a:ln>
              <a:solidFill>
                <a:schemeClr val="tx1"/>
              </a:solidFill>
              <a:effectLst/>
              <a:latin typeface="Arial" panose="020B0604020202020204" pitchFamily="34" charset="0"/>
            </a:endParaRPr>
          </a:p>
        </p:txBody>
      </p:sp>
      <p:sp>
        <p:nvSpPr>
          <p:cNvPr id="3" name="Rectangle 2"/>
          <p:cNvSpPr/>
          <p:nvPr/>
        </p:nvSpPr>
        <p:spPr>
          <a:xfrm>
            <a:off x="999392" y="978396"/>
            <a:ext cx="9577754" cy="1384995"/>
          </a:xfrm>
          <a:prstGeom prst="rect">
            <a:avLst/>
          </a:prstGeom>
        </p:spPr>
        <p:txBody>
          <a:bodyPr wrap="square">
            <a:spAutoFit/>
          </a:bodyPr>
          <a:lstStyle/>
          <a:p>
            <a:r>
              <a:rPr lang="en-US" sz="1400" b="1" dirty="0">
                <a:latin typeface="Arial" panose="020B0604020202020204" pitchFamily="34" charset="0"/>
                <a:cs typeface="Arial" panose="020B0604020202020204" pitchFamily="34" charset="0"/>
              </a:rPr>
              <a:t>Reducers</a:t>
            </a:r>
            <a:r>
              <a:rPr lang="en-US" sz="1400" dirty="0">
                <a:latin typeface="Arial" panose="020B0604020202020204" pitchFamily="34" charset="0"/>
                <a:cs typeface="Arial" panose="020B0604020202020204" pitchFamily="34" charset="0"/>
              </a:rPr>
              <a:t> define </a:t>
            </a:r>
            <a:r>
              <a:rPr lang="en-US" sz="1400" b="1" dirty="0">
                <a:latin typeface="Arial" panose="020B0604020202020204" pitchFamily="34" charset="0"/>
                <a:cs typeface="Arial" panose="020B0604020202020204" pitchFamily="34" charset="0"/>
              </a:rPr>
              <a:t>how state updates are merged</a:t>
            </a:r>
            <a:r>
              <a:rPr lang="en-US" sz="1400" dirty="0">
                <a:latin typeface="Arial" panose="020B0604020202020204" pitchFamily="34" charset="0"/>
                <a:cs typeface="Arial" panose="020B0604020202020204" pitchFamily="34" charset="0"/>
              </a:rPr>
              <a:t> when:</a:t>
            </a:r>
          </a:p>
          <a:p>
            <a:pPr marL="742950" lvl="1"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Multiple nodes write to the </a:t>
            </a:r>
            <a:r>
              <a:rPr lang="en-US" sz="1400" b="1" dirty="0">
                <a:latin typeface="Arial" panose="020B0604020202020204" pitchFamily="34" charset="0"/>
                <a:cs typeface="Arial" panose="020B0604020202020204" pitchFamily="34" charset="0"/>
              </a:rPr>
              <a:t>same state key</a:t>
            </a:r>
            <a:endParaRPr lang="en-US" sz="14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Parallel branches (fan-out) return results</a:t>
            </a:r>
          </a:p>
          <a:p>
            <a:pPr marL="742950" lvl="1"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A node is executed multiple </a:t>
            </a:r>
            <a:r>
              <a:rPr lang="en-US" sz="1400" dirty="0" smtClean="0">
                <a:latin typeface="Arial" panose="020B0604020202020204" pitchFamily="34" charset="0"/>
                <a:cs typeface="Arial" panose="020B0604020202020204" pitchFamily="34" charset="0"/>
              </a:rPr>
              <a:t>times</a:t>
            </a:r>
          </a:p>
          <a:p>
            <a:pPr marL="742950" lvl="1" indent="-285750">
              <a:buFont typeface="Arial" panose="020B0604020202020204" pitchFamily="34" charset="0"/>
              <a:buChar char="•"/>
            </a:pPr>
            <a:r>
              <a:rPr lang="en-US" altLang="en-US" sz="1400" dirty="0">
                <a:latin typeface="Arial" panose="020B0604020202020204" pitchFamily="34" charset="0"/>
                <a:cs typeface="Arial" panose="020B0604020202020204" pitchFamily="34" charset="0"/>
              </a:rPr>
              <a:t>Shared state keys like messages, logs, steps, </a:t>
            </a:r>
            <a:r>
              <a:rPr lang="en-US" altLang="en-US" sz="1400" dirty="0" err="1">
                <a:latin typeface="Arial" panose="020B0604020202020204" pitchFamily="34" charset="0"/>
                <a:cs typeface="Arial" panose="020B0604020202020204" pitchFamily="34" charset="0"/>
              </a:rPr>
              <a:t>tool_results</a:t>
            </a:r>
            <a:r>
              <a:rPr lang="en-US" altLang="en-US" sz="1400" dirty="0">
                <a:latin typeface="Arial" panose="020B0604020202020204" pitchFamily="34" charset="0"/>
                <a:cs typeface="Arial" panose="020B0604020202020204" pitchFamily="34" charset="0"/>
              </a:rPr>
              <a:t> </a:t>
            </a:r>
            <a:endParaRPr lang="en-US" sz="14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Without </a:t>
            </a:r>
            <a:r>
              <a:rPr lang="en-US" sz="1400" dirty="0" smtClean="0">
                <a:latin typeface="Arial" panose="020B0604020202020204" pitchFamily="34" charset="0"/>
                <a:cs typeface="Arial" panose="020B0604020202020204" pitchFamily="34" charset="0"/>
              </a:rPr>
              <a:t>reducers, </a:t>
            </a:r>
            <a:r>
              <a:rPr lang="en-US" sz="1400" dirty="0">
                <a:latin typeface="Arial" panose="020B0604020202020204" pitchFamily="34" charset="0"/>
                <a:cs typeface="Arial" panose="020B0604020202020204" pitchFamily="34" charset="0"/>
              </a:rPr>
              <a:t>later writes would </a:t>
            </a:r>
            <a:r>
              <a:rPr lang="en-US" sz="1400" b="1" dirty="0">
                <a:latin typeface="Arial" panose="020B0604020202020204" pitchFamily="34" charset="0"/>
                <a:cs typeface="Arial" panose="020B0604020202020204" pitchFamily="34" charset="0"/>
              </a:rPr>
              <a:t>overwrite</a:t>
            </a:r>
            <a:r>
              <a:rPr lang="en-US" sz="1400" dirty="0">
                <a:latin typeface="Arial" panose="020B0604020202020204" pitchFamily="34" charset="0"/>
                <a:cs typeface="Arial" panose="020B0604020202020204" pitchFamily="34" charset="0"/>
              </a:rPr>
              <a:t> earlier ones.</a:t>
            </a:r>
          </a:p>
        </p:txBody>
      </p:sp>
      <p:sp>
        <p:nvSpPr>
          <p:cNvPr id="5" name="Rectangle 4"/>
          <p:cNvSpPr/>
          <p:nvPr/>
        </p:nvSpPr>
        <p:spPr>
          <a:xfrm>
            <a:off x="849394" y="2754921"/>
            <a:ext cx="10005765" cy="2677656"/>
          </a:xfrm>
          <a:prstGeom prst="rect">
            <a:avLst/>
          </a:prstGeom>
        </p:spPr>
        <p:txBody>
          <a:bodyPr wrap="square">
            <a:spAutoFit/>
          </a:bodyPr>
          <a:lstStyle/>
          <a:p>
            <a:r>
              <a:rPr lang="en-IN" sz="1400" dirty="0">
                <a:latin typeface="Arial" panose="020B0604020202020204" pitchFamily="34" charset="0"/>
                <a:cs typeface="Arial" panose="020B0604020202020204" pitchFamily="34" charset="0"/>
              </a:rPr>
              <a:t>from typing import Annotated, </a:t>
            </a:r>
            <a:r>
              <a:rPr lang="en-IN" sz="1400" dirty="0" err="1">
                <a:latin typeface="Arial" panose="020B0604020202020204" pitchFamily="34" charset="0"/>
                <a:cs typeface="Arial" panose="020B0604020202020204" pitchFamily="34" charset="0"/>
              </a:rPr>
              <a:t>TypedDict</a:t>
            </a:r>
            <a:endParaRPr lang="en-IN" sz="1400" dirty="0">
              <a:latin typeface="Arial" panose="020B0604020202020204" pitchFamily="34" charset="0"/>
              <a:cs typeface="Arial" panose="020B0604020202020204" pitchFamily="34" charset="0"/>
            </a:endParaRPr>
          </a:p>
          <a:p>
            <a:r>
              <a:rPr lang="en-IN" sz="1400" dirty="0">
                <a:latin typeface="Arial" panose="020B0604020202020204" pitchFamily="34" charset="0"/>
                <a:cs typeface="Arial" panose="020B0604020202020204" pitchFamily="34" charset="0"/>
              </a:rPr>
              <a:t>import operator</a:t>
            </a:r>
          </a:p>
          <a:p>
            <a:endParaRPr lang="en-IN" sz="1400" dirty="0">
              <a:latin typeface="Arial" panose="020B0604020202020204" pitchFamily="34" charset="0"/>
              <a:cs typeface="Arial" panose="020B0604020202020204" pitchFamily="34" charset="0"/>
            </a:endParaRPr>
          </a:p>
          <a:p>
            <a:r>
              <a:rPr lang="en-IN" sz="1400" dirty="0">
                <a:latin typeface="Arial" panose="020B0604020202020204" pitchFamily="34" charset="0"/>
                <a:cs typeface="Arial" panose="020B0604020202020204" pitchFamily="34" charset="0"/>
              </a:rPr>
              <a:t>class State(</a:t>
            </a:r>
            <a:r>
              <a:rPr lang="en-IN" sz="1400" dirty="0" err="1">
                <a:latin typeface="Arial" panose="020B0604020202020204" pitchFamily="34" charset="0"/>
                <a:cs typeface="Arial" panose="020B0604020202020204" pitchFamily="34" charset="0"/>
              </a:rPr>
              <a:t>TypedDict</a:t>
            </a:r>
            <a:r>
              <a:rPr lang="en-IN" sz="1400" dirty="0">
                <a:latin typeface="Arial" panose="020B0604020202020204" pitchFamily="34" charset="0"/>
                <a:cs typeface="Arial" panose="020B0604020202020204" pitchFamily="34" charset="0"/>
              </a:rPr>
              <a:t>):</a:t>
            </a:r>
          </a:p>
          <a:p>
            <a:r>
              <a:rPr lang="en-IN" sz="1400" dirty="0">
                <a:latin typeface="Arial" panose="020B0604020202020204" pitchFamily="34" charset="0"/>
                <a:cs typeface="Arial" panose="020B0604020202020204" pitchFamily="34" charset="0"/>
              </a:rPr>
              <a:t>    messages: Annotated[list[</a:t>
            </a:r>
            <a:r>
              <a:rPr lang="en-IN" sz="1400" dirty="0" err="1">
                <a:latin typeface="Arial" panose="020B0604020202020204" pitchFamily="34" charset="0"/>
                <a:cs typeface="Arial" panose="020B0604020202020204" pitchFamily="34" charset="0"/>
              </a:rPr>
              <a:t>str</a:t>
            </a:r>
            <a:r>
              <a:rPr lang="en-IN" sz="1400" dirty="0">
                <a:latin typeface="Arial" panose="020B0604020202020204" pitchFamily="34" charset="0"/>
                <a:cs typeface="Arial" panose="020B0604020202020204" pitchFamily="34" charset="0"/>
              </a:rPr>
              <a:t>], </a:t>
            </a:r>
            <a:r>
              <a:rPr lang="en-IN" sz="1400" dirty="0" err="1">
                <a:latin typeface="Arial" panose="020B0604020202020204" pitchFamily="34" charset="0"/>
                <a:cs typeface="Arial" panose="020B0604020202020204" pitchFamily="34" charset="0"/>
              </a:rPr>
              <a:t>operator.add</a:t>
            </a:r>
            <a:r>
              <a:rPr lang="en-IN" sz="1400" dirty="0" smtClean="0">
                <a:latin typeface="Arial" panose="020B0604020202020204" pitchFamily="34" charset="0"/>
                <a:cs typeface="Arial" panose="020B0604020202020204" pitchFamily="34" charset="0"/>
              </a:rPr>
              <a:t>]</a:t>
            </a:r>
          </a:p>
          <a:p>
            <a:endParaRPr lang="en-IN" sz="1400" dirty="0">
              <a:latin typeface="Arial" panose="020B0604020202020204" pitchFamily="34" charset="0"/>
              <a:cs typeface="Arial" panose="020B0604020202020204" pitchFamily="34" charset="0"/>
            </a:endParaRPr>
          </a:p>
          <a:p>
            <a:pPr lvl="0"/>
            <a:endParaRPr lang="en-US" altLang="en-US" sz="1400" dirty="0" smtClean="0">
              <a:latin typeface="Arial" panose="020B0604020202020204" pitchFamily="34" charset="0"/>
              <a:cs typeface="Arial" panose="020B0604020202020204" pitchFamily="34" charset="0"/>
            </a:endParaRPr>
          </a:p>
          <a:p>
            <a:pPr lvl="0"/>
            <a:endParaRPr lang="en-US" altLang="en-US" sz="1400" dirty="0">
              <a:latin typeface="Arial" panose="020B0604020202020204" pitchFamily="34" charset="0"/>
              <a:cs typeface="Arial" panose="020B0604020202020204" pitchFamily="34" charset="0"/>
            </a:endParaRPr>
          </a:p>
          <a:p>
            <a:pPr lvl="0"/>
            <a:endParaRPr lang="en-US" altLang="en-US" sz="1400" dirty="0" smtClean="0">
              <a:latin typeface="Arial" panose="020B0604020202020204" pitchFamily="34" charset="0"/>
              <a:cs typeface="Arial" panose="020B0604020202020204" pitchFamily="34" charset="0"/>
            </a:endParaRPr>
          </a:p>
          <a:p>
            <a:pPr lvl="0"/>
            <a:endParaRPr lang="en-US" altLang="en-US" sz="1400" dirty="0">
              <a:latin typeface="Arial" panose="020B0604020202020204" pitchFamily="34" charset="0"/>
              <a:cs typeface="Arial" panose="020B0604020202020204" pitchFamily="34" charset="0"/>
            </a:endParaRPr>
          </a:p>
          <a:p>
            <a:pPr lvl="0"/>
            <a:r>
              <a:rPr lang="en-US" altLang="en-US" sz="1400" dirty="0" smtClean="0">
                <a:latin typeface="Arial" panose="020B0604020202020204" pitchFamily="34" charset="0"/>
                <a:cs typeface="Arial" panose="020B0604020202020204" pitchFamily="34" charset="0"/>
              </a:rPr>
              <a:t>We use “Annotated” and use add to enable reducer, Every </a:t>
            </a:r>
            <a:r>
              <a:rPr lang="en-US" altLang="en-US" sz="1400" dirty="0">
                <a:latin typeface="Arial" panose="020B0604020202020204" pitchFamily="34" charset="0"/>
                <a:cs typeface="Arial" panose="020B0604020202020204" pitchFamily="34" charset="0"/>
              </a:rPr>
              <a:t>node that writes to messages will </a:t>
            </a:r>
            <a:r>
              <a:rPr lang="en-US" altLang="en-US" sz="1400" b="1" dirty="0">
                <a:latin typeface="Arial" panose="020B0604020202020204" pitchFamily="34" charset="0"/>
                <a:cs typeface="Arial" panose="020B0604020202020204" pitchFamily="34" charset="0"/>
              </a:rPr>
              <a:t>append</a:t>
            </a:r>
            <a:r>
              <a:rPr lang="en-US" altLang="en-US" sz="1400" dirty="0">
                <a:latin typeface="Arial" panose="020B0604020202020204" pitchFamily="34" charset="0"/>
                <a:cs typeface="Arial" panose="020B0604020202020204" pitchFamily="34" charset="0"/>
              </a:rPr>
              <a:t> instead of overwrite. </a:t>
            </a:r>
          </a:p>
          <a:p>
            <a:endParaRPr lang="en-IN" sz="1400" dirty="0">
              <a:latin typeface="Arial" panose="020B0604020202020204" pitchFamily="34" charset="0"/>
              <a:cs typeface="Arial" panose="020B0604020202020204" pitchFamily="34" charset="0"/>
            </a:endParaRPr>
          </a:p>
        </p:txBody>
      </p:sp>
      <p:sp>
        <p:nvSpPr>
          <p:cNvPr id="11" name="Rectangle 10"/>
          <p:cNvSpPr/>
          <p:nvPr/>
        </p:nvSpPr>
        <p:spPr>
          <a:xfrm>
            <a:off x="999392" y="5384154"/>
            <a:ext cx="9241888" cy="338554"/>
          </a:xfrm>
          <a:prstGeom prst="rect">
            <a:avLst/>
          </a:prstGeom>
        </p:spPr>
        <p:txBody>
          <a:bodyPr wrap="square">
            <a:spAutoFit/>
          </a:bodyPr>
          <a:lstStyle/>
          <a:p>
            <a:r>
              <a:rPr lang="en-US" sz="1600" b="1" dirty="0">
                <a:latin typeface="Arial" panose="020B0604020202020204" pitchFamily="34" charset="0"/>
                <a:cs typeface="Arial" panose="020B0604020202020204" pitchFamily="34" charset="0"/>
              </a:rPr>
              <a:t>Reducers control how </a:t>
            </a:r>
            <a:r>
              <a:rPr lang="en-US" sz="1600" b="1" dirty="0" err="1">
                <a:latin typeface="Arial" panose="020B0604020202020204" pitchFamily="34" charset="0"/>
                <a:cs typeface="Arial" panose="020B0604020202020204" pitchFamily="34" charset="0"/>
              </a:rPr>
              <a:t>LangGraph</a:t>
            </a:r>
            <a:r>
              <a:rPr lang="en-US" sz="1600" b="1" dirty="0">
                <a:latin typeface="Arial" panose="020B0604020202020204" pitchFamily="34" charset="0"/>
                <a:cs typeface="Arial" panose="020B0604020202020204" pitchFamily="34" charset="0"/>
              </a:rPr>
              <a:t> merges state updates instead of blindly overwriting them.</a:t>
            </a:r>
            <a:endParaRPr lang="en-IN" sz="1600" b="1" dirty="0">
              <a:latin typeface="Arial" panose="020B0604020202020204" pitchFamily="34" charset="0"/>
              <a:cs typeface="Arial" panose="020B0604020202020204" pitchFamily="34" charset="0"/>
            </a:endParaRPr>
          </a:p>
        </p:txBody>
      </p:sp>
      <p:graphicFrame>
        <p:nvGraphicFramePr>
          <p:cNvPr id="13" name="Table 12"/>
          <p:cNvGraphicFramePr>
            <a:graphicFrameLocks noGrp="1"/>
          </p:cNvGraphicFramePr>
          <p:nvPr>
            <p:extLst>
              <p:ext uri="{D42A27DB-BD31-4B8C-83A1-F6EECF244321}">
                <p14:modId xmlns:p14="http://schemas.microsoft.com/office/powerpoint/2010/main" val="3307327070"/>
              </p:ext>
            </p:extLst>
          </p:nvPr>
        </p:nvGraphicFramePr>
        <p:xfrm>
          <a:off x="5788269" y="2705862"/>
          <a:ext cx="5840984" cy="1645920"/>
        </p:xfrm>
        <a:graphic>
          <a:graphicData uri="http://schemas.openxmlformats.org/drawingml/2006/table">
            <a:tbl>
              <a:tblPr firstRow="1" bandRow="1">
                <a:tableStyleId>{073A0DAA-6AF3-43AB-8588-CEC1D06C72B9}</a:tableStyleId>
              </a:tblPr>
              <a:tblGrid>
                <a:gridCol w="2920492">
                  <a:extLst>
                    <a:ext uri="{9D8B030D-6E8A-4147-A177-3AD203B41FA5}">
                      <a16:colId xmlns:a16="http://schemas.microsoft.com/office/drawing/2014/main" val="1478038271"/>
                    </a:ext>
                  </a:extLst>
                </a:gridCol>
                <a:gridCol w="2920492">
                  <a:extLst>
                    <a:ext uri="{9D8B030D-6E8A-4147-A177-3AD203B41FA5}">
                      <a16:colId xmlns:a16="http://schemas.microsoft.com/office/drawing/2014/main" val="1087423191"/>
                    </a:ext>
                  </a:extLst>
                </a:gridCol>
              </a:tblGrid>
              <a:tr h="228569">
                <a:tc>
                  <a:txBody>
                    <a:bodyPr/>
                    <a:lstStyle/>
                    <a:p>
                      <a:r>
                        <a:rPr lang="en-IN" sz="1200" dirty="0">
                          <a:latin typeface="Arial" panose="020B0604020202020204" pitchFamily="34" charset="0"/>
                          <a:cs typeface="Arial" panose="020B0604020202020204" pitchFamily="34" charset="0"/>
                        </a:rPr>
                        <a:t>Reducer Type</a:t>
                      </a:r>
                    </a:p>
                  </a:txBody>
                  <a:tcPr anchor="ctr"/>
                </a:tc>
                <a:tc>
                  <a:txBody>
                    <a:bodyPr/>
                    <a:lstStyle/>
                    <a:p>
                      <a:r>
                        <a:rPr lang="en-IN" sz="1200">
                          <a:latin typeface="Arial" panose="020B0604020202020204" pitchFamily="34" charset="0"/>
                          <a:cs typeface="Arial" panose="020B0604020202020204" pitchFamily="34" charset="0"/>
                        </a:rPr>
                        <a:t>Typical Use</a:t>
                      </a:r>
                    </a:p>
                  </a:txBody>
                  <a:tcPr anchor="ctr"/>
                </a:tc>
                <a:extLst>
                  <a:ext uri="{0D108BD9-81ED-4DB2-BD59-A6C34878D82A}">
                    <a16:rowId xmlns:a16="http://schemas.microsoft.com/office/drawing/2014/main" val="1645963963"/>
                  </a:ext>
                </a:extLst>
              </a:tr>
              <a:tr h="228569">
                <a:tc>
                  <a:txBody>
                    <a:bodyPr/>
                    <a:lstStyle/>
                    <a:p>
                      <a:r>
                        <a:rPr lang="en-IN" sz="1200" dirty="0" smtClean="0">
                          <a:latin typeface="Arial" panose="020B0604020202020204" pitchFamily="34" charset="0"/>
                          <a:cs typeface="Arial" panose="020B0604020202020204" pitchFamily="34" charset="0"/>
                        </a:rPr>
                        <a:t>add</a:t>
                      </a:r>
                      <a:endParaRPr lang="en-IN" sz="1200" dirty="0">
                        <a:latin typeface="Arial" panose="020B0604020202020204" pitchFamily="34" charset="0"/>
                        <a:cs typeface="Arial" panose="020B0604020202020204" pitchFamily="34" charset="0"/>
                      </a:endParaRPr>
                    </a:p>
                  </a:txBody>
                  <a:tcPr anchor="ctr"/>
                </a:tc>
                <a:tc>
                  <a:txBody>
                    <a:bodyPr/>
                    <a:lstStyle/>
                    <a:p>
                      <a:r>
                        <a:rPr lang="en-IN" sz="1200" dirty="0" smtClean="0">
                          <a:latin typeface="Arial" panose="020B0604020202020204" pitchFamily="34" charset="0"/>
                          <a:cs typeface="Arial" panose="020B0604020202020204" pitchFamily="34" charset="0"/>
                        </a:rPr>
                        <a:t>Accumulate lists, strings, numbers(sum)</a:t>
                      </a:r>
                      <a:endParaRPr lang="en-IN" sz="12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224429903"/>
                  </a:ext>
                </a:extLst>
              </a:tr>
              <a:tr h="228569">
                <a:tc>
                  <a:txBody>
                    <a:bodyPr/>
                    <a:lstStyle/>
                    <a:p>
                      <a:r>
                        <a:rPr lang="en-IN" sz="1200" dirty="0" err="1">
                          <a:latin typeface="Arial" panose="020B0604020202020204" pitchFamily="34" charset="0"/>
                          <a:cs typeface="Arial" panose="020B0604020202020204" pitchFamily="34" charset="0"/>
                        </a:rPr>
                        <a:t>Deduplicate</a:t>
                      </a:r>
                      <a:endParaRPr lang="en-IN" sz="1200" dirty="0">
                        <a:latin typeface="Arial" panose="020B0604020202020204" pitchFamily="34" charset="0"/>
                        <a:cs typeface="Arial" panose="020B0604020202020204" pitchFamily="34" charset="0"/>
                      </a:endParaRPr>
                    </a:p>
                  </a:txBody>
                  <a:tcPr anchor="ctr"/>
                </a:tc>
                <a:tc>
                  <a:txBody>
                    <a:bodyPr/>
                    <a:lstStyle/>
                    <a:p>
                      <a:r>
                        <a:rPr lang="en-IN" sz="1200">
                          <a:latin typeface="Arial" panose="020B0604020202020204" pitchFamily="34" charset="0"/>
                          <a:cs typeface="Arial" panose="020B0604020202020204" pitchFamily="34" charset="0"/>
                        </a:rPr>
                        <a:t>Fan-in workers</a:t>
                      </a:r>
                    </a:p>
                  </a:txBody>
                  <a:tcPr anchor="ctr"/>
                </a:tc>
                <a:extLst>
                  <a:ext uri="{0D108BD9-81ED-4DB2-BD59-A6C34878D82A}">
                    <a16:rowId xmlns:a16="http://schemas.microsoft.com/office/drawing/2014/main" val="159790842"/>
                  </a:ext>
                </a:extLst>
              </a:tr>
              <a:tr h="228569">
                <a:tc>
                  <a:txBody>
                    <a:bodyPr/>
                    <a:lstStyle/>
                    <a:p>
                      <a:r>
                        <a:rPr lang="en-IN" sz="1200">
                          <a:latin typeface="Arial" panose="020B0604020202020204" pitchFamily="34" charset="0"/>
                          <a:cs typeface="Arial" panose="020B0604020202020204" pitchFamily="34" charset="0"/>
                        </a:rPr>
                        <a:t>Max / Min</a:t>
                      </a:r>
                    </a:p>
                  </a:txBody>
                  <a:tcPr anchor="ctr"/>
                </a:tc>
                <a:tc>
                  <a:txBody>
                    <a:bodyPr/>
                    <a:lstStyle/>
                    <a:p>
                      <a:r>
                        <a:rPr lang="en-IN" sz="1200">
                          <a:latin typeface="Arial" panose="020B0604020202020204" pitchFamily="34" charset="0"/>
                          <a:cs typeface="Arial" panose="020B0604020202020204" pitchFamily="34" charset="0"/>
                        </a:rPr>
                        <a:t>Best result</a:t>
                      </a:r>
                    </a:p>
                  </a:txBody>
                  <a:tcPr anchor="ctr"/>
                </a:tc>
                <a:extLst>
                  <a:ext uri="{0D108BD9-81ED-4DB2-BD59-A6C34878D82A}">
                    <a16:rowId xmlns:a16="http://schemas.microsoft.com/office/drawing/2014/main" val="1798864192"/>
                  </a:ext>
                </a:extLst>
              </a:tr>
              <a:tr h="228569">
                <a:tc>
                  <a:txBody>
                    <a:bodyPr/>
                    <a:lstStyle/>
                    <a:p>
                      <a:r>
                        <a:rPr lang="en-IN" sz="1200">
                          <a:latin typeface="Arial" panose="020B0604020202020204" pitchFamily="34" charset="0"/>
                          <a:cs typeface="Arial" panose="020B0604020202020204" pitchFamily="34" charset="0"/>
                        </a:rPr>
                        <a:t>Dict merge</a:t>
                      </a:r>
                    </a:p>
                  </a:txBody>
                  <a:tcPr anchor="ctr"/>
                </a:tc>
                <a:tc>
                  <a:txBody>
                    <a:bodyPr/>
                    <a:lstStyle/>
                    <a:p>
                      <a:r>
                        <a:rPr lang="en-IN" sz="1200">
                          <a:latin typeface="Arial" panose="020B0604020202020204" pitchFamily="34" charset="0"/>
                          <a:cs typeface="Arial" panose="020B0604020202020204" pitchFamily="34" charset="0"/>
                        </a:rPr>
                        <a:t>Metadata enrichment</a:t>
                      </a:r>
                    </a:p>
                  </a:txBody>
                  <a:tcPr anchor="ctr"/>
                </a:tc>
                <a:extLst>
                  <a:ext uri="{0D108BD9-81ED-4DB2-BD59-A6C34878D82A}">
                    <a16:rowId xmlns:a16="http://schemas.microsoft.com/office/drawing/2014/main" val="621385896"/>
                  </a:ext>
                </a:extLst>
              </a:tr>
              <a:tr h="228569">
                <a:tc>
                  <a:txBody>
                    <a:bodyPr/>
                    <a:lstStyle/>
                    <a:p>
                      <a:r>
                        <a:rPr lang="en-IN" sz="1200">
                          <a:latin typeface="Arial" panose="020B0604020202020204" pitchFamily="34" charset="0"/>
                          <a:cs typeface="Arial" panose="020B0604020202020204" pitchFamily="34" charset="0"/>
                        </a:rPr>
                        <a:t>Boolean OR</a:t>
                      </a:r>
                    </a:p>
                  </a:txBody>
                  <a:tcPr anchor="ctr"/>
                </a:tc>
                <a:tc>
                  <a:txBody>
                    <a:bodyPr/>
                    <a:lstStyle/>
                    <a:p>
                      <a:r>
                        <a:rPr lang="en-IN" sz="1200" dirty="0">
                          <a:latin typeface="Arial" panose="020B0604020202020204" pitchFamily="34" charset="0"/>
                          <a:cs typeface="Arial" panose="020B0604020202020204" pitchFamily="34" charset="0"/>
                        </a:rPr>
                        <a:t>Completion / flags</a:t>
                      </a:r>
                    </a:p>
                  </a:txBody>
                  <a:tcPr anchor="ctr"/>
                </a:tc>
                <a:extLst>
                  <a:ext uri="{0D108BD9-81ED-4DB2-BD59-A6C34878D82A}">
                    <a16:rowId xmlns:a16="http://schemas.microsoft.com/office/drawing/2014/main" val="156086891"/>
                  </a:ext>
                </a:extLst>
              </a:tr>
            </a:tbl>
          </a:graphicData>
        </a:graphic>
      </p:graphicFrame>
    </p:spTree>
    <p:extLst>
      <p:ext uri="{BB962C8B-B14F-4D97-AF65-F5344CB8AC3E}">
        <p14:creationId xmlns:p14="http://schemas.microsoft.com/office/powerpoint/2010/main" val="307017639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8672-BCCD-358E-1B1C-899E93B0C6D9}"/>
              </a:ext>
            </a:extLst>
          </p:cNvPr>
          <p:cNvSpPr>
            <a:spLocks noGrp="1"/>
          </p:cNvSpPr>
          <p:nvPr>
            <p:ph type="title"/>
          </p:nvPr>
        </p:nvSpPr>
        <p:spPr>
          <a:xfrm>
            <a:off x="762000" y="158194"/>
            <a:ext cx="10515600" cy="595418"/>
          </a:xfrm>
        </p:spPr>
        <p:txBody>
          <a:bodyPr>
            <a:noAutofit/>
          </a:bodyPr>
          <a:lstStyle/>
          <a:p>
            <a:pPr algn="ctr" fontAlgn="base"/>
            <a:r>
              <a:rPr lang="en-IN" sz="3200" b="1" dirty="0" smtClean="0">
                <a:latin typeface="Arial" panose="020B0604020202020204" pitchFamily="34" charset="0"/>
                <a:cs typeface="Arial" panose="020B0604020202020204" pitchFamily="34" charset="0"/>
              </a:rPr>
              <a:t>Stream</a:t>
            </a:r>
            <a:endParaRPr lang="en-IN" sz="3200" b="1" dirty="0">
              <a:latin typeface="Arial" panose="020B0604020202020204" pitchFamily="34" charset="0"/>
              <a:cs typeface="Arial" panose="020B0604020202020204" pitchFamily="34" charset="0"/>
            </a:endParaRPr>
          </a:p>
        </p:txBody>
      </p:sp>
      <p:sp>
        <p:nvSpPr>
          <p:cNvPr id="4"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5893425" y="5075928"/>
            <a:ext cx="5765175"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1200" dirty="0">
                <a:latin typeface="Arial" panose="020B0604020202020204" pitchFamily="34" charset="0"/>
              </a:rPr>
              <a:t>{'</a:t>
            </a:r>
            <a:r>
              <a:rPr lang="en-US" altLang="en-US" sz="1200" dirty="0" err="1">
                <a:latin typeface="Arial" panose="020B0604020202020204" pitchFamily="34" charset="0"/>
              </a:rPr>
              <a:t>node_id</a:t>
            </a:r>
            <a:r>
              <a:rPr lang="en-US" altLang="en-US" sz="1200" dirty="0">
                <a:latin typeface="Arial" panose="020B0604020202020204" pitchFamily="34" charset="0"/>
              </a:rPr>
              <a:t>': '</a:t>
            </a:r>
            <a:r>
              <a:rPr lang="en-US" altLang="en-US" sz="1200" dirty="0" err="1">
                <a:latin typeface="Arial" panose="020B0604020202020204" pitchFamily="34" charset="0"/>
              </a:rPr>
              <a:t>generate_summary</a:t>
            </a:r>
            <a:r>
              <a:rPr lang="en-US" altLang="en-US" sz="1200" dirty="0">
                <a:latin typeface="Arial" panose="020B0604020202020204" pitchFamily="34" charset="0"/>
              </a:rPr>
              <a:t>', 'status': 'running', 'value': None, 'timestamp': 123456789}</a:t>
            </a:r>
          </a:p>
          <a:p>
            <a:pPr lvl="0" eaLnBrk="0" fontAlgn="base" hangingPunct="0">
              <a:spcBef>
                <a:spcPct val="0"/>
              </a:spcBef>
              <a:spcAft>
                <a:spcPct val="0"/>
              </a:spcAft>
            </a:pPr>
            <a:r>
              <a:rPr lang="en-US" altLang="en-US" sz="1200" dirty="0">
                <a:latin typeface="Arial" panose="020B0604020202020204" pitchFamily="34" charset="0"/>
              </a:rPr>
              <a:t>{'</a:t>
            </a:r>
            <a:r>
              <a:rPr lang="en-US" altLang="en-US" sz="1200" dirty="0" err="1">
                <a:latin typeface="Arial" panose="020B0604020202020204" pitchFamily="34" charset="0"/>
              </a:rPr>
              <a:t>node_id</a:t>
            </a:r>
            <a:r>
              <a:rPr lang="en-US" altLang="en-US" sz="1200" dirty="0">
                <a:latin typeface="Arial" panose="020B0604020202020204" pitchFamily="34" charset="0"/>
              </a:rPr>
              <a:t>': '</a:t>
            </a:r>
            <a:r>
              <a:rPr lang="en-US" altLang="en-US" sz="1200" dirty="0" err="1">
                <a:latin typeface="Arial" panose="020B0604020202020204" pitchFamily="34" charset="0"/>
              </a:rPr>
              <a:t>generate_summary</a:t>
            </a:r>
            <a:r>
              <a:rPr lang="en-US" altLang="en-US" sz="1200" dirty="0">
                <a:latin typeface="Arial" panose="020B0604020202020204" pitchFamily="34" charset="0"/>
              </a:rPr>
              <a:t>', 'status': 'completed', 'value': 'Ice cream is a frozen dessert made from cream and sugar.', 'timestamp': 123456790}</a:t>
            </a:r>
          </a:p>
          <a:p>
            <a:pPr lvl="0" eaLnBrk="0" fontAlgn="base" hangingPunct="0">
              <a:spcBef>
                <a:spcPct val="0"/>
              </a:spcBef>
              <a:spcAft>
                <a:spcPct val="0"/>
              </a:spcAft>
            </a:pPr>
            <a:r>
              <a:rPr lang="en-US" altLang="en-US" sz="1200" dirty="0">
                <a:latin typeface="Arial" panose="020B0604020202020204" pitchFamily="34" charset="0"/>
              </a:rPr>
              <a:t>{'</a:t>
            </a:r>
            <a:r>
              <a:rPr lang="en-US" altLang="en-US" sz="1200" dirty="0" err="1">
                <a:latin typeface="Arial" panose="020B0604020202020204" pitchFamily="34" charset="0"/>
              </a:rPr>
              <a:t>node_id</a:t>
            </a:r>
            <a:r>
              <a:rPr lang="en-US" altLang="en-US" sz="1200" dirty="0">
                <a:latin typeface="Arial" panose="020B0604020202020204" pitchFamily="34" charset="0"/>
              </a:rPr>
              <a:t>': '</a:t>
            </a:r>
            <a:r>
              <a:rPr lang="en-US" altLang="en-US" sz="1200" dirty="0" err="1">
                <a:latin typeface="Arial" panose="020B0604020202020204" pitchFamily="34" charset="0"/>
              </a:rPr>
              <a:t>generate_flavors</a:t>
            </a:r>
            <a:r>
              <a:rPr lang="en-US" altLang="en-US" sz="1200" dirty="0">
                <a:latin typeface="Arial" panose="020B0604020202020204" pitchFamily="34" charset="0"/>
              </a:rPr>
              <a:t>', 'status': 'running', 'value': None, 'timestamp': 123456791}</a:t>
            </a:r>
          </a:p>
          <a:p>
            <a:pPr lvl="0" eaLnBrk="0" fontAlgn="base" hangingPunct="0">
              <a:spcBef>
                <a:spcPct val="0"/>
              </a:spcBef>
              <a:spcAft>
                <a:spcPct val="0"/>
              </a:spcAft>
            </a:pPr>
            <a:r>
              <a:rPr lang="en-US" altLang="en-US" sz="1200" dirty="0">
                <a:latin typeface="Arial" panose="020B0604020202020204" pitchFamily="34" charset="0"/>
              </a:rPr>
              <a:t>{'</a:t>
            </a:r>
            <a:r>
              <a:rPr lang="en-US" altLang="en-US" sz="1200" dirty="0" err="1">
                <a:latin typeface="Arial" panose="020B0604020202020204" pitchFamily="34" charset="0"/>
              </a:rPr>
              <a:t>node_id</a:t>
            </a:r>
            <a:r>
              <a:rPr lang="en-US" altLang="en-US" sz="1200" dirty="0">
                <a:latin typeface="Arial" panose="020B0604020202020204" pitchFamily="34" charset="0"/>
              </a:rPr>
              <a:t>': '</a:t>
            </a:r>
            <a:r>
              <a:rPr lang="en-US" altLang="en-US" sz="1200" dirty="0" err="1">
                <a:latin typeface="Arial" panose="020B0604020202020204" pitchFamily="34" charset="0"/>
              </a:rPr>
              <a:t>generate_flavors</a:t>
            </a:r>
            <a:r>
              <a:rPr lang="en-US" altLang="en-US" sz="1200" dirty="0">
                <a:latin typeface="Arial" panose="020B0604020202020204" pitchFamily="34" charset="0"/>
              </a:rPr>
              <a:t>', 'status': 'completed', 'value': 'Popular flavors include vanilla, chocolate, and strawberry.', 'timestamp': 123456792}</a:t>
            </a:r>
          </a:p>
        </p:txBody>
      </p:sp>
      <p:sp>
        <p:nvSpPr>
          <p:cNvPr id="3" name="Rectangle 2"/>
          <p:cNvSpPr/>
          <p:nvPr/>
        </p:nvSpPr>
        <p:spPr>
          <a:xfrm>
            <a:off x="999392" y="1042756"/>
            <a:ext cx="9577754" cy="307777"/>
          </a:xfrm>
          <a:prstGeom prst="rect">
            <a:avLst/>
          </a:prstGeom>
        </p:spPr>
        <p:txBody>
          <a:bodyPr wrap="square">
            <a:spAutoFit/>
          </a:bodyPr>
          <a:lstStyle/>
          <a:p>
            <a:r>
              <a:rPr lang="en-US" sz="1400" dirty="0" err="1">
                <a:latin typeface="Arial" panose="020B0604020202020204" pitchFamily="34" charset="0"/>
                <a:cs typeface="Arial" panose="020B0604020202020204" pitchFamily="34" charset="0"/>
              </a:rPr>
              <a:t>LangGraph</a:t>
            </a:r>
            <a:r>
              <a:rPr lang="en-US" sz="1400" dirty="0">
                <a:latin typeface="Arial" panose="020B0604020202020204" pitchFamily="34" charset="0"/>
                <a:cs typeface="Arial" panose="020B0604020202020204" pitchFamily="34" charset="0"/>
              </a:rPr>
              <a:t> implements a streaming system to surface real-time updates.</a:t>
            </a:r>
            <a:endParaRPr lang="en-IN" sz="1400" dirty="0">
              <a:latin typeface="Arial" panose="020B0604020202020204" pitchFamily="34" charset="0"/>
              <a:cs typeface="Arial" panose="020B060402020202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218761852"/>
              </p:ext>
            </p:extLst>
          </p:nvPr>
        </p:nvGraphicFramePr>
        <p:xfrm>
          <a:off x="999392" y="1639677"/>
          <a:ext cx="10375744" cy="1473200"/>
        </p:xfrm>
        <a:graphic>
          <a:graphicData uri="http://schemas.openxmlformats.org/drawingml/2006/table">
            <a:tbl>
              <a:tblPr firstRow="1" bandRow="1">
                <a:tableStyleId>{073A0DAA-6AF3-43AB-8588-CEC1D06C72B9}</a:tableStyleId>
              </a:tblPr>
              <a:tblGrid>
                <a:gridCol w="5187872">
                  <a:extLst>
                    <a:ext uri="{9D8B030D-6E8A-4147-A177-3AD203B41FA5}">
                      <a16:colId xmlns:a16="http://schemas.microsoft.com/office/drawing/2014/main" val="2202074997"/>
                    </a:ext>
                  </a:extLst>
                </a:gridCol>
                <a:gridCol w="5187872">
                  <a:extLst>
                    <a:ext uri="{9D8B030D-6E8A-4147-A177-3AD203B41FA5}">
                      <a16:colId xmlns:a16="http://schemas.microsoft.com/office/drawing/2014/main" val="890876191"/>
                    </a:ext>
                  </a:extLst>
                </a:gridCol>
              </a:tblGrid>
              <a:tr h="370840">
                <a:tc>
                  <a:txBody>
                    <a:bodyPr/>
                    <a:lstStyle/>
                    <a:p>
                      <a:pPr algn="l" fontAlgn="ctr"/>
                      <a:r>
                        <a:rPr lang="en-IN" sz="1400" dirty="0">
                          <a:effectLst/>
                          <a:latin typeface="Arial" panose="020B0604020202020204" pitchFamily="34" charset="0"/>
                          <a:cs typeface="Arial" panose="020B0604020202020204" pitchFamily="34" charset="0"/>
                        </a:rPr>
                        <a:t>Mode</a:t>
                      </a:r>
                      <a:endParaRPr lang="en-IN" sz="1400" b="1" dirty="0">
                        <a:solidFill>
                          <a:srgbClr val="111827"/>
                        </a:solidFill>
                        <a:effectLst/>
                        <a:latin typeface="Arial" panose="020B0604020202020204" pitchFamily="34" charset="0"/>
                        <a:cs typeface="Arial" panose="020B0604020202020204" pitchFamily="34" charset="0"/>
                      </a:endParaRPr>
                    </a:p>
                  </a:txBody>
                  <a:tcPr anchor="ctr"/>
                </a:tc>
                <a:tc>
                  <a:txBody>
                    <a:bodyPr/>
                    <a:lstStyle/>
                    <a:p>
                      <a:pPr algn="l" fontAlgn="ctr"/>
                      <a:r>
                        <a:rPr lang="en-IN" sz="1400">
                          <a:effectLst/>
                          <a:latin typeface="Arial" panose="020B0604020202020204" pitchFamily="34" charset="0"/>
                          <a:cs typeface="Arial" panose="020B0604020202020204" pitchFamily="34" charset="0"/>
                        </a:rPr>
                        <a:t>Description</a:t>
                      </a:r>
                      <a:endParaRPr lang="en-IN" sz="1400" b="1">
                        <a:solidFill>
                          <a:srgbClr val="111827"/>
                        </a:solidFill>
                        <a:effectLst/>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735656794"/>
                  </a:ext>
                </a:extLst>
              </a:tr>
              <a:tr h="370840">
                <a:tc>
                  <a:txBody>
                    <a:bodyPr/>
                    <a:lstStyle/>
                    <a:p>
                      <a:pPr fontAlgn="ctr"/>
                      <a:r>
                        <a:rPr lang="en-IN" sz="1400" dirty="0">
                          <a:effectLst/>
                          <a:latin typeface="Arial" panose="020B0604020202020204" pitchFamily="34" charset="0"/>
                          <a:cs typeface="Arial" panose="020B0604020202020204" pitchFamily="34" charset="0"/>
                        </a:rPr>
                        <a:t>values</a:t>
                      </a:r>
                    </a:p>
                  </a:txBody>
                  <a:tcPr anchor="ctr"/>
                </a:tc>
                <a:tc>
                  <a:txBody>
                    <a:bodyPr/>
                    <a:lstStyle/>
                    <a:p>
                      <a:pPr fontAlgn="ctr"/>
                      <a:r>
                        <a:rPr lang="en-US" sz="1400">
                          <a:effectLst/>
                          <a:latin typeface="Arial" panose="020B0604020202020204" pitchFamily="34" charset="0"/>
                          <a:cs typeface="Arial" panose="020B0604020202020204" pitchFamily="34" charset="0"/>
                        </a:rPr>
                        <a:t>Streams the full value of the state after each step of the graph.</a:t>
                      </a:r>
                    </a:p>
                  </a:txBody>
                  <a:tcPr anchor="ctr"/>
                </a:tc>
                <a:extLst>
                  <a:ext uri="{0D108BD9-81ED-4DB2-BD59-A6C34878D82A}">
                    <a16:rowId xmlns:a16="http://schemas.microsoft.com/office/drawing/2014/main" val="3256508700"/>
                  </a:ext>
                </a:extLst>
              </a:tr>
              <a:tr h="370840">
                <a:tc>
                  <a:txBody>
                    <a:bodyPr/>
                    <a:lstStyle/>
                    <a:p>
                      <a:pPr fontAlgn="ctr"/>
                      <a:r>
                        <a:rPr lang="en-IN" sz="1400" dirty="0">
                          <a:effectLst/>
                          <a:latin typeface="Arial" panose="020B0604020202020204" pitchFamily="34" charset="0"/>
                          <a:cs typeface="Arial" panose="020B0604020202020204" pitchFamily="34" charset="0"/>
                        </a:rPr>
                        <a:t>updates</a:t>
                      </a:r>
                    </a:p>
                  </a:txBody>
                  <a:tcPr anchor="ctr"/>
                </a:tc>
                <a:tc>
                  <a:txBody>
                    <a:bodyPr/>
                    <a:lstStyle/>
                    <a:p>
                      <a:pPr fontAlgn="ctr"/>
                      <a:r>
                        <a:rPr lang="en-US" sz="1400" dirty="0">
                          <a:effectLst/>
                          <a:latin typeface="Arial" panose="020B0604020202020204" pitchFamily="34" charset="0"/>
                          <a:cs typeface="Arial" panose="020B0604020202020204" pitchFamily="34" charset="0"/>
                        </a:rPr>
                        <a:t>Streams the updates to the state after each step of the graph. If multiple updates are made in the same step (e.g., multiple nodes are run), those updates are streamed separately.</a:t>
                      </a:r>
                    </a:p>
                  </a:txBody>
                  <a:tcPr anchor="ctr"/>
                </a:tc>
                <a:extLst>
                  <a:ext uri="{0D108BD9-81ED-4DB2-BD59-A6C34878D82A}">
                    <a16:rowId xmlns:a16="http://schemas.microsoft.com/office/drawing/2014/main" val="2398221590"/>
                  </a:ext>
                </a:extLst>
              </a:tr>
            </a:tbl>
          </a:graphicData>
        </a:graphic>
      </p:graphicFrame>
      <p:sp>
        <p:nvSpPr>
          <p:cNvPr id="9" name="Rectangle 8"/>
          <p:cNvSpPr/>
          <p:nvPr/>
        </p:nvSpPr>
        <p:spPr>
          <a:xfrm>
            <a:off x="999392" y="3537277"/>
            <a:ext cx="3417160" cy="1323439"/>
          </a:xfrm>
          <a:prstGeom prst="rect">
            <a:avLst/>
          </a:prstGeom>
        </p:spPr>
        <p:txBody>
          <a:bodyPr wrap="square">
            <a:spAutoFit/>
          </a:bodyPr>
          <a:lstStyle/>
          <a:p>
            <a:r>
              <a:rPr lang="en-US" sz="1600" dirty="0">
                <a:latin typeface="Arial" panose="020B0604020202020204" pitchFamily="34" charset="0"/>
                <a:cs typeface="Arial" panose="020B0604020202020204" pitchFamily="34" charset="0"/>
              </a:rPr>
              <a:t>for chunk in </a:t>
            </a:r>
            <a:r>
              <a:rPr lang="en-US" sz="1600" dirty="0" err="1">
                <a:latin typeface="Arial" panose="020B0604020202020204" pitchFamily="34" charset="0"/>
                <a:cs typeface="Arial" panose="020B0604020202020204" pitchFamily="34" charset="0"/>
              </a:rPr>
              <a:t>graph.stream</a:t>
            </a:r>
            <a:r>
              <a:rPr lang="en-US" sz="1600" dirty="0">
                <a:latin typeface="Arial" panose="020B0604020202020204" pitchFamily="34" charset="0"/>
                <a:cs typeface="Arial" panose="020B0604020202020204" pitchFamily="34" charset="0"/>
              </a:rPr>
              <a:t>(</a:t>
            </a:r>
          </a:p>
          <a:p>
            <a:r>
              <a:rPr lang="en-US" sz="1600" dirty="0">
                <a:latin typeface="Arial" panose="020B0604020202020204" pitchFamily="34" charset="0"/>
                <a:cs typeface="Arial" panose="020B0604020202020204" pitchFamily="34" charset="0"/>
              </a:rPr>
              <a:t>    {"topic": "ice cream"},</a:t>
            </a:r>
          </a:p>
          <a:p>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stream_mode</a:t>
            </a:r>
            <a:r>
              <a:rPr lang="en-US" sz="1600" dirty="0">
                <a:latin typeface="Arial" panose="020B0604020202020204" pitchFamily="34" charset="0"/>
                <a:cs typeface="Arial" panose="020B0604020202020204" pitchFamily="34" charset="0"/>
              </a:rPr>
              <a:t>="values",  </a:t>
            </a:r>
          </a:p>
          <a:p>
            <a:r>
              <a:rPr lang="en-US" sz="1600" dirty="0">
                <a:latin typeface="Arial" panose="020B0604020202020204" pitchFamily="34" charset="0"/>
                <a:cs typeface="Arial" panose="020B0604020202020204" pitchFamily="34" charset="0"/>
              </a:rPr>
              <a:t>):</a:t>
            </a:r>
          </a:p>
          <a:p>
            <a:r>
              <a:rPr lang="en-US" sz="1600" dirty="0">
                <a:latin typeface="Arial" panose="020B0604020202020204" pitchFamily="34" charset="0"/>
                <a:cs typeface="Arial" panose="020B0604020202020204" pitchFamily="34" charset="0"/>
              </a:rPr>
              <a:t>    print(chunk)</a:t>
            </a:r>
            <a:endParaRPr lang="en-IN" sz="1600" dirty="0">
              <a:latin typeface="Arial" panose="020B0604020202020204" pitchFamily="34" charset="0"/>
              <a:cs typeface="Arial" panose="020B0604020202020204" pitchFamily="34" charset="0"/>
            </a:endParaRPr>
          </a:p>
        </p:txBody>
      </p:sp>
      <p:sp>
        <p:nvSpPr>
          <p:cNvPr id="10" name="Rectangle 9"/>
          <p:cNvSpPr/>
          <p:nvPr/>
        </p:nvSpPr>
        <p:spPr>
          <a:xfrm>
            <a:off x="6187264" y="3537276"/>
            <a:ext cx="3417160" cy="1323439"/>
          </a:xfrm>
          <a:prstGeom prst="rect">
            <a:avLst/>
          </a:prstGeom>
        </p:spPr>
        <p:txBody>
          <a:bodyPr wrap="square">
            <a:spAutoFit/>
          </a:bodyPr>
          <a:lstStyle/>
          <a:p>
            <a:r>
              <a:rPr lang="en-US" sz="1600" dirty="0">
                <a:latin typeface="Arial" panose="020B0604020202020204" pitchFamily="34" charset="0"/>
                <a:cs typeface="Arial" panose="020B0604020202020204" pitchFamily="34" charset="0"/>
              </a:rPr>
              <a:t>for chunk in </a:t>
            </a:r>
            <a:r>
              <a:rPr lang="en-US" sz="1600" dirty="0" err="1">
                <a:latin typeface="Arial" panose="020B0604020202020204" pitchFamily="34" charset="0"/>
                <a:cs typeface="Arial" panose="020B0604020202020204" pitchFamily="34" charset="0"/>
              </a:rPr>
              <a:t>graph.stream</a:t>
            </a:r>
            <a:r>
              <a:rPr lang="en-US" sz="1600" dirty="0">
                <a:latin typeface="Arial" panose="020B0604020202020204" pitchFamily="34" charset="0"/>
                <a:cs typeface="Arial" panose="020B0604020202020204" pitchFamily="34" charset="0"/>
              </a:rPr>
              <a:t>(</a:t>
            </a:r>
          </a:p>
          <a:p>
            <a:r>
              <a:rPr lang="en-US" sz="1600" dirty="0">
                <a:latin typeface="Arial" panose="020B0604020202020204" pitchFamily="34" charset="0"/>
                <a:cs typeface="Arial" panose="020B0604020202020204" pitchFamily="34" charset="0"/>
              </a:rPr>
              <a:t>    {"topic": "ice cream"},</a:t>
            </a:r>
          </a:p>
          <a:p>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stream_mode</a:t>
            </a:r>
            <a:r>
              <a:rPr lang="en-US" sz="1600" dirty="0" smtClean="0">
                <a:latin typeface="Arial" panose="020B0604020202020204" pitchFamily="34" charset="0"/>
                <a:cs typeface="Arial" panose="020B0604020202020204" pitchFamily="34" charset="0"/>
              </a:rPr>
              <a:t>=“Updates",  </a:t>
            </a: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a:t>
            </a:r>
          </a:p>
          <a:p>
            <a:r>
              <a:rPr lang="en-US" sz="1600" dirty="0">
                <a:latin typeface="Arial" panose="020B0604020202020204" pitchFamily="34" charset="0"/>
                <a:cs typeface="Arial" panose="020B0604020202020204" pitchFamily="34" charset="0"/>
              </a:rPr>
              <a:t>    print(chunk)</a:t>
            </a:r>
            <a:endParaRPr lang="en-IN" sz="1600" dirty="0">
              <a:latin typeface="Arial" panose="020B0604020202020204" pitchFamily="34" charset="0"/>
              <a:cs typeface="Arial" panose="020B0604020202020204" pitchFamily="34" charset="0"/>
            </a:endParaRPr>
          </a:p>
        </p:txBody>
      </p:sp>
      <p:sp>
        <p:nvSpPr>
          <p:cNvPr id="11" name="Rectangle 10"/>
          <p:cNvSpPr/>
          <p:nvPr/>
        </p:nvSpPr>
        <p:spPr>
          <a:xfrm>
            <a:off x="725424" y="5170046"/>
            <a:ext cx="6096000" cy="461665"/>
          </a:xfrm>
          <a:prstGeom prst="rect">
            <a:avLst/>
          </a:prstGeom>
        </p:spPr>
        <p:txBody>
          <a:bodyPr>
            <a:spAutoFit/>
          </a:bodyPr>
          <a:lstStyle/>
          <a:p>
            <a:r>
              <a:rPr lang="en-IN" sz="1200" dirty="0">
                <a:latin typeface="Arial" panose="020B0604020202020204" pitchFamily="34" charset="0"/>
                <a:cs typeface="Arial" panose="020B0604020202020204" pitchFamily="34" charset="0"/>
              </a:rPr>
              <a:t>'Ice cream is a frozen dessert made from cream and sugar.'</a:t>
            </a:r>
          </a:p>
          <a:p>
            <a:r>
              <a:rPr lang="en-IN" sz="1200" dirty="0">
                <a:latin typeface="Arial" panose="020B0604020202020204" pitchFamily="34" charset="0"/>
                <a:cs typeface="Arial" panose="020B0604020202020204" pitchFamily="34" charset="0"/>
              </a:rPr>
              <a:t>'Popular </a:t>
            </a:r>
            <a:r>
              <a:rPr lang="en-IN" sz="1200" dirty="0" err="1">
                <a:latin typeface="Arial" panose="020B0604020202020204" pitchFamily="34" charset="0"/>
                <a:cs typeface="Arial" panose="020B0604020202020204" pitchFamily="34" charset="0"/>
              </a:rPr>
              <a:t>flavors</a:t>
            </a:r>
            <a:r>
              <a:rPr lang="en-IN" sz="1200" dirty="0">
                <a:latin typeface="Arial" panose="020B0604020202020204" pitchFamily="34" charset="0"/>
                <a:cs typeface="Arial" panose="020B0604020202020204" pitchFamily="34" charset="0"/>
              </a:rPr>
              <a:t> include vanilla, chocolate, and strawberry.'</a:t>
            </a:r>
          </a:p>
        </p:txBody>
      </p:sp>
      <p:sp>
        <p:nvSpPr>
          <p:cNvPr id="12" name="Rectangle 1"/>
          <p:cNvSpPr>
            <a:spLocks noChangeArrowheads="1"/>
          </p:cNvSpPr>
          <p:nvPr/>
        </p:nvSpPr>
        <p:spPr bwMode="auto">
          <a:xfrm>
            <a:off x="8302752" y="4614494"/>
            <a:ext cx="2850460"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smtClean="0">
                <a:ln>
                  <a:noFill/>
                </a:ln>
                <a:solidFill>
                  <a:srgbClr val="FF0000"/>
                </a:solidFill>
                <a:effectLst/>
                <a:latin typeface="Arial" panose="020B0604020202020204" pitchFamily="34" charset="0"/>
                <a:cs typeface="Arial" panose="020B0604020202020204" pitchFamily="34" charset="0"/>
              </a:rPr>
              <a:t>Shows </a:t>
            </a:r>
            <a:r>
              <a:rPr kumimoji="0" lang="en-US" altLang="en-US" sz="1000" b="1" i="0" u="none" strike="noStrike" cap="none" normalizeH="0" baseline="0" smtClean="0">
                <a:ln>
                  <a:noFill/>
                </a:ln>
                <a:solidFill>
                  <a:srgbClr val="FF0000"/>
                </a:solidFill>
                <a:effectLst/>
                <a:latin typeface="Arial" panose="020B0604020202020204" pitchFamily="34" charset="0"/>
                <a:cs typeface="Arial" panose="020B0604020202020204" pitchFamily="34" charset="0"/>
              </a:rPr>
              <a:t>node lifecycle</a:t>
            </a:r>
            <a:r>
              <a:rPr kumimoji="0" lang="en-US" altLang="en-US" sz="1000" b="0" i="0" u="none" strike="noStrike" cap="none" normalizeH="0" baseline="0" smtClean="0">
                <a:ln>
                  <a:noFill/>
                </a:ln>
                <a:solidFill>
                  <a:srgbClr val="FF0000"/>
                </a:solidFill>
                <a:effectLst/>
                <a:latin typeface="Arial" panose="020B0604020202020204" pitchFamily="34" charset="0"/>
                <a:cs typeface="Arial" panose="020B0604020202020204" pitchFamily="34" charset="0"/>
              </a:rPr>
              <a:t> (running → completed). </a:t>
            </a:r>
            <a:endParaRPr kumimoji="0" lang="en-US" altLang="en-US" sz="1000" b="0" i="0" u="none" strike="noStrike" cap="none" normalizeH="0" baseline="0" dirty="0" smtClean="0">
              <a:ln>
                <a:noFill/>
              </a:ln>
              <a:solidFill>
                <a:srgbClr val="FF0000"/>
              </a:solidFill>
              <a:effectLst/>
              <a:latin typeface="Arial" panose="020B0604020202020204" pitchFamily="34" charset="0"/>
              <a:cs typeface="Arial" panose="020B0604020202020204" pitchFamily="34" charset="0"/>
            </a:endParaRPr>
          </a:p>
        </p:txBody>
      </p:sp>
      <p:sp>
        <p:nvSpPr>
          <p:cNvPr id="13" name="Rectangle 12"/>
          <p:cNvSpPr/>
          <p:nvPr/>
        </p:nvSpPr>
        <p:spPr>
          <a:xfrm>
            <a:off x="2680012" y="4573125"/>
            <a:ext cx="3126428" cy="246221"/>
          </a:xfrm>
          <a:prstGeom prst="rect">
            <a:avLst/>
          </a:prstGeom>
        </p:spPr>
        <p:txBody>
          <a:bodyPr wrap="square">
            <a:spAutoFit/>
          </a:bodyPr>
          <a:lstStyle/>
          <a:p>
            <a:r>
              <a:rPr lang="en-US" sz="1000" dirty="0">
                <a:solidFill>
                  <a:srgbClr val="FF0000"/>
                </a:solidFill>
                <a:latin typeface="Arial" panose="020B0604020202020204" pitchFamily="34" charset="0"/>
                <a:cs typeface="Arial" panose="020B0604020202020204" pitchFamily="34" charset="0"/>
              </a:rPr>
              <a:t>Shows </a:t>
            </a:r>
            <a:r>
              <a:rPr lang="en-US" sz="1000" b="1" dirty="0">
                <a:solidFill>
                  <a:srgbClr val="FF0000"/>
                </a:solidFill>
                <a:latin typeface="Arial" panose="020B0604020202020204" pitchFamily="34" charset="0"/>
                <a:cs typeface="Arial" panose="020B0604020202020204" pitchFamily="34" charset="0"/>
              </a:rPr>
              <a:t>only the final output values</a:t>
            </a:r>
            <a:r>
              <a:rPr lang="en-US" sz="1000" dirty="0">
                <a:solidFill>
                  <a:srgbClr val="FF0000"/>
                </a:solidFill>
                <a:latin typeface="Arial" panose="020B0604020202020204" pitchFamily="34" charset="0"/>
                <a:cs typeface="Arial" panose="020B0604020202020204" pitchFamily="34" charset="0"/>
              </a:rPr>
              <a:t> of the nodes.</a:t>
            </a:r>
            <a:endParaRPr lang="en-IN" sz="1000"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2162936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ADCAF8-8823-4E89-8612-21029831A4B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8CA07B2-0819-4B62-9425-7A52BBDD707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grpSp>
        <p:nvGrpSpPr>
          <p:cNvPr id="13" name="Group 12">
            <a:extLst>
              <a:ext uri="{FF2B5EF4-FFF2-40B4-BE49-F238E27FC236}">
                <a16:creationId xmlns:a16="http://schemas.microsoft.com/office/drawing/2014/main" id="{DA02BEE4-A5D4-40AF-882D-49D34B086FFF}"/>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p:grpSpPr>
        <p:sp>
          <p:nvSpPr>
            <p:cNvPr id="14" name="Freeform: Shape 13">
              <a:extLst>
                <a:ext uri="{FF2B5EF4-FFF2-40B4-BE49-F238E27FC236}">
                  <a16:creationId xmlns:a16="http://schemas.microsoft.com/office/drawing/2014/main" id="{0F5843EB-154F-4459-8954-BB1DF64BBD13}"/>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75905135-55D9-431B-8D5A-4C5C92B1FED7}"/>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Shape 5">
              <a:extLst>
                <a:ext uri="{FF2B5EF4-FFF2-40B4-BE49-F238E27FC236}">
                  <a16:creationId xmlns:a16="http://schemas.microsoft.com/office/drawing/2014/main" id="{9B732812-A0BB-4324-B390-DFEF26C109E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01FEC055-6F76-4E20-BC93-76C2F58EAF38}"/>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Shape 7">
              <a:extLst>
                <a:ext uri="{FF2B5EF4-FFF2-40B4-BE49-F238E27FC236}">
                  <a16:creationId xmlns:a16="http://schemas.microsoft.com/office/drawing/2014/main" id="{D74CD21D-122E-4F3D-82AF-F4A37C278AF1}"/>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9">
              <a:extLst>
                <a:ext uri="{FF2B5EF4-FFF2-40B4-BE49-F238E27FC236}">
                  <a16:creationId xmlns:a16="http://schemas.microsoft.com/office/drawing/2014/main" id="{5A7FF51F-3820-41BE-8690-7E758ECFA7CF}"/>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gradFill>
              <a:gsLst>
                <a:gs pos="813">
                  <a:schemeClr val="bg1">
                    <a:alpha val="41000"/>
                  </a:schemeClr>
                </a:gs>
                <a:gs pos="20000">
                  <a:schemeClr val="accent5">
                    <a:lumMod val="85000"/>
                    <a:alpha val="56000"/>
                  </a:schemeClr>
                </a:gs>
                <a:gs pos="44000">
                  <a:schemeClr val="accent6">
                    <a:lumMod val="40000"/>
                    <a:lumOff val="60000"/>
                    <a:alpha val="57000"/>
                  </a:schemeClr>
                </a:gs>
                <a:gs pos="100000">
                  <a:schemeClr val="bg1">
                    <a:alpha val="59000"/>
                  </a:schemeClr>
                </a:gs>
                <a:gs pos="74000">
                  <a:schemeClr val="accent1">
                    <a:lumMod val="91000"/>
                    <a:lumOff val="9000"/>
                    <a:alpha val="34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85EAD889-EA4D-485F-BA9C-F6473A43299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4" name="Title 3">
            <a:extLst>
              <a:ext uri="{FF2B5EF4-FFF2-40B4-BE49-F238E27FC236}">
                <a16:creationId xmlns:a16="http://schemas.microsoft.com/office/drawing/2014/main" id="{A438EA56-8646-05A2-36D5-9122791CBC31}"/>
              </a:ext>
            </a:extLst>
          </p:cNvPr>
          <p:cNvSpPr>
            <a:spLocks noGrp="1"/>
          </p:cNvSpPr>
          <p:nvPr>
            <p:ph type="ctrTitle"/>
          </p:nvPr>
        </p:nvSpPr>
        <p:spPr>
          <a:xfrm>
            <a:off x="3045368" y="2043663"/>
            <a:ext cx="6105194" cy="2031055"/>
          </a:xfrm>
        </p:spPr>
        <p:txBody>
          <a:bodyPr>
            <a:normAutofit/>
          </a:bodyPr>
          <a:lstStyle/>
          <a:p>
            <a:r>
              <a:rPr lang="en-US" sz="6600" b="1" dirty="0">
                <a:solidFill>
                  <a:schemeClr val="tx2"/>
                </a:solidFill>
              </a:rPr>
              <a:t>Thank you</a:t>
            </a:r>
            <a:endParaRPr lang="en-IN" sz="6600" b="1" dirty="0">
              <a:solidFill>
                <a:schemeClr val="tx2"/>
              </a:solidFill>
            </a:endParaRPr>
          </a:p>
        </p:txBody>
      </p:sp>
      <p:pic>
        <p:nvPicPr>
          <p:cNvPr id="16" name="Picture 15" descr="A blue and green logo&#10;&#10;Description automatically generated">
            <a:extLst>
              <a:ext uri="{FF2B5EF4-FFF2-40B4-BE49-F238E27FC236}">
                <a16:creationId xmlns:a16="http://schemas.microsoft.com/office/drawing/2014/main" id="{18C91886-4610-0E6C-8B52-92F6E3631F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67415" y="75515"/>
            <a:ext cx="610970" cy="610970"/>
          </a:xfrm>
          <a:prstGeom prst="rect">
            <a:avLst/>
          </a:prstGeom>
        </p:spPr>
      </p:pic>
    </p:spTree>
    <p:extLst>
      <p:ext uri="{BB962C8B-B14F-4D97-AF65-F5344CB8AC3E}">
        <p14:creationId xmlns:p14="http://schemas.microsoft.com/office/powerpoint/2010/main" val="260471423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799</Words>
  <Application>Microsoft Office PowerPoint</Application>
  <PresentationFormat>Widescreen</PresentationFormat>
  <Paragraphs>180</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Arial</vt:lpstr>
      <vt:lpstr>Office Theme</vt:lpstr>
      <vt:lpstr>LangGraph</vt:lpstr>
      <vt:lpstr>LangChain Vs LangGraph</vt:lpstr>
      <vt:lpstr>Building Blocks of LangGraph</vt:lpstr>
      <vt:lpstr>Workflows </vt:lpstr>
      <vt:lpstr>Parallelization </vt:lpstr>
      <vt:lpstr>Routing </vt:lpstr>
      <vt:lpstr>Orchestrator- Worker</vt:lpstr>
      <vt:lpstr>Orchestrator -  Send API </vt:lpstr>
      <vt:lpstr>Generator - Evaluator</vt:lpstr>
      <vt:lpstr>Agents</vt:lpstr>
      <vt:lpstr>Persistence</vt:lpstr>
      <vt:lpstr>Reducers</vt:lpstr>
      <vt:lpstr>Stream</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Programming</dc:title>
  <dc:creator/>
  <cp:lastModifiedBy/>
  <cp:revision>1184</cp:revision>
  <dcterms:created xsi:type="dcterms:W3CDTF">2024-09-04T04:29:20Z</dcterms:created>
  <dcterms:modified xsi:type="dcterms:W3CDTF">2025-12-21T20:17:05Z</dcterms:modified>
</cp:coreProperties>
</file>