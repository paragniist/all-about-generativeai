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9"/>
  </p:notesMasterIdLst>
  <p:sldIdLst>
    <p:sldId id="274" r:id="rId2"/>
    <p:sldId id="505" r:id="rId3"/>
    <p:sldId id="527" r:id="rId4"/>
    <p:sldId id="528" r:id="rId5"/>
    <p:sldId id="529" r:id="rId6"/>
    <p:sldId id="530" r:id="rId7"/>
    <p:sldId id="27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0HItghaSvE5eHsZb5weJ9w==" hashData="BoQOqkvidmGk1j3tAAkWyLrWfmmiZbhdOM4LiouzRHv5YU7Y0H2FUqTU2PWlcw/mpOiqD1h3VQuDsMtRXwqlLw=="/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06" autoAdjust="0"/>
    <p:restoredTop sz="95274" autoAdjust="0"/>
  </p:normalViewPr>
  <p:slideViewPr>
    <p:cSldViewPr snapToGrid="0">
      <p:cViewPr varScale="1">
        <p:scale>
          <a:sx n="87" d="100"/>
          <a:sy n="87" d="100"/>
        </p:scale>
        <p:origin x="30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65ECAA-268E-4C0D-9FC7-17C53698496D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84D035-8484-4F58-9D29-A39A493CE1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0566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7991F-E995-897B-29EE-7B505AB664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B67F7B-139D-FBEE-5DC8-2E47E96F6C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74AFDF-4EB4-2154-D568-E99CEAE5B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1859FE-B4A5-F459-6D01-CA55616D4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2A9D83-4AD0-F06F-1BFD-7335E67B4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 descr="A blue and green logo&#10;&#10;Description automatically generated">
            <a:extLst>
              <a:ext uri="{FF2B5EF4-FFF2-40B4-BE49-F238E27FC236}">
                <a16:creationId xmlns:a16="http://schemas.microsoft.com/office/drawing/2014/main" id="{18C91886-4610-0E6C-8B52-92F6E3631F4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4629" y="75515"/>
            <a:ext cx="610970" cy="610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2581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E64DD-1124-594C-D6C3-30AC77D82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3956EB-D5B0-F889-4D83-707F885840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DDB960-C94C-3229-A8BF-3F24767FB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EBC9D0-5AF0-DB1E-FCC8-DF40FBA80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128B43-188B-BE7E-1FAD-B28D9A1D4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 descr="A blue and green logo&#10;&#10;Description automatically generated">
            <a:extLst>
              <a:ext uri="{FF2B5EF4-FFF2-40B4-BE49-F238E27FC236}">
                <a16:creationId xmlns:a16="http://schemas.microsoft.com/office/drawing/2014/main" id="{18C91886-4610-0E6C-8B52-92F6E3631F4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4629" y="75515"/>
            <a:ext cx="610970" cy="610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3070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E9EB8-B517-7328-045D-4B42F4BE5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8749FE-223B-0565-51D9-E7E53B5578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43461B-39F7-04FD-57A8-48AD930AE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4C0593-5333-C224-E1B2-B9C4B7D4A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74ADE0-4449-0BD6-D966-CBE208496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9112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62BC8-D36F-6117-FAEA-86021EC6D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5CDAA-66A4-B827-7699-008FFE7F0D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5FF1F8-BAE7-DDAA-F6CA-97D830A922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3F4065-84FE-70CE-9B5B-A521F70EB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4FADE3-3E99-1A24-242B-3D30AA30C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BD6DFB-8246-E19B-62C9-847771CAA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 descr="A blue and green logo&#10;&#10;Description automatically generated">
            <a:extLst>
              <a:ext uri="{FF2B5EF4-FFF2-40B4-BE49-F238E27FC236}">
                <a16:creationId xmlns:a16="http://schemas.microsoft.com/office/drawing/2014/main" id="{18C91886-4610-0E6C-8B52-92F6E3631F4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4629" y="75515"/>
            <a:ext cx="610970" cy="610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462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9FF33-E1F9-C9DF-28CF-2D93FA989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61D9D4-7C67-8F4B-F2C9-B50F979E92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E47A6A-A844-7785-EC67-177F6B94B3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9B2FA6-D7BB-E706-A3E8-01420028AA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08A30B-A453-4BFC-A2CB-5A150DDC4F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7DCAD0-84E3-47EE-3D70-9F876F0B8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432BE6-EB1D-4DA5-DB48-B58D962A5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2746C8-70CA-3360-6BC6-A40F5F239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03951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3445D-64B1-38C3-5E24-38598BEBE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E786F1-B775-4C52-E819-3543529F9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173C8A-E876-90D6-B15F-115238CF9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0A1262-279B-4A6C-5CC3-C6A8887A5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1270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D09089-4275-1048-CEE7-0A08D71C9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724FCE-FC51-100D-7EB4-2F6914D23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BBE78A-DA65-3C14-808A-55415599C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67532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B034B-8224-5F4C-8974-BA0376FEB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78BB6E-D8F6-DC0B-FCAC-E41539735E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83FDD0-87F9-F157-8C07-205CD29C13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D131F2-E21E-1789-5933-56F48882B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F1DBC4-505F-2A13-B335-1FE99DB35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8D1DE6-DFF0-9B32-8951-71B5CAE27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0492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293B5-339E-870A-6EE5-0B819E5BA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56FB93-2AEC-67EB-4024-437105D2FB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CBA8DE-B9F6-F250-1B1E-B6DB595B1F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74E7EB-F1EF-3651-2266-5B1F5AAFA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CF8B12-A386-0FB5-44B5-2D7767357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9B1C7B-6BD8-92FA-C044-366FF654F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10012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36908-04DA-A591-9C9B-1F097FDDA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AE0DE2-418D-750C-597F-38D94976F6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19CDEA-53E8-2C23-CC9E-AF5A3901B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2CAD83-374B-35CE-53E8-8899EA9B3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BEC723-68AA-7191-39BE-8F208C92A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4964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231BD8-F8EB-C0C4-26BA-CA01B0753E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ED1228-3044-8025-2371-BBC89DB83E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BA1DCB-8164-1EF0-D63F-0D51A08A3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840341-CF13-2A66-53D2-588E571DD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617D7C-CC1C-1264-2DA1-295E6D1AD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761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700B29-40C6-2BA3-A1E6-F3D6B197A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FF8C6B-3E6D-5141-6436-161A08D0D9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F8DBB8-43B9-9730-B866-9A749FCB34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2066A6-D1A9-4114-9E94-251832C69923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DD5448-9797-D45F-7189-84C1AE1CA6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ED67D6-EA6E-021B-9B76-56F9014206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0883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langchain.com/oss/python/langchain/messages#human-message" TargetMode="External"/><Relationship Id="rId2" Type="http://schemas.openxmlformats.org/officeDocument/2006/relationships/hyperlink" Target="https://docs.langchain.com/oss/python/langchain/messages#system-message" TargetMode="Externa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docs.langchain.com/oss/python/langchain/messages#ai-message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ADCAF8-8823-4E89-8612-21029831A4B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CA07B2-0819-4B62-9425-7A52BBDD707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A02BEE4-A5D4-40AF-882D-49D34B086FF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F5843EB-154F-4459-8954-BB1DF64BBD1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5905135-55D9-431B-8D5A-4C5C92B1FED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accent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9B732812-A0BB-4324-B390-DFEF26C109E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01FEC055-6F76-4E20-BC93-76C2F58EAF3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74CD21D-122E-4F3D-82AF-F4A37C278AF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A7FF51F-3820-41BE-8690-7E758ECFA7C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gradFill>
              <a:gsLst>
                <a:gs pos="813">
                  <a:schemeClr val="bg1">
                    <a:alpha val="41000"/>
                  </a:schemeClr>
                </a:gs>
                <a:gs pos="20000">
                  <a:schemeClr val="accent5">
                    <a:lumMod val="85000"/>
                    <a:alpha val="56000"/>
                  </a:schemeClr>
                </a:gs>
                <a:gs pos="44000">
                  <a:schemeClr val="accent6">
                    <a:lumMod val="40000"/>
                    <a:lumOff val="60000"/>
                    <a:alpha val="57000"/>
                  </a:schemeClr>
                </a:gs>
                <a:gs pos="100000">
                  <a:schemeClr val="bg1">
                    <a:alpha val="59000"/>
                  </a:schemeClr>
                </a:gs>
                <a:gs pos="74000">
                  <a:schemeClr val="accent1">
                    <a:lumMod val="91000"/>
                    <a:lumOff val="9000"/>
                    <a:alpha val="34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85EAD889-EA4D-485F-BA9C-F6473A43299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A438EA56-8646-05A2-36D5-9122791CBC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3250" y="1014884"/>
            <a:ext cx="6105194" cy="3283103"/>
          </a:xfrm>
        </p:spPr>
        <p:txBody>
          <a:bodyPr>
            <a:normAutofit/>
          </a:bodyPr>
          <a:lstStyle/>
          <a:p>
            <a:r>
              <a:rPr lang="en-US" sz="6600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LangChain</a:t>
            </a:r>
            <a:r>
              <a:rPr lang="en-US" sz="6600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 </a:t>
            </a:r>
            <a:r>
              <a:rPr lang="en-US" sz="6600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Prompts</a:t>
            </a:r>
            <a:endParaRPr lang="en-IN" sz="66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Picture 15" descr="A blue and green logo&#10;&#10;Description automatically generated">
            <a:extLst>
              <a:ext uri="{FF2B5EF4-FFF2-40B4-BE49-F238E27FC236}">
                <a16:creationId xmlns:a16="http://schemas.microsoft.com/office/drawing/2014/main" id="{18C91886-4610-0E6C-8B52-92F6E3631F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7415" y="75515"/>
            <a:ext cx="610970" cy="610970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0CC98F91-2037-6AAF-7C21-34FAB6DA435D}"/>
              </a:ext>
            </a:extLst>
          </p:cNvPr>
          <p:cNvGrpSpPr/>
          <p:nvPr/>
        </p:nvGrpSpPr>
        <p:grpSpPr>
          <a:xfrm>
            <a:off x="3626418" y="4759020"/>
            <a:ext cx="4445785" cy="589558"/>
            <a:chOff x="3614024" y="4908823"/>
            <a:chExt cx="4445785" cy="589558"/>
          </a:xfrm>
        </p:grpSpPr>
        <p:sp>
          <p:nvSpPr>
            <p:cNvPr id="18" name="Title 1">
              <a:extLst>
                <a:ext uri="{FF2B5EF4-FFF2-40B4-BE49-F238E27FC236}">
                  <a16:creationId xmlns:a16="http://schemas.microsoft.com/office/drawing/2014/main" id="{D64B9545-AA74-9959-DEF7-A5E273646E5C}"/>
                </a:ext>
              </a:extLst>
            </p:cNvPr>
            <p:cNvSpPr txBox="1">
              <a:spLocks/>
            </p:cNvSpPr>
            <p:nvPr/>
          </p:nvSpPr>
          <p:spPr>
            <a:xfrm>
              <a:off x="3614024" y="4908823"/>
              <a:ext cx="4445785" cy="589558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sz="3200" dirty="0" smtClean="0"/>
                <a:t>By</a:t>
              </a:r>
              <a:r>
                <a:rPr lang="en-US" sz="3200" b="1" dirty="0" smtClean="0">
                  <a:solidFill>
                    <a:srgbClr val="00B0F0"/>
                  </a:solidFill>
                </a:rPr>
                <a:t> </a:t>
              </a:r>
              <a:endParaRPr lang="en-US" sz="3200" b="1" dirty="0">
                <a:solidFill>
                  <a:srgbClr val="00B050"/>
                </a:solidFill>
              </a:endParaRPr>
            </a:p>
          </p:txBody>
        </p:sp>
        <p:pic>
          <p:nvPicPr>
            <p:cNvPr id="19" name="Picture 18" descr="A blue and green logo&#10;&#10;Description automatically generated">
              <a:extLst>
                <a:ext uri="{FF2B5EF4-FFF2-40B4-BE49-F238E27FC236}">
                  <a16:creationId xmlns:a16="http://schemas.microsoft.com/office/drawing/2014/main" id="{93B8DE8A-D399-DD1D-681B-D87204E487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67646" y="4908823"/>
              <a:ext cx="589558" cy="5895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28675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F8672-BCCD-358E-1B1C-899E93B0C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8194"/>
            <a:ext cx="10515600" cy="595418"/>
          </a:xfrm>
        </p:spPr>
        <p:txBody>
          <a:bodyPr>
            <a:normAutofit/>
          </a:bodyPr>
          <a:lstStyle/>
          <a:p>
            <a:pPr algn="ctr" fontAlgn="base"/>
            <a:r>
              <a:rPr lang="en-IN" sz="32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LangChain</a:t>
            </a:r>
            <a:r>
              <a:rPr lang="en-IN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- </a:t>
            </a:r>
            <a:r>
              <a:rPr lang="en-IN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Prompts</a:t>
            </a: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611B996-6893-C9B0-E3A0-CA5FBBA2E16F}"/>
              </a:ext>
            </a:extLst>
          </p:cNvPr>
          <p:cNvSpPr txBox="1">
            <a:spLocks/>
          </p:cNvSpPr>
          <p:nvPr/>
        </p:nvSpPr>
        <p:spPr>
          <a:xfrm>
            <a:off x="699135" y="753612"/>
            <a:ext cx="10911840" cy="7132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/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34560" y="1013516"/>
            <a:ext cx="9551377" cy="49859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Static Text prompts : </a:t>
            </a:r>
          </a:p>
          <a:p>
            <a:r>
              <a:rPr lang="en-IN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          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Text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prompts are strings - ideal for straightforward generation tasks where you don’t need to retain conversation history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	Ex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: response =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model.invoke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("Write a haiku about spring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")</a:t>
            </a:r>
          </a:p>
          <a:p>
            <a:endParaRPr lang="en-US" sz="1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The prompt is fixed.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No input variables.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No 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reusability.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Simple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but not scalable.</a:t>
            </a:r>
          </a:p>
          <a:p>
            <a:endParaRPr lang="en-US" sz="1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Dynamic Text prompts - </a:t>
            </a: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using </a:t>
            </a:r>
            <a:r>
              <a:rPr lang="en-US" sz="1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formatstring</a:t>
            </a: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\ </a:t>
            </a:r>
            <a:r>
              <a:rPr lang="en-US" sz="1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fstring</a:t>
            </a:r>
            <a:r>
              <a:rPr lang="en-US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This is just Python string formatting.</a:t>
            </a:r>
            <a:endParaRPr lang="en-US" sz="12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from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langchain_openai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import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ChatOpenAI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model =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ChatOpenAI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(model = “gpt-40”)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topic = "machine learning"</a:t>
            </a:r>
          </a:p>
          <a:p>
            <a:pPr lvl="1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prompt =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f"Explain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{topic} in simple terms."</a:t>
            </a:r>
          </a:p>
          <a:p>
            <a:pPr lvl="1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response =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model.invoke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(prompt)</a:t>
            </a:r>
          </a:p>
          <a:p>
            <a:pPr lvl="1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print(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response.content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endParaRPr lang="en-US" sz="12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Issues:</a:t>
            </a:r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28650" lvl="1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No </a:t>
            </a:r>
            <a:r>
              <a:rPr lang="en-US" alt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prompt validation</a:t>
            </a:r>
            <a:r>
              <a:rPr lang="en-US" altLang="en-US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628650" lvl="1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2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Doesnot</a:t>
            </a:r>
            <a:r>
              <a:rPr lang="en-US" altLang="en-US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support the chains</a:t>
            </a:r>
            <a:endParaRPr lang="en-US" alt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sz="1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425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F8672-BCCD-358E-1B1C-899E93B0C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8194"/>
            <a:ext cx="10515600" cy="595418"/>
          </a:xfrm>
        </p:spPr>
        <p:txBody>
          <a:bodyPr>
            <a:normAutofit/>
          </a:bodyPr>
          <a:lstStyle/>
          <a:p>
            <a:pPr algn="ctr" fontAlgn="base"/>
            <a:r>
              <a:rPr lang="en-IN" sz="32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LangChain</a:t>
            </a:r>
            <a:r>
              <a:rPr lang="en-IN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- </a:t>
            </a:r>
            <a:r>
              <a:rPr lang="en-IN" sz="32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PromptTemplate</a:t>
            </a: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611B996-6893-C9B0-E3A0-CA5FBBA2E16F}"/>
              </a:ext>
            </a:extLst>
          </p:cNvPr>
          <p:cNvSpPr txBox="1">
            <a:spLocks/>
          </p:cNvSpPr>
          <p:nvPr/>
        </p:nvSpPr>
        <p:spPr>
          <a:xfrm>
            <a:off x="699135" y="753612"/>
            <a:ext cx="10911840" cy="7132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/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34560" y="1210530"/>
            <a:ext cx="955137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Dynamic Prompts - Using </a:t>
            </a:r>
            <a:r>
              <a:rPr lang="en-IN" sz="1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PromptTemplate</a:t>
            </a:r>
            <a:r>
              <a:rPr lang="en-IN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This is the proper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LangChain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way.	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34560" y="2077953"/>
            <a:ext cx="4873871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from </a:t>
            </a:r>
            <a:r>
              <a:rPr lang="en-IN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langchain_core.prompts</a:t>
            </a:r>
            <a:r>
              <a:rPr lang="en-IN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import </a:t>
            </a:r>
            <a:r>
              <a:rPr lang="en-IN" sz="12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PromptTemplate</a:t>
            </a:r>
            <a:endParaRPr lang="en-IN" sz="12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from </a:t>
            </a:r>
            <a:r>
              <a:rPr lang="en-IN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langchain_google_genai</a:t>
            </a:r>
            <a:r>
              <a:rPr lang="en-IN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import </a:t>
            </a:r>
            <a:r>
              <a:rPr lang="en-IN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ChatGoogleGenerativeAI</a:t>
            </a:r>
            <a:endParaRPr lang="en-IN" sz="1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model = </a:t>
            </a:r>
            <a:r>
              <a:rPr lang="en-IN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ChatGoogleGenerativeAI</a:t>
            </a:r>
            <a:r>
              <a:rPr lang="en-IN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(model="gemini-2.5-flash")</a:t>
            </a:r>
          </a:p>
          <a:p>
            <a:endParaRPr lang="en-IN" sz="1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prompt_template</a:t>
            </a:r>
            <a:r>
              <a:rPr lang="en-IN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IN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PromptTemplate</a:t>
            </a:r>
            <a:r>
              <a:rPr lang="en-IN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</a:p>
          <a:p>
            <a:r>
              <a:rPr lang="en-IN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IN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input_variables</a:t>
            </a:r>
            <a:r>
              <a:rPr lang="en-IN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=["topic"],</a:t>
            </a:r>
          </a:p>
          <a:p>
            <a:r>
              <a:rPr lang="en-IN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    template="Explain {topic} in simple terms."</a:t>
            </a:r>
          </a:p>
          <a:p>
            <a:r>
              <a:rPr lang="en-IN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endParaRPr lang="en-IN" sz="1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prompt = </a:t>
            </a:r>
            <a:r>
              <a:rPr lang="en-IN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prompt_template.invoke</a:t>
            </a:r>
            <a:r>
              <a:rPr lang="en-IN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({"topic": "machine learning"})</a:t>
            </a:r>
          </a:p>
          <a:p>
            <a:endParaRPr lang="en-IN" sz="1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response = </a:t>
            </a:r>
            <a:r>
              <a:rPr lang="en-IN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model.invoke</a:t>
            </a:r>
            <a:r>
              <a:rPr lang="en-IN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(prompt)</a:t>
            </a:r>
          </a:p>
          <a:p>
            <a:r>
              <a:rPr lang="en-IN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print(</a:t>
            </a:r>
            <a:r>
              <a:rPr lang="en-IN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response.content</a:t>
            </a:r>
            <a:r>
              <a:rPr lang="en-IN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155055" y="1816083"/>
            <a:ext cx="5122545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-- Using with chains</a:t>
            </a:r>
            <a:endParaRPr lang="en-IN" sz="12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from </a:t>
            </a:r>
            <a:r>
              <a:rPr lang="en-IN" sz="1200" dirty="0" err="1">
                <a:latin typeface="Arial" panose="020B0604020202020204" pitchFamily="34" charset="0"/>
                <a:cs typeface="Arial" panose="020B0604020202020204" pitchFamily="34" charset="0"/>
              </a:rPr>
              <a:t>langchain_core.prompts</a:t>
            </a: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 import </a:t>
            </a:r>
            <a:r>
              <a:rPr lang="en-IN" sz="1200" dirty="0" err="1">
                <a:latin typeface="Arial" panose="020B0604020202020204" pitchFamily="34" charset="0"/>
                <a:cs typeface="Arial" panose="020B0604020202020204" pitchFamily="34" charset="0"/>
              </a:rPr>
              <a:t>PromptTemplate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from </a:t>
            </a:r>
            <a:r>
              <a:rPr lang="en-IN" sz="1200" dirty="0" err="1">
                <a:latin typeface="Arial" panose="020B0604020202020204" pitchFamily="34" charset="0"/>
                <a:cs typeface="Arial" panose="020B0604020202020204" pitchFamily="34" charset="0"/>
              </a:rPr>
              <a:t>langchain_google_genai</a:t>
            </a: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 import </a:t>
            </a:r>
            <a:r>
              <a:rPr lang="en-IN" sz="1200" dirty="0" err="1">
                <a:latin typeface="Arial" panose="020B0604020202020204" pitchFamily="34" charset="0"/>
                <a:cs typeface="Arial" panose="020B0604020202020204" pitchFamily="34" charset="0"/>
              </a:rPr>
              <a:t>ChatGoogleGenerativeAI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model = </a:t>
            </a:r>
            <a:r>
              <a:rPr lang="en-IN" sz="1200" dirty="0" err="1">
                <a:latin typeface="Arial" panose="020B0604020202020204" pitchFamily="34" charset="0"/>
                <a:cs typeface="Arial" panose="020B0604020202020204" pitchFamily="34" charset="0"/>
              </a:rPr>
              <a:t>ChatGoogleGenerativeAI</a:t>
            </a: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(model="gemini-2.5-flash")</a:t>
            </a:r>
          </a:p>
          <a:p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prompt = </a:t>
            </a:r>
            <a:r>
              <a:rPr lang="en-IN" sz="1200" dirty="0" err="1">
                <a:latin typeface="Arial" panose="020B0604020202020204" pitchFamily="34" charset="0"/>
                <a:cs typeface="Arial" panose="020B0604020202020204" pitchFamily="34" charset="0"/>
              </a:rPr>
              <a:t>PromptTemplate.from_template</a:t>
            </a: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</a:p>
          <a:p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    "Explain {topic} in simple terms."</a:t>
            </a:r>
          </a:p>
          <a:p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200" b="1" dirty="0">
                <a:latin typeface="Arial" panose="020B0604020202020204" pitchFamily="34" charset="0"/>
                <a:cs typeface="Arial" panose="020B0604020202020204" pitchFamily="34" charset="0"/>
              </a:rPr>
              <a:t>chain = prompt | model</a:t>
            </a:r>
          </a:p>
          <a:p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response = </a:t>
            </a:r>
            <a:r>
              <a:rPr lang="en-IN" sz="1200" dirty="0" err="1">
                <a:latin typeface="Arial" panose="020B0604020202020204" pitchFamily="34" charset="0"/>
                <a:cs typeface="Arial" panose="020B0604020202020204" pitchFamily="34" charset="0"/>
              </a:rPr>
              <a:t>chain.invoke</a:t>
            </a: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({"topic": "machine learning"})</a:t>
            </a:r>
          </a:p>
          <a:p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print(</a:t>
            </a:r>
            <a:r>
              <a:rPr lang="en-IN" sz="1200" dirty="0" err="1">
                <a:latin typeface="Arial" panose="020B0604020202020204" pitchFamily="34" charset="0"/>
                <a:cs typeface="Arial" panose="020B0604020202020204" pitchFamily="34" charset="0"/>
              </a:rPr>
              <a:t>response.content</a:t>
            </a: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32240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F8672-BCCD-358E-1B1C-899E93B0C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8194"/>
            <a:ext cx="10515600" cy="595418"/>
          </a:xfrm>
        </p:spPr>
        <p:txBody>
          <a:bodyPr>
            <a:normAutofit/>
          </a:bodyPr>
          <a:lstStyle/>
          <a:p>
            <a:pPr algn="ctr" fontAlgn="base"/>
            <a:r>
              <a:rPr lang="en-IN" sz="32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LangChain</a:t>
            </a:r>
            <a:r>
              <a:rPr lang="en-IN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– Messages</a:t>
            </a: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611B996-6893-C9B0-E3A0-CA5FBBA2E16F}"/>
              </a:ext>
            </a:extLst>
          </p:cNvPr>
          <p:cNvSpPr txBox="1">
            <a:spLocks/>
          </p:cNvSpPr>
          <p:nvPr/>
        </p:nvSpPr>
        <p:spPr>
          <a:xfrm>
            <a:off x="699135" y="753612"/>
            <a:ext cx="10911840" cy="7132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/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34560" y="1210530"/>
            <a:ext cx="9551377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Messages are primarily used with 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chat models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where interactions are structured as 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conversational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turns, rather than simple text generation tasks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sz="1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System message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 - Tells the model how to behave and provide context for interactions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Human message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 - Represents user input and interactions with the model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AI message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 - Responses generated by the model, including text content, tool calls, and metadata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501908" y="3242874"/>
            <a:ext cx="4873871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from </a:t>
            </a:r>
            <a:r>
              <a:rPr lang="en-IN" sz="1200" dirty="0" err="1">
                <a:latin typeface="Arial" panose="020B0604020202020204" pitchFamily="34" charset="0"/>
                <a:cs typeface="Arial" panose="020B0604020202020204" pitchFamily="34" charset="0"/>
              </a:rPr>
              <a:t>langchain_google_genai</a:t>
            </a: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 import </a:t>
            </a:r>
            <a:r>
              <a:rPr lang="en-IN" sz="1200" dirty="0" err="1">
                <a:latin typeface="Arial" panose="020B0604020202020204" pitchFamily="34" charset="0"/>
                <a:cs typeface="Arial" panose="020B0604020202020204" pitchFamily="34" charset="0"/>
              </a:rPr>
              <a:t>ChatGoogleGenerativeAI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2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from</a:t>
            </a:r>
            <a:r>
              <a:rPr lang="fr-FR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langchain_core.messages</a:t>
            </a:r>
            <a:r>
              <a:rPr lang="fr-FR" sz="1200" b="1" dirty="0">
                <a:latin typeface="Arial" panose="020B0604020202020204" pitchFamily="34" charset="0"/>
                <a:cs typeface="Arial" panose="020B0604020202020204" pitchFamily="34" charset="0"/>
              </a:rPr>
              <a:t> import </a:t>
            </a:r>
            <a:r>
              <a:rPr lang="fr-FR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SystemMessage</a:t>
            </a:r>
            <a:r>
              <a:rPr lang="fr-FR" sz="1200" b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fr-FR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HumanMessage</a:t>
            </a:r>
            <a:r>
              <a:rPr lang="fr-FR" sz="1200" b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fr-FR" sz="12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AIMessage</a:t>
            </a:r>
            <a:endParaRPr lang="fr-FR" sz="12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model = </a:t>
            </a:r>
            <a:r>
              <a:rPr lang="en-IN" sz="1200" dirty="0" err="1">
                <a:latin typeface="Arial" panose="020B0604020202020204" pitchFamily="34" charset="0"/>
                <a:cs typeface="Arial" panose="020B0604020202020204" pitchFamily="34" charset="0"/>
              </a:rPr>
              <a:t>ChatGoogleGenerativeAI</a:t>
            </a: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(model="gemini-2.5-flash")</a:t>
            </a:r>
          </a:p>
          <a:p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200" dirty="0" err="1">
                <a:latin typeface="Arial" panose="020B0604020202020204" pitchFamily="34" charset="0"/>
                <a:cs typeface="Arial" panose="020B0604020202020204" pitchFamily="34" charset="0"/>
              </a:rPr>
              <a:t>system_msg</a:t>
            </a: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IN" sz="1200" dirty="0" err="1">
                <a:latin typeface="Arial" panose="020B0604020202020204" pitchFamily="34" charset="0"/>
                <a:cs typeface="Arial" panose="020B0604020202020204" pitchFamily="34" charset="0"/>
              </a:rPr>
              <a:t>SystemMessage</a:t>
            </a: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("You are a helpful assistant.")</a:t>
            </a:r>
          </a:p>
          <a:p>
            <a:r>
              <a:rPr lang="en-IN" sz="1200" dirty="0" err="1">
                <a:latin typeface="Arial" panose="020B0604020202020204" pitchFamily="34" charset="0"/>
                <a:cs typeface="Arial" panose="020B0604020202020204" pitchFamily="34" charset="0"/>
              </a:rPr>
              <a:t>human_msg</a:t>
            </a: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IN" sz="1200" dirty="0" err="1">
                <a:latin typeface="Arial" panose="020B0604020202020204" pitchFamily="34" charset="0"/>
                <a:cs typeface="Arial" panose="020B0604020202020204" pitchFamily="34" charset="0"/>
              </a:rPr>
              <a:t>HumanMessage</a:t>
            </a: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("Hello, how are you?")</a:t>
            </a:r>
          </a:p>
          <a:p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200" b="1" dirty="0">
                <a:latin typeface="Arial" panose="020B0604020202020204" pitchFamily="34" charset="0"/>
                <a:cs typeface="Arial" panose="020B0604020202020204" pitchFamily="34" charset="0"/>
              </a:rPr>
              <a:t># Use with chat models</a:t>
            </a:r>
          </a:p>
          <a:p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messages = [</a:t>
            </a:r>
            <a:r>
              <a:rPr lang="en-IN" sz="1200" dirty="0" err="1">
                <a:latin typeface="Arial" panose="020B0604020202020204" pitchFamily="34" charset="0"/>
                <a:cs typeface="Arial" panose="020B0604020202020204" pitchFamily="34" charset="0"/>
              </a:rPr>
              <a:t>system_msg</a:t>
            </a: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N" sz="1200" dirty="0" err="1">
                <a:latin typeface="Arial" panose="020B0604020202020204" pitchFamily="34" charset="0"/>
                <a:cs typeface="Arial" panose="020B0604020202020204" pitchFamily="34" charset="0"/>
              </a:rPr>
              <a:t>human_msg</a:t>
            </a: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</a:p>
          <a:p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response = </a:t>
            </a:r>
            <a:r>
              <a:rPr lang="en-IN" sz="1200" dirty="0" err="1">
                <a:latin typeface="Arial" panose="020B0604020202020204" pitchFamily="34" charset="0"/>
                <a:cs typeface="Arial" panose="020B0604020202020204" pitchFamily="34" charset="0"/>
              </a:rPr>
              <a:t>model.invoke</a:t>
            </a: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(messages)  </a:t>
            </a:r>
            <a:r>
              <a:rPr lang="en-IN" sz="1200" b="1" dirty="0">
                <a:latin typeface="Arial" panose="020B0604020202020204" pitchFamily="34" charset="0"/>
                <a:cs typeface="Arial" panose="020B0604020202020204" pitchFamily="34" charset="0"/>
              </a:rPr>
              <a:t># Returns </a:t>
            </a:r>
            <a:r>
              <a:rPr lang="en-IN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AIMessage</a:t>
            </a:r>
            <a:endParaRPr lang="en-IN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032510" y="3557858"/>
            <a:ext cx="512254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messages = [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   {"role": "system", "content": "You are a poetry expert"},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   {"role": "user", "content": "Write a haiku about spring"},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   {"role": "assistant", "content": "Cherry blossoms bloom..."}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response =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model.invoke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(messages)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7112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F8672-BCCD-358E-1B1C-899E93B0C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8194"/>
            <a:ext cx="10515600" cy="595418"/>
          </a:xfrm>
        </p:spPr>
        <p:txBody>
          <a:bodyPr>
            <a:normAutofit/>
          </a:bodyPr>
          <a:lstStyle/>
          <a:p>
            <a:pPr algn="ctr" fontAlgn="base"/>
            <a:r>
              <a:rPr lang="en-IN" sz="32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LangChain</a:t>
            </a:r>
            <a:r>
              <a:rPr lang="en-IN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en-IN" sz="32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ChatPromptTemplate</a:t>
            </a: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611B996-6893-C9B0-E3A0-CA5FBBA2E16F}"/>
              </a:ext>
            </a:extLst>
          </p:cNvPr>
          <p:cNvSpPr txBox="1">
            <a:spLocks/>
          </p:cNvSpPr>
          <p:nvPr/>
        </p:nvSpPr>
        <p:spPr>
          <a:xfrm>
            <a:off x="699135" y="753612"/>
            <a:ext cx="10911840" cy="7132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/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34560" y="1210530"/>
            <a:ext cx="955137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For dynamic chat messages, we use </a:t>
            </a:r>
            <a:r>
              <a:rPr lang="en-US" sz="1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chatPromptTemplate</a:t>
            </a:r>
            <a:r>
              <a:rPr lang="en-US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567854" y="2062268"/>
            <a:ext cx="5342060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 role + template string </a:t>
            </a:r>
            <a:r>
              <a:rPr lang="en-US" sz="14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tuples</a:t>
            </a:r>
            <a:r>
              <a:rPr lang="en-US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works</a:t>
            </a:r>
          </a:p>
          <a:p>
            <a:endParaRPr lang="en-IN" sz="14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from </a:t>
            </a:r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langchain_core.prompts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import </a:t>
            </a:r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ChatPromptTemplate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chat_template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ChatPromptTemplate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([</a:t>
            </a:r>
          </a:p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   ("system", "You are a helpful {domain} expert."),</a:t>
            </a:r>
          </a:p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   ("human", "Explain in simple terms, what is {topic}.")</a:t>
            </a:r>
          </a:p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])</a:t>
            </a:r>
          </a:p>
          <a:p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prompt = </a:t>
            </a:r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chat_template.invoke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({</a:t>
            </a:r>
          </a:p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   "domain": "astronomy",</a:t>
            </a:r>
          </a:p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   "topic": "black holes"</a:t>
            </a:r>
          </a:p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})</a:t>
            </a:r>
          </a:p>
          <a:p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print(prompt)</a:t>
            </a:r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58802" y="2151089"/>
            <a:ext cx="5266152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## the below supposed to work in </a:t>
            </a: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langchain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but </a:t>
            </a:r>
            <a:r>
              <a:rPr lang="en-US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unfortunately </a:t>
            </a:r>
            <a:r>
              <a:rPr lang="en-US" sz="14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doesnot</a:t>
            </a:r>
            <a:r>
              <a:rPr lang="en-US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work for dynamic </a:t>
            </a:r>
            <a:r>
              <a:rPr lang="en-US" sz="14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prompt</a:t>
            </a: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ChatPromptTemplate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([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   (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SystemMessage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('You are a helpful {domain} expert')),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   (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HumanMessage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(content='Explain in simple terms, what is {topic}'))</a:t>
            </a:r>
          </a:p>
          <a:p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])</a:t>
            </a: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SystemMessage</a:t>
            </a: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() and </a:t>
            </a:r>
            <a:r>
              <a:rPr lang="en-US" alt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HumanMessage</a:t>
            </a: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() are </a:t>
            </a:r>
            <a:r>
              <a:rPr lang="en-US" alt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already constructed message objects</a:t>
            </a:r>
            <a:endParaRPr lang="en-US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They are not template-aware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No variable injection happens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2294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F8672-BCCD-358E-1B1C-899E93B0C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8194"/>
            <a:ext cx="10515600" cy="595418"/>
          </a:xfrm>
        </p:spPr>
        <p:txBody>
          <a:bodyPr>
            <a:normAutofit/>
          </a:bodyPr>
          <a:lstStyle/>
          <a:p>
            <a:pPr algn="ctr" fontAlgn="base"/>
            <a:r>
              <a:rPr lang="en-IN" sz="32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LangChain</a:t>
            </a:r>
            <a:r>
              <a:rPr lang="en-IN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en-IN" sz="32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ChatPromptTemplate</a:t>
            </a: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611B996-6893-C9B0-E3A0-CA5FBBA2E16F}"/>
              </a:ext>
            </a:extLst>
          </p:cNvPr>
          <p:cNvSpPr txBox="1">
            <a:spLocks/>
          </p:cNvSpPr>
          <p:nvPr/>
        </p:nvSpPr>
        <p:spPr>
          <a:xfrm>
            <a:off x="699135" y="753612"/>
            <a:ext cx="10911840" cy="7132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/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34560" y="1210530"/>
            <a:ext cx="955137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dynamic chat messages, we use </a:t>
            </a:r>
            <a:r>
              <a:rPr lang="en-US" sz="1200" b="1" dirty="0" err="1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chatPromptTemplate</a:t>
            </a:r>
            <a:r>
              <a:rPr lang="en-US" sz="12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 with chat history</a:t>
            </a:r>
            <a:endParaRPr lang="en-US" sz="12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455311" y="1739412"/>
            <a:ext cx="534206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while True: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user_input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= input("You: ")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   if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user_input.lower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() == "exit":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       print("Chat ended.")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       break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   # Create prompt including history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   prompt =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chat_template.invoke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({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       "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chat_history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":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chat_history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       "query":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user_input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   })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   # Call Gemini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   response =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model.invoke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(prompt)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   # Print response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   print("AI:",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response.content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   # Update chat history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chat_history.append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HumanMessage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(content=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user_input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))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chat_history.append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AIMessage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(content=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response.content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))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88903" y="1595021"/>
            <a:ext cx="5266152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from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langchain_core.prompts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import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ChatPromptTemplate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MessagesPlaceholder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from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langchain_core.messages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import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HumanMessage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AIMessage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from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langchain_google_genai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import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ChatGoogleGenerativeAI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from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dotenv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import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load_dotenv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import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# Load environment variables</a:t>
            </a:r>
          </a:p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load_dotenv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# Initialize Gemini model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model =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ChatGoogleGenerativeAI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   model="gemini-2.5-flash",   # You can also use gemini-1.5-pro etc.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   temperature=0.7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# Initialize empty chat history</a:t>
            </a:r>
          </a:p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chat_history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= []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# Create chat template with history placeholder</a:t>
            </a:r>
          </a:p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chat_template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ChatPromptTemplate.from_messages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([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   ("system", "You are a helpful customer support assistant."),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MessagesPlaceholder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variable_name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="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chat_history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"),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   ("human", "{query}")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])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print("Chat started. Type 'exit' to stop.\n")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6089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ADCAF8-8823-4E89-8612-21029831A4B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CA07B2-0819-4B62-9425-7A52BBDD707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A02BEE4-A5D4-40AF-882D-49D34B086FF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F5843EB-154F-4459-8954-BB1DF64BBD1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5905135-55D9-431B-8D5A-4C5C92B1FED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accent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9B732812-A0BB-4324-B390-DFEF26C109E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01FEC055-6F76-4E20-BC93-76C2F58EAF3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74CD21D-122E-4F3D-82AF-F4A37C278AF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A7FF51F-3820-41BE-8690-7E758ECFA7C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gradFill>
              <a:gsLst>
                <a:gs pos="813">
                  <a:schemeClr val="bg1">
                    <a:alpha val="41000"/>
                  </a:schemeClr>
                </a:gs>
                <a:gs pos="20000">
                  <a:schemeClr val="accent5">
                    <a:lumMod val="85000"/>
                    <a:alpha val="56000"/>
                  </a:schemeClr>
                </a:gs>
                <a:gs pos="44000">
                  <a:schemeClr val="accent6">
                    <a:lumMod val="40000"/>
                    <a:lumOff val="60000"/>
                    <a:alpha val="57000"/>
                  </a:schemeClr>
                </a:gs>
                <a:gs pos="100000">
                  <a:schemeClr val="bg1">
                    <a:alpha val="59000"/>
                  </a:schemeClr>
                </a:gs>
                <a:gs pos="74000">
                  <a:schemeClr val="accent1">
                    <a:lumMod val="91000"/>
                    <a:lumOff val="9000"/>
                    <a:alpha val="34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85EAD889-EA4D-485F-BA9C-F6473A43299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A438EA56-8646-05A2-36D5-9122791CBC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5368" y="2043663"/>
            <a:ext cx="6105194" cy="2031055"/>
          </a:xfrm>
        </p:spPr>
        <p:txBody>
          <a:bodyPr>
            <a:normAutofit/>
          </a:bodyPr>
          <a:lstStyle/>
          <a:p>
            <a:r>
              <a:rPr lang="en-US" sz="6600" b="1" dirty="0">
                <a:solidFill>
                  <a:schemeClr val="tx2"/>
                </a:solidFill>
              </a:rPr>
              <a:t>Thank you</a:t>
            </a:r>
            <a:endParaRPr lang="en-IN" sz="6600" b="1" dirty="0">
              <a:solidFill>
                <a:schemeClr val="tx2"/>
              </a:solidFill>
            </a:endParaRPr>
          </a:p>
        </p:txBody>
      </p:sp>
      <p:pic>
        <p:nvPicPr>
          <p:cNvPr id="16" name="Picture 15" descr="A blue and green logo&#10;&#10;Description automatically generated">
            <a:extLst>
              <a:ext uri="{FF2B5EF4-FFF2-40B4-BE49-F238E27FC236}">
                <a16:creationId xmlns:a16="http://schemas.microsoft.com/office/drawing/2014/main" id="{18C91886-4610-0E6C-8B52-92F6E3631F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7415" y="75515"/>
            <a:ext cx="610970" cy="610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714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639</Words>
  <Application>Microsoft Office PowerPoint</Application>
  <PresentationFormat>Widescreen</PresentationFormat>
  <Paragraphs>163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Wingdings</vt:lpstr>
      <vt:lpstr>Office Theme</vt:lpstr>
      <vt:lpstr>LangChain - Prompts</vt:lpstr>
      <vt:lpstr>LangChain - Prompts</vt:lpstr>
      <vt:lpstr>LangChain - PromptTemplate</vt:lpstr>
      <vt:lpstr>LangChain – Messages</vt:lpstr>
      <vt:lpstr>LangChain – ChatPromptTemplate</vt:lpstr>
      <vt:lpstr>LangChain – ChatPromptTemplate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Programming</dc:title>
  <dc:creator/>
  <cp:lastModifiedBy/>
  <cp:revision>1184</cp:revision>
  <dcterms:created xsi:type="dcterms:W3CDTF">2024-09-04T04:29:20Z</dcterms:created>
  <dcterms:modified xsi:type="dcterms:W3CDTF">2026-02-24T13:48:16Z</dcterms:modified>
</cp:coreProperties>
</file>